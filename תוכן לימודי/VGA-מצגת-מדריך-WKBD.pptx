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bookmarkIdSeed="6">
  <p:sldMasterIdLst>
    <p:sldMasterId id="2147483695" r:id="rId1"/>
  </p:sldMasterIdLst>
  <p:notesMasterIdLst>
    <p:notesMasterId r:id="rId13"/>
  </p:notesMasterIdLst>
  <p:handoutMasterIdLst>
    <p:handoutMasterId r:id="rId14"/>
  </p:handoutMasterIdLst>
  <p:sldIdLst>
    <p:sldId id="575" r:id="rId2"/>
    <p:sldId id="580" r:id="rId3"/>
    <p:sldId id="556" r:id="rId4"/>
    <p:sldId id="557" r:id="rId5"/>
    <p:sldId id="558" r:id="rId6"/>
    <p:sldId id="582" r:id="rId7"/>
    <p:sldId id="572" r:id="rId8"/>
    <p:sldId id="581" r:id="rId9"/>
    <p:sldId id="576" r:id="rId10"/>
    <p:sldId id="578" r:id="rId11"/>
    <p:sldId id="411" r:id="rId12"/>
  </p:sldIdLst>
  <p:sldSz cx="9144000" cy="6858000" type="screen4x3"/>
  <p:notesSz cx="6797675" cy="9928225"/>
  <p:defaultTextStyle>
    <a:defPPr>
      <a:defRPr lang="he-IL"/>
    </a:defPPr>
    <a:lvl1pPr algn="r" rtl="1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r" rtl="1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r" rtl="1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r" rtl="1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r" rtl="1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r" defTabSz="914400" rtl="1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r" defTabSz="914400" rtl="1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r" defTabSz="914400" rtl="1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r" defTabSz="914400" rtl="1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avid Bar-On" initials="DB" lastIdx="6" clrIdx="0">
    <p:extLst>
      <p:ext uri="{19B8F6BF-5375-455C-9EA6-DF929625EA0E}">
        <p15:presenceInfo xmlns:p15="http://schemas.microsoft.com/office/powerpoint/2012/main" userId="S-1-5-21-875234899-1626871297-367356602-11803" providerId="AD"/>
      </p:ext>
    </p:extLst>
  </p:cmAuthor>
  <p:cmAuthor id="2" name="Avraham Kaplan" initials="AK" lastIdx="14" clrIdx="1">
    <p:extLst>
      <p:ext uri="{19B8F6BF-5375-455C-9EA6-DF929625EA0E}">
        <p15:presenceInfo xmlns:p15="http://schemas.microsoft.com/office/powerpoint/2012/main" userId="S-1-5-21-875234899-1626871297-367356602-10813" providerId="AD"/>
      </p:ext>
    </p:extLst>
  </p:cmAuthor>
  <p:cmAuthor id="3" name="David Bar-On" initials="DB [2]" lastIdx="2" clrIdx="2">
    <p:extLst>
      <p:ext uri="{19B8F6BF-5375-455C-9EA6-DF929625EA0E}">
        <p15:presenceInfo xmlns:p15="http://schemas.microsoft.com/office/powerpoint/2012/main" userId="David Bar-On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0033"/>
    <a:srgbClr val="F4B183"/>
    <a:srgbClr val="FED6C6"/>
    <a:srgbClr val="000000"/>
    <a:srgbClr val="3333CC"/>
    <a:srgbClr val="0066FF"/>
    <a:srgbClr val="FF0000"/>
    <a:srgbClr val="052F6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5155" autoAdjust="0"/>
    <p:restoredTop sz="81076" autoAdjust="0"/>
  </p:normalViewPr>
  <p:slideViewPr>
    <p:cSldViewPr>
      <p:cViewPr varScale="1">
        <p:scale>
          <a:sx n="59" d="100"/>
          <a:sy n="59" d="100"/>
        </p:scale>
        <p:origin x="467" y="32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66" d="100"/>
        <a:sy n="66" d="100"/>
      </p:scale>
      <p:origin x="0" y="0"/>
    </p:cViewPr>
  </p:notesTextViewPr>
  <p:sorterViewPr>
    <p:cViewPr>
      <p:scale>
        <a:sx n="100" d="100"/>
        <a:sy n="100" d="100"/>
      </p:scale>
      <p:origin x="0" y="-4194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3852335" y="0"/>
            <a:ext cx="2945340" cy="496967"/>
          </a:xfrm>
          <a:prstGeom prst="rect">
            <a:avLst/>
          </a:prstGeom>
        </p:spPr>
        <p:txBody>
          <a:bodyPr vert="horz" lIns="91531" tIns="45766" rIns="91531" bIns="45766" rtlCol="1"/>
          <a:lstStyle>
            <a:lvl1pPr algn="r">
              <a:defRPr sz="1200"/>
            </a:lvl1pPr>
          </a:lstStyle>
          <a:p>
            <a:endParaRPr lang="he-IL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1592" y="0"/>
            <a:ext cx="2945340" cy="496967"/>
          </a:xfrm>
          <a:prstGeom prst="rect">
            <a:avLst/>
          </a:prstGeom>
        </p:spPr>
        <p:txBody>
          <a:bodyPr vert="horz" lIns="91531" tIns="45766" rIns="91531" bIns="45766" rtlCol="1"/>
          <a:lstStyle>
            <a:lvl1pPr algn="l">
              <a:defRPr sz="1200"/>
            </a:lvl1pPr>
          </a:lstStyle>
          <a:p>
            <a:fld id="{E9D2CE53-F455-4756-AE73-B4032F69F7EB}" type="datetimeFigureOut">
              <a:rPr lang="he-IL" smtClean="0"/>
              <a:t>כ"ד/אלול/תשפ"ה</a:t>
            </a:fld>
            <a:endParaRPr lang="he-I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3852335" y="9431258"/>
            <a:ext cx="2945340" cy="496967"/>
          </a:xfrm>
          <a:prstGeom prst="rect">
            <a:avLst/>
          </a:prstGeom>
        </p:spPr>
        <p:txBody>
          <a:bodyPr vert="horz" lIns="91531" tIns="45766" rIns="91531" bIns="45766" rtlCol="1" anchor="b"/>
          <a:lstStyle>
            <a:lvl1pPr algn="r">
              <a:defRPr sz="1200"/>
            </a:lvl1pPr>
          </a:lstStyle>
          <a:p>
            <a:endParaRPr lang="he-I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1592" y="9431258"/>
            <a:ext cx="2945340" cy="496967"/>
          </a:xfrm>
          <a:prstGeom prst="rect">
            <a:avLst/>
          </a:prstGeom>
        </p:spPr>
        <p:txBody>
          <a:bodyPr vert="horz" lIns="91531" tIns="45766" rIns="91531" bIns="45766" rtlCol="1" anchor="b"/>
          <a:lstStyle>
            <a:lvl1pPr algn="l">
              <a:defRPr sz="1200"/>
            </a:lvl1pPr>
          </a:lstStyle>
          <a:p>
            <a:fld id="{BAB39A2C-75B5-4C56-B253-BDB8A278507F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15029034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3852335" y="0"/>
            <a:ext cx="2945340" cy="4969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31" tIns="45766" rIns="91531" bIns="45766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1592" y="0"/>
            <a:ext cx="2945340" cy="4969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31" tIns="45766" rIns="91531" bIns="45766" numCol="1" anchor="t" anchorCtr="0" compatLnSpc="1">
            <a:prstTxWarp prst="textNoShape">
              <a:avLst/>
            </a:prstTxWarp>
          </a:bodyPr>
          <a:lstStyle>
            <a:lvl1pPr algn="l">
              <a:defRPr sz="120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765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17575" y="744538"/>
            <a:ext cx="4962525" cy="37226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253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9451" y="4715629"/>
            <a:ext cx="5438776" cy="44679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31" tIns="45766" rIns="91531" bIns="4576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253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3852335" y="9429671"/>
            <a:ext cx="2945340" cy="4969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31" tIns="45766" rIns="91531" bIns="45766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253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1592" y="9429671"/>
            <a:ext cx="2945340" cy="4969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31" tIns="45766" rIns="91531" bIns="45766" numCol="1" anchor="b" anchorCtr="0" compatLnSpc="1">
            <a:prstTxWarp prst="textNoShape">
              <a:avLst/>
            </a:prstTxWarp>
          </a:bodyPr>
          <a:lstStyle>
            <a:lvl1pPr algn="l">
              <a:defRPr sz="120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2B0EA2CB-9693-432C-B07B-7C2E2F27AEF4}" type="slidenum">
              <a:rPr lang="he-IL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126467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r" rtl="1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1pPr>
    <a:lvl2pPr marL="457200" algn="r" rtl="1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2pPr>
    <a:lvl3pPr marL="914400" algn="r" rtl="1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3pPr>
    <a:lvl4pPr marL="1371600" algn="r" rtl="1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4pPr>
    <a:lvl5pPr marL="1828800" algn="r" rtl="1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B0EA2CB-9693-432C-B07B-7C2E2F27AEF4}" type="slidenum">
              <a:rPr lang="he-IL" smtClean="0"/>
              <a:pPr>
                <a:defRPr/>
              </a:pPr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60069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B0EA2CB-9693-432C-B07B-7C2E2F27AEF4}" type="slidenum">
              <a:rPr kumimoji="0" lang="he-IL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pPr marL="0" marR="0" lvl="0" indent="0" algn="l" defTabSz="914400" rtl="1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4505643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B0EA2CB-9693-432C-B07B-7C2E2F27AEF4}" type="slidenum">
              <a:rPr lang="he-IL" smtClean="0"/>
              <a:pPr>
                <a:defRPr/>
              </a:pPr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473294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00125" y="728663"/>
            <a:ext cx="4859338" cy="3646487"/>
          </a:xfrm>
          <a:ln/>
        </p:spPr>
      </p:sp>
      <p:sp>
        <p:nvSpPr>
          <p:cNvPr id="2253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he-IL">
              <a:latin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642565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00125" y="728663"/>
            <a:ext cx="4859338" cy="3646487"/>
          </a:xfrm>
          <a:ln/>
        </p:spPr>
      </p:sp>
      <p:sp>
        <p:nvSpPr>
          <p:cNvPr id="2253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he-IL" dirty="0">
              <a:latin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623582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00125" y="728663"/>
            <a:ext cx="4859338" cy="3646487"/>
          </a:xfrm>
          <a:ln/>
        </p:spPr>
      </p:sp>
      <p:sp>
        <p:nvSpPr>
          <p:cNvPr id="2253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he-IL">
              <a:latin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5012727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B0EA2CB-9693-432C-B07B-7C2E2F27AEF4}" type="slidenum">
              <a:rPr lang="he-IL" smtClean="0"/>
              <a:pPr>
                <a:defRPr/>
              </a:pPr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782940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e-IL" dirty="0"/>
              <a:t>האם להוסיף תוספת על הפרויקט?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B0EA2CB-9693-432C-B07B-7C2E2F27AEF4}" type="slidenum">
              <a:rPr lang="he-IL" smtClean="0"/>
              <a:pPr>
                <a:defRPr/>
              </a:pPr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87346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he-IL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CADB8D-A44B-49B5-8DB0-ABBC5FFCD1DF}" type="datetime8">
              <a:rPr lang="he-IL" smtClean="0"/>
              <a:t>17 ספטמבר 25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/>
              <a:t>6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6C495-32CF-42B2-8214-D2B005CF76CE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3381920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B62D4-A5D0-4BD6-A91A-527B54CBD727}" type="datetime8">
              <a:rPr lang="he-IL" smtClean="0"/>
              <a:t>17 ספטמבר 25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/>
              <a:t>6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6C495-32CF-42B2-8214-D2B005CF76CE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9036491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E58229-CB4A-4173-8D56-3FE03AB1FB32}" type="datetime8">
              <a:rPr lang="he-IL" smtClean="0"/>
              <a:t>17 ספטמבר 25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/>
              <a:t>6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6C495-32CF-42B2-8214-D2B005CF76CE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8994597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825625"/>
            <a:ext cx="38671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06ACD5-8833-47B9-8416-E18F009B27A4}" type="datetime8">
              <a:rPr lang="he-IL" smtClean="0"/>
              <a:t>17 ספטמבר 25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/>
              <a:t>6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6C495-32CF-42B2-8214-D2B005CF76CE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7916609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2B684-5FA8-45E7-9443-2A285AB62F16}" type="datetime8">
              <a:rPr lang="he-IL" smtClean="0"/>
              <a:t>17 ספטמבר 25</a:t>
            </a:fld>
            <a:endParaRPr lang="he-I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/>
              <a:t>6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6C495-32CF-42B2-8214-D2B005CF76CE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018346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81A733-15F3-4462-883D-04BDF66410B5}" type="datetime8">
              <a:rPr lang="he-IL" smtClean="0"/>
              <a:t>17 ספטמבר 25</a:t>
            </a:fld>
            <a:endParaRPr lang="he-I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/>
              <a:t>6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6C495-32CF-42B2-8214-D2B005CF76CE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6675056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269EFE-45BB-4E85-828E-1348157883A4}" type="datetime8">
              <a:rPr lang="he-IL" smtClean="0"/>
              <a:t>17 ספטמבר 25</a:t>
            </a:fld>
            <a:endParaRPr lang="he-I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/>
              <a:t>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6C495-32CF-42B2-8214-D2B005CF76CE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3104628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17F745-B851-481A-BDB0-278468A74507}" type="datetime8">
              <a:rPr lang="he-IL" smtClean="0"/>
              <a:t>17 ספטמבר 25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/>
              <a:t>6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6C495-32CF-42B2-8214-D2B005CF76CE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6298455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e-IL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2292F-0E0A-4898-8DDF-A16BDC972CC5}" type="datetime8">
              <a:rPr lang="he-IL" smtClean="0"/>
              <a:t>17 ספטמבר 25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/>
              <a:t>6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6C495-32CF-42B2-8214-D2B005CF76CE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1320695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9F14AE-B135-4F16-B6FA-EF4B21D33ACE}" type="datetime8">
              <a:rPr lang="he-IL" smtClean="0"/>
              <a:t>17 ספטמבר 25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/>
              <a:t>6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6C495-32CF-42B2-8214-D2B005CF76CE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5196700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7626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25B3C-D4F1-4C63-ADE7-773AD2B5CDD7}" type="datetime8">
              <a:rPr lang="he-IL" smtClean="0"/>
              <a:t>17 ספטמבר 25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/>
              <a:t>6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6C495-32CF-42B2-8214-D2B005CF76CE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1195324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29D195F-7E6B-462E-8DFC-FADC3647623D}" type="datetime8">
              <a:rPr lang="he-IL" smtClean="0"/>
              <a:t>17 ספטמבר 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6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9BB9E23-74F4-4D50-984E-1E5F08A89036}" type="slidenum">
              <a:rPr lang="he-IL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00042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0BDC55-9EEE-4593-AD94-259F939B38B6}" type="datetime8">
              <a:rPr lang="he-IL" smtClean="0"/>
              <a:t>17 ספטמבר 25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he-IL"/>
              <a:t>6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E6C495-32CF-42B2-8214-D2B005CF76CE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6939854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  <p:sldLayoutId id="2147483697" r:id="rId2"/>
    <p:sldLayoutId id="2147483698" r:id="rId3"/>
    <p:sldLayoutId id="2147483699" r:id="rId4"/>
    <p:sldLayoutId id="2147483700" r:id="rId5"/>
    <p:sldLayoutId id="2147483701" r:id="rId6"/>
    <p:sldLayoutId id="2147483702" r:id="rId7"/>
    <p:sldLayoutId id="2147483703" r:id="rId8"/>
    <p:sldLayoutId id="2147483704" r:id="rId9"/>
    <p:sldLayoutId id="2147483705" r:id="rId10"/>
    <p:sldLayoutId id="2147483706" r:id="rId11"/>
    <p:sldLayoutId id="2147483694" r:id="rId12"/>
  </p:sldLayoutIdLst>
  <p:hf hdr="0" dt="0"/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eg"/><Relationship Id="rId3" Type="http://schemas.openxmlformats.org/officeDocument/2006/relationships/image" Target="../media/image1.jpeg"/><Relationship Id="rId7" Type="http://schemas.openxmlformats.org/officeDocument/2006/relationships/image" Target="../media/image5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jp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jpeg"/><Relationship Id="rId5" Type="http://schemas.openxmlformats.org/officeDocument/2006/relationships/image" Target="../media/image11.jpeg"/><Relationship Id="rId4" Type="http://schemas.openxmlformats.org/officeDocument/2006/relationships/image" Target="../media/image10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8000">
              <a:schemeClr val="accent1">
                <a:lumMod val="60000"/>
                <a:lumOff val="40000"/>
              </a:schemeClr>
            </a:gs>
            <a:gs pos="20000">
              <a:schemeClr val="tx2">
                <a:lumMod val="40000"/>
                <a:lumOff val="60000"/>
              </a:schemeClr>
            </a:gs>
            <a:gs pos="100000">
              <a:schemeClr val="tx2">
                <a:lumMod val="40000"/>
                <a:lumOff val="60000"/>
              </a:schemeClr>
            </a:gs>
          </a:gsLst>
          <a:lin ang="135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6"/>
          <p:cNvSpPr>
            <a:spLocks noGrp="1" noChangeArrowheads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C7128FC3-C5BD-4788-8929-B2E508312F95}" type="slidenum">
              <a:rPr lang="he-IL" smtClean="0">
                <a:latin typeface="Arial" charset="0"/>
                <a:cs typeface="Arial" charset="0"/>
              </a:rPr>
              <a:pPr/>
              <a:t>1</a:t>
            </a:fld>
            <a:endParaRPr lang="en-US">
              <a:latin typeface="Arial" charset="0"/>
              <a:cs typeface="Arial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815361" y="1680333"/>
            <a:ext cx="5562601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he-IL" sz="2800" b="1" dirty="0">
                <a:solidFill>
                  <a:srgbClr val="7030A0"/>
                </a:solidFill>
                <a:latin typeface="tahoma" panose="020B0604030504040204" pitchFamily="34" charset="0"/>
              </a:rPr>
              <a:t>מעבדות בהנדסת חשמל</a:t>
            </a:r>
          </a:p>
          <a:p>
            <a:pPr algn="ctr"/>
            <a:r>
              <a:rPr lang="he-IL" sz="2800" b="1" dirty="0">
                <a:solidFill>
                  <a:srgbClr val="7030A0"/>
                </a:solidFill>
                <a:latin typeface="tahoma" panose="020B0604030504040204" pitchFamily="34" charset="0"/>
              </a:rPr>
              <a:t>1א' 044157</a:t>
            </a:r>
          </a:p>
        </p:txBody>
      </p:sp>
      <p:sp>
        <p:nvSpPr>
          <p:cNvPr id="11" name="Rectangle 2"/>
          <p:cNvSpPr>
            <a:spLocks noChangeArrowheads="1"/>
          </p:cNvSpPr>
          <p:nvPr/>
        </p:nvSpPr>
        <p:spPr bwMode="auto">
          <a:xfrm flipV="1">
            <a:off x="264460" y="-838200"/>
            <a:ext cx="2653400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3180682" y="2701052"/>
            <a:ext cx="2791149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he-IL" sz="3600" b="1" dirty="0">
                <a:solidFill>
                  <a:srgbClr val="7030A0"/>
                </a:solidFill>
                <a:latin typeface="tahoma" panose="020B0604030504040204" pitchFamily="34" charset="0"/>
              </a:rPr>
              <a:t>מעבדת </a:t>
            </a:r>
            <a:r>
              <a:rPr lang="en-US" sz="3600" b="1" dirty="0">
                <a:solidFill>
                  <a:srgbClr val="7030A0"/>
                </a:solidFill>
                <a:latin typeface="tahoma" panose="020B0604030504040204" pitchFamily="34" charset="0"/>
              </a:rPr>
              <a:t>VGA </a:t>
            </a:r>
          </a:p>
        </p:txBody>
      </p:sp>
      <p:grpSp>
        <p:nvGrpSpPr>
          <p:cNvPr id="13" name="Group 12"/>
          <p:cNvGrpSpPr/>
          <p:nvPr/>
        </p:nvGrpSpPr>
        <p:grpSpPr>
          <a:xfrm>
            <a:off x="495415" y="404664"/>
            <a:ext cx="8191385" cy="593725"/>
            <a:chOff x="-778395" y="52174"/>
            <a:chExt cx="8191385" cy="593725"/>
          </a:xfrm>
        </p:grpSpPr>
        <p:pic>
          <p:nvPicPr>
            <p:cNvPr id="14" name="Picture 13" descr="Text&#10;&#10;Description automatically generated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99835" y="52174"/>
              <a:ext cx="1504950" cy="5937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" name="תמונה 1"/>
            <p:cNvPicPr>
              <a:picLocks noChangeAspect="1"/>
            </p:cNvPicPr>
            <p:nvPr/>
          </p:nvPicPr>
          <p:blipFill>
            <a:blip r:embed="rId4" cstate="print">
              <a:alphaModFix amt="8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5223896" y="71224"/>
              <a:ext cx="2189094" cy="5556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" name="תמונה 2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778395" y="52174"/>
              <a:ext cx="1961399" cy="593725"/>
            </a:xfrm>
            <a:prstGeom prst="rect">
              <a:avLst/>
            </a:prstGeom>
          </p:spPr>
        </p:pic>
      </p:grp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/>
              <a:t>6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F6501561-1D43-5B31-11DD-061E02B99676}"/>
              </a:ext>
            </a:extLst>
          </p:cNvPr>
          <p:cNvGrpSpPr/>
          <p:nvPr/>
        </p:nvGrpSpPr>
        <p:grpSpPr>
          <a:xfrm>
            <a:off x="599578" y="4005064"/>
            <a:ext cx="7872149" cy="2127902"/>
            <a:chOff x="599578" y="4005064"/>
            <a:chExt cx="7872149" cy="2127902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E0EB14D4-CC14-9EF3-E1BF-6CC7F6981507}"/>
                </a:ext>
              </a:extLst>
            </p:cNvPr>
            <p:cNvGrpSpPr/>
            <p:nvPr/>
          </p:nvGrpSpPr>
          <p:grpSpPr>
            <a:xfrm>
              <a:off x="599578" y="4005064"/>
              <a:ext cx="7872149" cy="2127902"/>
              <a:chOff x="599578" y="4005064"/>
              <a:chExt cx="7872149" cy="2127902"/>
            </a:xfrm>
          </p:grpSpPr>
          <p:pic>
            <p:nvPicPr>
              <p:cNvPr id="5" name="Picture 4">
                <a:extLst>
                  <a:ext uri="{FF2B5EF4-FFF2-40B4-BE49-F238E27FC236}">
                    <a16:creationId xmlns:a16="http://schemas.microsoft.com/office/drawing/2014/main" id="{09E5F030-121E-4990-8D84-8D868177D1F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 rot="533557">
                <a:off x="6166677" y="4095404"/>
                <a:ext cx="2305050" cy="1990725"/>
              </a:xfrm>
              <a:prstGeom prst="rect">
                <a:avLst/>
              </a:prstGeom>
            </p:spPr>
          </p:pic>
          <p:pic>
            <p:nvPicPr>
              <p:cNvPr id="19" name="Picture 18" descr="PS2 Numeric Keypad Mini Number Pad Numpad 18Keys for Laptop/Desktop"/>
              <p:cNvPicPr>
                <a:picLocks noChangeAspect="1"/>
              </p:cNvPicPr>
              <p:nvPr/>
            </p:nvPicPr>
            <p:blipFill rotWithShape="1"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-11" t="1" r="3358" b="6"/>
              <a:stretch/>
            </p:blipFill>
            <p:spPr bwMode="auto">
              <a:xfrm>
                <a:off x="4127974" y="4005064"/>
                <a:ext cx="1740170" cy="18002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7" name="Picture 6"/>
              <p:cNvPicPr>
                <a:picLocks noChangeAspect="1"/>
              </p:cNvPicPr>
              <p:nvPr/>
            </p:nvPicPr>
            <p:blipFill rotWithShape="1"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13295"/>
              <a:stretch/>
            </p:blipFill>
            <p:spPr>
              <a:xfrm rot="21111367">
                <a:off x="599578" y="4041496"/>
                <a:ext cx="3216213" cy="2091470"/>
              </a:xfrm>
              <a:prstGeom prst="rect">
                <a:avLst/>
              </a:prstGeom>
            </p:spPr>
          </p:pic>
        </p:grpSp>
        <p:pic>
          <p:nvPicPr>
            <p:cNvPr id="8" name="Picture 7" descr="A close-up of a computer chip&#10;&#10;Description automatically generated">
              <a:extLst>
                <a:ext uri="{FF2B5EF4-FFF2-40B4-BE49-F238E27FC236}">
                  <a16:creationId xmlns:a16="http://schemas.microsoft.com/office/drawing/2014/main" id="{177EF59F-D6FF-DFDA-1D77-94E7CD4F42D2}"/>
                </a:ext>
              </a:extLst>
            </p:cNvPr>
            <p:cNvPicPr>
              <a:picLocks noChangeAspect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21061652">
              <a:off x="734819" y="4172363"/>
              <a:ext cx="2898715" cy="180807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72471800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8000">
              <a:schemeClr val="accent1">
                <a:lumMod val="60000"/>
                <a:lumOff val="40000"/>
              </a:schemeClr>
            </a:gs>
            <a:gs pos="20000">
              <a:schemeClr val="tx2">
                <a:lumMod val="40000"/>
                <a:lumOff val="60000"/>
              </a:schemeClr>
            </a:gs>
            <a:gs pos="100000">
              <a:schemeClr val="tx2">
                <a:lumMod val="40000"/>
                <a:lumOff val="60000"/>
              </a:schemeClr>
            </a:gs>
          </a:gsLst>
          <a:lin ang="135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1475656" y="323609"/>
            <a:ext cx="6291672" cy="933450"/>
          </a:xfrm>
        </p:spPr>
        <p:txBody>
          <a:bodyPr>
            <a:noAutofit/>
          </a:bodyPr>
          <a:lstStyle/>
          <a:p>
            <a:pPr algn="ctr"/>
            <a:r>
              <a:rPr lang="he-IL" b="1" u="sng" dirty="0">
                <a:solidFill>
                  <a:srgbClr val="3333CC"/>
                </a:solidFill>
              </a:rPr>
              <a:t>תוכן המעבדה</a:t>
            </a:r>
            <a:endParaRPr lang="en-US" b="1" u="sng" dirty="0">
              <a:solidFill>
                <a:srgbClr val="3333CC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074101" y="6492875"/>
            <a:ext cx="2057400" cy="365125"/>
          </a:xfrm>
        </p:spPr>
        <p:txBody>
          <a:bodyPr/>
          <a:lstStyle/>
          <a:p>
            <a:pPr marL="0" marR="0" lvl="0" indent="0" algn="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F8E0D89-97D4-42DA-9634-9921BB587AD0}" type="slidenum">
              <a:rPr kumimoji="0" lang="he-IL" sz="2000" b="0" i="0" u="none" strike="noStrike" kern="1200" cap="none" spc="0" normalizeH="0" baseline="0" noProof="0" smtClean="0">
                <a:ln>
                  <a:noFill/>
                </a:ln>
                <a:solidFill>
                  <a:srgbClr val="146194">
                    <a:lumMod val="50000"/>
                  </a:srgb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Arial" charset="0"/>
              </a:rPr>
              <a:pPr marL="0" marR="0" lvl="0" indent="0" algn="r" defTabSz="914400" rtl="1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146194">
                  <a:lumMod val="50000"/>
                </a:srgbClr>
              </a:solidFill>
              <a:effectLst/>
              <a:uLnTx/>
              <a:uFillTx/>
              <a:latin typeface="Century Gothic" panose="020B0502020202020204"/>
              <a:ea typeface="+mn-ea"/>
              <a:cs typeface="Arial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140181" y="2050970"/>
            <a:ext cx="6962620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 startAt="2"/>
            </a:pPr>
            <a:r>
              <a:rPr lang="he-IL" sz="2800" dirty="0">
                <a:solidFill>
                  <a:schemeClr val="bg1"/>
                </a:solidFill>
              </a:rPr>
              <a:t>הפעלת יישום ה- </a:t>
            </a:r>
            <a:r>
              <a:rPr lang="en-US" sz="2800" dirty="0">
                <a:solidFill>
                  <a:schemeClr val="bg1"/>
                </a:solidFill>
              </a:rPr>
              <a:t>VGA</a:t>
            </a:r>
          </a:p>
          <a:p>
            <a:pPr marL="342900" indent="-342900">
              <a:buFont typeface="+mj-lt"/>
              <a:buAutoNum type="arabicPeriod" startAt="2"/>
            </a:pPr>
            <a:r>
              <a:rPr lang="he-IL" sz="2800" dirty="0">
                <a:solidFill>
                  <a:schemeClr val="bg1"/>
                </a:solidFill>
              </a:rPr>
              <a:t>שינוי </a:t>
            </a:r>
            <a:r>
              <a:rPr lang="en-US" sz="2800" dirty="0">
                <a:solidFill>
                  <a:schemeClr val="bg1"/>
                </a:solidFill>
              </a:rPr>
              <a:t>BITMAP </a:t>
            </a:r>
            <a:r>
              <a:rPr lang="he-IL" sz="2800" dirty="0">
                <a:solidFill>
                  <a:schemeClr val="bg1"/>
                </a:solidFill>
              </a:rPr>
              <a:t> - הפיכת ה- </a:t>
            </a:r>
            <a:r>
              <a:rPr lang="en-US" sz="2800" dirty="0">
                <a:solidFill>
                  <a:schemeClr val="bg1"/>
                </a:solidFill>
              </a:rPr>
              <a:t>SMILEY </a:t>
            </a:r>
            <a:r>
              <a:rPr lang="he-IL" sz="2800" dirty="0">
                <a:solidFill>
                  <a:schemeClr val="bg1"/>
                </a:solidFill>
              </a:rPr>
              <a:t>	</a:t>
            </a:r>
            <a:endParaRPr lang="en-US" sz="2800" dirty="0">
              <a:solidFill>
                <a:schemeClr val="bg1"/>
              </a:solidFill>
            </a:endParaRPr>
          </a:p>
          <a:p>
            <a:pPr marL="342900" indent="-342900">
              <a:buFont typeface="+mj-lt"/>
              <a:buAutoNum type="arabicPeriod" startAt="2"/>
            </a:pPr>
            <a:r>
              <a:rPr lang="he-IL" sz="2800" dirty="0">
                <a:solidFill>
                  <a:schemeClr val="bg1"/>
                </a:solidFill>
              </a:rPr>
              <a:t>הוספת מלבן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he-IL" sz="2800" dirty="0">
                <a:solidFill>
                  <a:schemeClr val="bg1"/>
                </a:solidFill>
              </a:rPr>
              <a:t>הוספת מכונת </a:t>
            </a:r>
            <a:r>
              <a:rPr lang="en-US" sz="2800" dirty="0">
                <a:solidFill>
                  <a:schemeClr val="bg1"/>
                </a:solidFill>
              </a:rPr>
              <a:t>RANDOM</a:t>
            </a:r>
            <a:endParaRPr lang="he-IL" sz="2800" dirty="0">
              <a:solidFill>
                <a:schemeClr val="bg1"/>
              </a:solidFill>
            </a:endParaRPr>
          </a:p>
          <a:p>
            <a:pPr marL="342900" indent="-342900">
              <a:buFont typeface="+mj-lt"/>
              <a:buAutoNum type="arabicPeriod" startAt="2"/>
            </a:pPr>
            <a:r>
              <a:rPr lang="he-IL" sz="2800" dirty="0">
                <a:solidFill>
                  <a:schemeClr val="bg1"/>
                </a:solidFill>
              </a:rPr>
              <a:t>תרגיל בנתח הלוגי</a:t>
            </a:r>
          </a:p>
          <a:p>
            <a:pPr marL="342900" indent="-342900">
              <a:buFont typeface="+mj-lt"/>
              <a:buAutoNum type="arabicPeriod" startAt="2"/>
            </a:pPr>
            <a:r>
              <a:rPr lang="he-IL" sz="2800" dirty="0">
                <a:solidFill>
                  <a:schemeClr val="bg1"/>
                </a:solidFill>
              </a:rPr>
              <a:t>הוספת ספרות</a:t>
            </a:r>
            <a:r>
              <a:rPr lang="en-US" sz="2800" dirty="0">
                <a:solidFill>
                  <a:schemeClr val="bg1"/>
                </a:solidFill>
              </a:rPr>
              <a:t> </a:t>
            </a:r>
            <a:r>
              <a:rPr lang="he-IL" sz="2800" dirty="0">
                <a:solidFill>
                  <a:schemeClr val="bg1"/>
                </a:solidFill>
              </a:rPr>
              <a:t>ליישום</a:t>
            </a:r>
          </a:p>
          <a:p>
            <a:pPr marL="342900" indent="-342900">
              <a:buFont typeface="+mj-lt"/>
              <a:buAutoNum type="arabicPeriod" startAt="2"/>
            </a:pPr>
            <a:r>
              <a:rPr lang="he-IL" sz="2800" dirty="0">
                <a:solidFill>
                  <a:schemeClr val="bg1"/>
                </a:solidFill>
              </a:rPr>
              <a:t>אינטגרציה ובקרת משחק</a:t>
            </a:r>
          </a:p>
          <a:p>
            <a:pPr marL="342900" indent="-342900">
              <a:buFont typeface="+mj-lt"/>
              <a:buAutoNum type="arabicPeriod" startAt="2"/>
            </a:pPr>
            <a:r>
              <a:rPr lang="he-IL" sz="2800" dirty="0">
                <a:solidFill>
                  <a:schemeClr val="bg1"/>
                </a:solidFill>
              </a:rPr>
              <a:t>הרחבה:</a:t>
            </a:r>
            <a:r>
              <a:rPr lang="en-US" sz="2800" dirty="0">
                <a:solidFill>
                  <a:schemeClr val="bg1"/>
                </a:solidFill>
              </a:rPr>
              <a:t> </a:t>
            </a:r>
            <a:r>
              <a:rPr lang="he-IL" sz="2800" dirty="0">
                <a:solidFill>
                  <a:schemeClr val="bg1"/>
                </a:solidFill>
              </a:rPr>
              <a:t>הוספת צלילים</a:t>
            </a:r>
          </a:p>
          <a:p>
            <a:pPr marL="342900" indent="-342900">
              <a:buFont typeface="+mj-lt"/>
              <a:buAutoNum type="arabicPeriod" startAt="2"/>
            </a:pPr>
            <a:r>
              <a:rPr lang="he-IL" sz="2800" dirty="0">
                <a:solidFill>
                  <a:schemeClr val="bg1"/>
                </a:solidFill>
              </a:rPr>
              <a:t>עבודה על הפרויקט - סיפתח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30" y="1321604"/>
            <a:ext cx="820769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he-IL" sz="2800" b="1" dirty="0">
                <a:solidFill>
                  <a:srgbClr val="7030A0"/>
                </a:solidFill>
                <a:latin typeface="tahoma" panose="020B0604030504040204" pitchFamily="34" charset="0"/>
              </a:rPr>
              <a:t>זהו דוח סיכום מובנה – יש להגיש על ידי אחד השותפים 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227355237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8000">
              <a:schemeClr val="accent1">
                <a:lumMod val="60000"/>
                <a:lumOff val="40000"/>
              </a:schemeClr>
            </a:gs>
            <a:gs pos="20000">
              <a:schemeClr val="tx2">
                <a:lumMod val="40000"/>
                <a:lumOff val="60000"/>
              </a:schemeClr>
            </a:gs>
            <a:gs pos="100000">
              <a:schemeClr val="tx2">
                <a:lumMod val="40000"/>
                <a:lumOff val="60000"/>
              </a:schemeClr>
            </a:gs>
          </a:gsLst>
          <a:lin ang="135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4566" y="391011"/>
            <a:ext cx="6554867" cy="720080"/>
          </a:xfrm>
        </p:spPr>
        <p:txBody>
          <a:bodyPr>
            <a:normAutofit/>
          </a:bodyPr>
          <a:lstStyle/>
          <a:p>
            <a:pPr algn="ctr"/>
            <a:r>
              <a:rPr lang="he-IL" b="1" u="sng" dirty="0">
                <a:solidFill>
                  <a:srgbClr val="3333CC"/>
                </a:solidFill>
              </a:rPr>
              <a:t>מהו </a:t>
            </a:r>
            <a:r>
              <a:rPr lang="en-US" b="1" u="sng" dirty="0">
                <a:solidFill>
                  <a:srgbClr val="3333CC"/>
                </a:solidFill>
              </a:rPr>
              <a:t>VGA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80112" y="1564429"/>
            <a:ext cx="3168352" cy="1717028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he-IL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מסך ברזולוציה 480</a:t>
            </a: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r>
              <a:rPr lang="he-IL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640 פיקסלים</a:t>
            </a:r>
          </a:p>
          <a:p>
            <a:pPr marL="0" indent="0">
              <a:buNone/>
            </a:pPr>
            <a:r>
              <a:rPr lang="he-IL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סריקת המסך - משמאל לימין ומלמעלה למטה</a:t>
            </a:r>
            <a:endParaRPr lang="en-US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F8E0D89-97D4-42DA-9634-9921BB587AD0}" type="slidenum">
              <a:rPr lang="he-IL" smtClean="0"/>
              <a:pPr>
                <a:defRPr/>
              </a:pPr>
              <a:t>3</a:t>
            </a:fld>
            <a:endParaRPr lang="en-US"/>
          </a:p>
        </p:txBody>
      </p:sp>
      <p:pic>
        <p:nvPicPr>
          <p:cNvPr id="5" name="Picture 4" descr="http://www.digital-circuitry.com/IMAGES/webpage/MyLAB/VGA/thumbs/VGA_640x480_Layout.jpg"/>
          <p:cNvPicPr/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572" b="5000"/>
          <a:stretch/>
        </p:blipFill>
        <p:spPr bwMode="auto">
          <a:xfrm>
            <a:off x="4206568" y="3429000"/>
            <a:ext cx="4536504" cy="3070369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7" name="Picture 6" descr="Image result for vga signal explanation"/>
          <p:cNvPicPr/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851920" y="1916832"/>
            <a:ext cx="1498695" cy="1249451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 descr="PS2 Numeric Keypad Mini Number Pad Numpad 18Keys for Laptop/Desktop"/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2850" y="4469324"/>
            <a:ext cx="2072005" cy="2072005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Content Placeholder 2"/>
          <p:cNvSpPr txBox="1">
            <a:spLocks/>
          </p:cNvSpPr>
          <p:nvPr/>
        </p:nvSpPr>
        <p:spPr>
          <a:xfrm>
            <a:off x="679193" y="3633760"/>
            <a:ext cx="2559321" cy="1020543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>
            <a:lvl1pPr marL="228600" indent="-228600" algn="r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he-IL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מקלדת מספרים מחוברת לכרטיס</a:t>
            </a:r>
            <a:endParaRPr lang="en-US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/>
              <a:t>6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0BB61384-DC3E-AA29-8E2D-256BD4F887CC}"/>
              </a:ext>
            </a:extLst>
          </p:cNvPr>
          <p:cNvGrpSpPr/>
          <p:nvPr/>
        </p:nvGrpSpPr>
        <p:grpSpPr>
          <a:xfrm>
            <a:off x="323528" y="1124744"/>
            <a:ext cx="3542484" cy="2341007"/>
            <a:chOff x="323528" y="1124744"/>
            <a:chExt cx="3542484" cy="2341007"/>
          </a:xfrm>
        </p:grpSpPr>
        <p:pic>
          <p:nvPicPr>
            <p:cNvPr id="11" name="Picture 10"/>
            <p:cNvPicPr>
              <a:picLocks noChangeAspect="1"/>
            </p:cNvPicPr>
            <p:nvPr/>
          </p:nvPicPr>
          <p:blipFill rotWithShape="1"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1888"/>
            <a:stretch/>
          </p:blipFill>
          <p:spPr>
            <a:xfrm>
              <a:off x="323528" y="1124744"/>
              <a:ext cx="3542484" cy="2341007"/>
            </a:xfrm>
            <a:prstGeom prst="rect">
              <a:avLst/>
            </a:prstGeom>
          </p:spPr>
        </p:pic>
        <p:pic>
          <p:nvPicPr>
            <p:cNvPr id="12" name="Picture 11" descr="A screen shot of a video game&#10;&#10;Description automatically generated">
              <a:extLst>
                <a:ext uri="{FF2B5EF4-FFF2-40B4-BE49-F238E27FC236}">
                  <a16:creationId xmlns:a16="http://schemas.microsoft.com/office/drawing/2014/main" id="{2882BEA9-BE22-9AE5-1657-F104E2C078D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29714" y="1293172"/>
              <a:ext cx="3106182" cy="199891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50628007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8000">
              <a:schemeClr val="accent1">
                <a:lumMod val="60000"/>
                <a:lumOff val="40000"/>
              </a:schemeClr>
            </a:gs>
            <a:gs pos="20000">
              <a:schemeClr val="tx2">
                <a:lumMod val="40000"/>
                <a:lumOff val="60000"/>
              </a:schemeClr>
            </a:gs>
            <a:gs pos="100000">
              <a:schemeClr val="tx2">
                <a:lumMod val="40000"/>
                <a:lumOff val="60000"/>
              </a:schemeClr>
            </a:gs>
          </a:gsLst>
          <a:lin ang="135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559" y="275002"/>
            <a:ext cx="6554867" cy="853644"/>
          </a:xfrm>
        </p:spPr>
        <p:txBody>
          <a:bodyPr>
            <a:normAutofit/>
          </a:bodyPr>
          <a:lstStyle/>
          <a:p>
            <a:pPr algn="ctr"/>
            <a:r>
              <a:rPr lang="he-IL" b="1" u="sng" dirty="0">
                <a:solidFill>
                  <a:srgbClr val="3333CC"/>
                </a:solidFill>
              </a:rPr>
              <a:t>בקר ה- </a:t>
            </a:r>
            <a:r>
              <a:rPr lang="en-US" b="1" u="sng" dirty="0">
                <a:solidFill>
                  <a:srgbClr val="3333CC"/>
                </a:solidFill>
              </a:rPr>
              <a:t>VGA</a:t>
            </a:r>
            <a:endParaRPr lang="he-IL" b="1" u="sng" dirty="0">
              <a:solidFill>
                <a:srgbClr val="3333CC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F8E0D89-97D4-42DA-9634-9921BB587AD0}" type="slidenum">
              <a:rPr lang="he-IL" smtClean="0"/>
              <a:pPr>
                <a:defRPr/>
              </a:pPr>
              <a:t>4</a:t>
            </a:fld>
            <a:endParaRPr lang="en-US"/>
          </a:p>
        </p:txBody>
      </p:sp>
      <p:grpSp>
        <p:nvGrpSpPr>
          <p:cNvPr id="14" name="Group 13"/>
          <p:cNvGrpSpPr/>
          <p:nvPr/>
        </p:nvGrpSpPr>
        <p:grpSpPr>
          <a:xfrm>
            <a:off x="376961" y="3615132"/>
            <a:ext cx="2826759" cy="2676595"/>
            <a:chOff x="4416805" y="3921548"/>
            <a:chExt cx="2826759" cy="2676595"/>
          </a:xfrm>
        </p:grpSpPr>
        <p:pic>
          <p:nvPicPr>
            <p:cNvPr id="3" name="Picture 2"/>
            <p:cNvPicPr>
              <a:picLocks noChangeAspect="1"/>
            </p:cNvPicPr>
            <p:nvPr/>
          </p:nvPicPr>
          <p:blipFill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b="22287"/>
            <a:stretch/>
          </p:blipFill>
          <p:spPr>
            <a:xfrm>
              <a:off x="5148064" y="4215154"/>
              <a:ext cx="2095500" cy="1806134"/>
            </a:xfrm>
            <a:prstGeom prst="rect">
              <a:avLst/>
            </a:prstGeom>
          </p:spPr>
        </p:pic>
        <p:sp>
          <p:nvSpPr>
            <p:cNvPr id="5" name="Down Arrow 4"/>
            <p:cNvSpPr/>
            <p:nvPr/>
          </p:nvSpPr>
          <p:spPr>
            <a:xfrm rot="5400000">
              <a:off x="4522067" y="4907915"/>
              <a:ext cx="413792" cy="624315"/>
            </a:xfrm>
            <a:prstGeom prst="downArrow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  <p:sp>
          <p:nvSpPr>
            <p:cNvPr id="7" name="Down Arrow 6"/>
            <p:cNvSpPr/>
            <p:nvPr/>
          </p:nvSpPr>
          <p:spPr>
            <a:xfrm rot="13434226">
              <a:off x="6580528" y="3921548"/>
              <a:ext cx="413792" cy="624315"/>
            </a:xfrm>
            <a:prstGeom prst="down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  <p:sp>
          <p:nvSpPr>
            <p:cNvPr id="8" name="Down Arrow 7"/>
            <p:cNvSpPr/>
            <p:nvPr/>
          </p:nvSpPr>
          <p:spPr>
            <a:xfrm rot="19236619">
              <a:off x="6586116" y="5973828"/>
              <a:ext cx="413792" cy="624315"/>
            </a:xfrm>
            <a:prstGeom prst="downArrow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</p:grpSp>
      <p:grpSp>
        <p:nvGrpSpPr>
          <p:cNvPr id="13" name="Group 12"/>
          <p:cNvGrpSpPr/>
          <p:nvPr/>
        </p:nvGrpSpPr>
        <p:grpSpPr>
          <a:xfrm>
            <a:off x="3411852" y="3615132"/>
            <a:ext cx="5372291" cy="2848894"/>
            <a:chOff x="2803108" y="1052737"/>
            <a:chExt cx="5892869" cy="3477810"/>
          </a:xfrm>
        </p:grpSpPr>
        <p:pic>
          <p:nvPicPr>
            <p:cNvPr id="1026" name="Picture 2" descr="http://www.digital-circuitry.com/IMAGES/webpage/MyLAB/VGA/thumbs/VGA_640x480_Layout.jpg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416806" y="1524001"/>
              <a:ext cx="3810000" cy="2667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0" name="Down Arrow 9"/>
            <p:cNvSpPr/>
            <p:nvPr/>
          </p:nvSpPr>
          <p:spPr>
            <a:xfrm rot="5400000" flipV="1">
              <a:off x="8150395" y="2520039"/>
              <a:ext cx="413792" cy="677373"/>
            </a:xfrm>
            <a:prstGeom prst="downArrow">
              <a:avLst/>
            </a:prstGeom>
            <a:solidFill>
              <a:srgbClr val="7030A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  <p:sp>
          <p:nvSpPr>
            <p:cNvPr id="11" name="Down Arrow 10"/>
            <p:cNvSpPr/>
            <p:nvPr/>
          </p:nvSpPr>
          <p:spPr>
            <a:xfrm rot="10800000">
              <a:off x="6750678" y="1052737"/>
              <a:ext cx="413792" cy="624315"/>
            </a:xfrm>
            <a:prstGeom prst="downArrow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  <p:sp>
          <p:nvSpPr>
            <p:cNvPr id="9" name="Oval 8"/>
            <p:cNvSpPr/>
            <p:nvPr/>
          </p:nvSpPr>
          <p:spPr>
            <a:xfrm>
              <a:off x="5292080" y="3010465"/>
              <a:ext cx="166336" cy="22175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  <p:sp>
          <p:nvSpPr>
            <p:cNvPr id="12" name="Rounded Rectangular Callout 11"/>
            <p:cNvSpPr/>
            <p:nvPr/>
          </p:nvSpPr>
          <p:spPr>
            <a:xfrm>
              <a:off x="2803108" y="3851454"/>
              <a:ext cx="1746481" cy="679093"/>
            </a:xfrm>
            <a:prstGeom prst="wedgeRoundRectCallout">
              <a:avLst>
                <a:gd name="adj1" fmla="val 86695"/>
                <a:gd name="adj2" fmla="val -138951"/>
                <a:gd name="adj3" fmla="val 16667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r>
                <a:rPr lang="he-IL" dirty="0"/>
                <a:t>נותנים </a:t>
              </a:r>
              <a:r>
                <a:rPr lang="en-US" dirty="0"/>
                <a:t>RGB</a:t>
              </a:r>
              <a:r>
                <a:rPr lang="he-IL" dirty="0"/>
                <a:t> של פיקסל בודד</a:t>
              </a:r>
            </a:p>
          </p:txBody>
        </p:sp>
      </p:grpSp>
      <p:sp>
        <p:nvSpPr>
          <p:cNvPr id="15" name="Rectangle 14"/>
          <p:cNvSpPr/>
          <p:nvPr/>
        </p:nvSpPr>
        <p:spPr>
          <a:xfrm>
            <a:off x="5220072" y="1280141"/>
            <a:ext cx="3654558" cy="233910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he-IL" dirty="0">
                <a:solidFill>
                  <a:schemeClr val="bg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אין צורך לשנות דבר בבקר</a:t>
            </a:r>
          </a:p>
          <a:p>
            <a:pPr marL="285750" indent="-285750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he-IL" dirty="0">
                <a:solidFill>
                  <a:schemeClr val="bg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הבקר מקבל מהמשתמש - צבע </a:t>
            </a: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RGB</a:t>
            </a:r>
            <a:r>
              <a:rPr lang="he-IL" dirty="0">
                <a:solidFill>
                  <a:schemeClr val="bg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שיש להקנות לפיקסל הנוכחי </a:t>
            </a:r>
          </a:p>
          <a:p>
            <a:pPr marL="285750" indent="-285750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he-IL" dirty="0">
                <a:solidFill>
                  <a:schemeClr val="bg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הבקר מוציא אל המשתמש:</a:t>
            </a:r>
            <a:endParaRPr lang="en-US" dirty="0">
              <a:solidFill>
                <a:schemeClr val="bg1"/>
              </a:solid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800100" lvl="1" indent="-342900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-"/>
            </a:pPr>
            <a:r>
              <a:rPr lang="he-IL" dirty="0">
                <a:solidFill>
                  <a:schemeClr val="bg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קואורדינטות של הפיקסל הבא </a:t>
            </a:r>
            <a:endParaRPr lang="en-US" dirty="0">
              <a:solidFill>
                <a:schemeClr val="bg1"/>
              </a:solid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800100" lvl="1" indent="-342900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-"/>
            </a:pPr>
            <a:r>
              <a:rPr lang="he-IL" dirty="0">
                <a:solidFill>
                  <a:schemeClr val="bg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אות </a:t>
            </a:r>
            <a:r>
              <a:rPr lang="en-US" dirty="0" err="1">
                <a:solidFill>
                  <a:schemeClr val="bg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startOfFrame</a:t>
            </a:r>
            <a:r>
              <a:rPr lang="he-IL" dirty="0">
                <a:solidFill>
                  <a:schemeClr val="bg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– פולס התחלה של סריקת מסך</a:t>
            </a:r>
            <a:endParaRPr lang="en-US" dirty="0">
              <a:solidFill>
                <a:schemeClr val="bg1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3528" y="1478478"/>
            <a:ext cx="4896544" cy="1450531"/>
          </a:xfrm>
          <a:prstGeom prst="rect">
            <a:avLst/>
          </a:prstGeom>
        </p:spPr>
      </p:pic>
      <p:pic>
        <p:nvPicPr>
          <p:cNvPr id="18" name="Picture 17"/>
          <p:cNvPicPr/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11960" y="1805449"/>
            <a:ext cx="444500" cy="399415"/>
          </a:xfrm>
          <a:prstGeom prst="rect">
            <a:avLst/>
          </a:prstGeom>
          <a:noFill/>
        </p:spPr>
      </p:pic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34299925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8000">
              <a:schemeClr val="accent1">
                <a:lumMod val="60000"/>
                <a:lumOff val="40000"/>
              </a:schemeClr>
            </a:gs>
            <a:gs pos="20000">
              <a:schemeClr val="tx2">
                <a:lumMod val="40000"/>
                <a:lumOff val="60000"/>
              </a:schemeClr>
            </a:gs>
            <a:gs pos="100000">
              <a:schemeClr val="tx2">
                <a:lumMod val="40000"/>
                <a:lumOff val="60000"/>
              </a:schemeClr>
            </a:gs>
          </a:gsLst>
          <a:lin ang="135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971600" y="196713"/>
            <a:ext cx="7362445" cy="933450"/>
          </a:xfrm>
        </p:spPr>
        <p:txBody>
          <a:bodyPr>
            <a:noAutofit/>
          </a:bodyPr>
          <a:lstStyle/>
          <a:p>
            <a:pPr algn="ctr"/>
            <a:r>
              <a:rPr lang="he-IL" sz="3600" b="1" u="sng" dirty="0">
                <a:solidFill>
                  <a:srgbClr val="3333CC"/>
                </a:solidFill>
              </a:rPr>
              <a:t>סכמה כללית של יישום ה - </a:t>
            </a:r>
            <a:r>
              <a:rPr lang="en-US" sz="3600" b="1" u="sng" dirty="0">
                <a:solidFill>
                  <a:srgbClr val="3333CC"/>
                </a:solidFill>
              </a:rPr>
              <a:t>S</a:t>
            </a:r>
            <a:r>
              <a:rPr lang="en-GB" sz="3600" b="1" u="sng" dirty="0" err="1">
                <a:solidFill>
                  <a:srgbClr val="3333CC"/>
                </a:solidFill>
              </a:rPr>
              <a:t>miley</a:t>
            </a:r>
            <a:endParaRPr lang="en-US" sz="3600" b="1" u="sng" dirty="0">
              <a:solidFill>
                <a:srgbClr val="3333CC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F8E0D89-97D4-42DA-9634-9921BB587AD0}" type="slidenum">
              <a:rPr lang="he-IL" smtClean="0"/>
              <a:pPr>
                <a:defRPr/>
              </a:pPr>
              <a:t>5</a:t>
            </a:fld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66490" y="941757"/>
            <a:ext cx="8655713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>
              <a:spcAft>
                <a:spcPts val="0"/>
              </a:spcAft>
              <a:buSzPts val="1100"/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222222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Smiley block</a:t>
            </a:r>
            <a:r>
              <a:rPr lang="he-IL" sz="2000" dirty="0">
                <a:solidFill>
                  <a:srgbClr val="222222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– קובע את מיקום האובייקט ומצייר אותו</a:t>
            </a:r>
          </a:p>
          <a:p>
            <a:pPr marL="342900" lvl="0" indent="-342900">
              <a:spcAft>
                <a:spcPts val="0"/>
              </a:spcAft>
              <a:buSzPts val="1100"/>
              <a:buFont typeface="Arial" panose="020B0604020202020204" pitchFamily="34" charset="0"/>
              <a:buChar char="•"/>
            </a:pPr>
            <a:r>
              <a:rPr lang="he-IL" sz="2000" dirty="0">
                <a:solidFill>
                  <a:srgbClr val="222222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רקע – מצייר רקע קבוע </a:t>
            </a:r>
            <a:r>
              <a:rPr lang="en-US" sz="2000" dirty="0">
                <a:solidFill>
                  <a:srgbClr val="222222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- </a:t>
            </a:r>
            <a:r>
              <a:rPr lang="he-IL" sz="2000" dirty="0">
                <a:solidFill>
                  <a:srgbClr val="222222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קובץ </a:t>
            </a:r>
            <a:r>
              <a:rPr lang="en-US" sz="2000" dirty="0">
                <a:solidFill>
                  <a:srgbClr val="222222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MIF</a:t>
            </a:r>
          </a:p>
          <a:p>
            <a:pPr marL="342900" lvl="0" indent="-342900">
              <a:spcAft>
                <a:spcPts val="0"/>
              </a:spcAft>
              <a:buSzPts val="1100"/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222222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Mux </a:t>
            </a:r>
            <a:r>
              <a:rPr lang="he-IL" sz="2000" dirty="0">
                <a:solidFill>
                  <a:srgbClr val="222222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– בורר מה להציג</a:t>
            </a:r>
            <a:endParaRPr lang="en-US" sz="2000" dirty="0">
              <a:solidFill>
                <a:srgbClr val="222222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>
              <a:spcAft>
                <a:spcPts val="0"/>
              </a:spcAft>
              <a:buSzPts val="1100"/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222222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Game controller</a:t>
            </a:r>
            <a:r>
              <a:rPr lang="he-IL" sz="2000" dirty="0">
                <a:solidFill>
                  <a:srgbClr val="222222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– בקר משחק </a:t>
            </a:r>
            <a:endParaRPr lang="en-US" sz="2000" dirty="0">
              <a:solidFill>
                <a:srgbClr val="222222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>
              <a:spcAft>
                <a:spcPts val="0"/>
              </a:spcAft>
              <a:buSzPts val="1100"/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222222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VGA Controller</a:t>
            </a:r>
            <a:r>
              <a:rPr lang="he-IL" sz="2000" dirty="0">
                <a:solidFill>
                  <a:srgbClr val="222222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– נתון, מתממשק עם המסך – </a:t>
            </a:r>
            <a:r>
              <a:rPr lang="he-IL" sz="2000" b="1" dirty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לא נוגעים בו</a:t>
            </a:r>
          </a:p>
          <a:p>
            <a:pPr marL="342900" lvl="0" indent="-342900">
              <a:spcAft>
                <a:spcPts val="0"/>
              </a:spcAft>
              <a:buSzPts val="1100"/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222222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Audio</a:t>
            </a:r>
            <a:r>
              <a:rPr lang="he-IL" sz="2000" dirty="0">
                <a:solidFill>
                  <a:srgbClr val="222222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– יחידת שמע מפיקה צלילים – נתונה – הרחבת רשות</a:t>
            </a:r>
          </a:p>
          <a:p>
            <a:pPr marL="342900" lvl="0" indent="-342900">
              <a:spcAft>
                <a:spcPts val="0"/>
              </a:spcAft>
              <a:buSzPts val="1100"/>
              <a:buFont typeface="Arial" panose="020B0604020202020204" pitchFamily="34" charset="0"/>
              <a:buChar char="•"/>
            </a:pPr>
            <a:r>
              <a:rPr lang="he-IL" sz="2000" dirty="0">
                <a:solidFill>
                  <a:srgbClr val="222222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התנגשויות בין אובייקטים – קוד נתון - הרחבת רשות</a:t>
            </a:r>
          </a:p>
        </p:txBody>
      </p:sp>
      <p:grpSp>
        <p:nvGrpSpPr>
          <p:cNvPr id="67" name="Group 66"/>
          <p:cNvGrpSpPr/>
          <p:nvPr/>
        </p:nvGrpSpPr>
        <p:grpSpPr>
          <a:xfrm>
            <a:off x="755576" y="3037210"/>
            <a:ext cx="7601832" cy="3416126"/>
            <a:chOff x="755576" y="2910457"/>
            <a:chExt cx="7601832" cy="3416126"/>
          </a:xfrm>
        </p:grpSpPr>
        <p:grpSp>
          <p:nvGrpSpPr>
            <p:cNvPr id="65" name="Group 64"/>
            <p:cNvGrpSpPr/>
            <p:nvPr/>
          </p:nvGrpSpPr>
          <p:grpSpPr>
            <a:xfrm>
              <a:off x="755576" y="2910457"/>
              <a:ext cx="7560840" cy="3416126"/>
              <a:chOff x="1088639" y="2910457"/>
              <a:chExt cx="7560840" cy="3416126"/>
            </a:xfrm>
          </p:grpSpPr>
          <p:grpSp>
            <p:nvGrpSpPr>
              <p:cNvPr id="61" name="Group 60"/>
              <p:cNvGrpSpPr/>
              <p:nvPr/>
            </p:nvGrpSpPr>
            <p:grpSpPr>
              <a:xfrm>
                <a:off x="1088639" y="2910457"/>
                <a:ext cx="6902456" cy="3416126"/>
                <a:chOff x="1088639" y="2910457"/>
                <a:chExt cx="6902456" cy="3416126"/>
              </a:xfrm>
            </p:grpSpPr>
            <p:sp>
              <p:nvSpPr>
                <p:cNvPr id="7" name="Down Arrow 6"/>
                <p:cNvSpPr/>
                <p:nvPr/>
              </p:nvSpPr>
              <p:spPr>
                <a:xfrm rot="5400000" flipV="1">
                  <a:off x="7416862" y="3908056"/>
                  <a:ext cx="321659" cy="826807"/>
                </a:xfrm>
                <a:prstGeom prst="downArrow">
                  <a:avLst/>
                </a:prstGeom>
                <a:solidFill>
                  <a:srgbClr val="7030A0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1" anchor="ctr"/>
                <a:lstStyle/>
                <a:p>
                  <a:pPr algn="ctr"/>
                  <a:endParaRPr lang="he-IL" sz="1400"/>
                </a:p>
              </p:txBody>
            </p:sp>
            <p:sp>
              <p:nvSpPr>
                <p:cNvPr id="17" name="Down Arrow 16"/>
                <p:cNvSpPr/>
                <p:nvPr/>
              </p:nvSpPr>
              <p:spPr>
                <a:xfrm rot="5400000" flipV="1">
                  <a:off x="5675611" y="4018125"/>
                  <a:ext cx="302483" cy="580659"/>
                </a:xfrm>
                <a:prstGeom prst="downArrow">
                  <a:avLst/>
                </a:prstGeom>
                <a:solidFill>
                  <a:srgbClr val="7030A0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1" anchor="ctr"/>
                <a:lstStyle/>
                <a:p>
                  <a:pPr algn="ctr"/>
                  <a:endParaRPr lang="he-IL" sz="1400" dirty="0"/>
                </a:p>
              </p:txBody>
            </p:sp>
            <p:sp>
              <p:nvSpPr>
                <p:cNvPr id="12" name="Rectangle 11"/>
                <p:cNvSpPr/>
                <p:nvPr/>
              </p:nvSpPr>
              <p:spPr>
                <a:xfrm>
                  <a:off x="4958193" y="3628411"/>
                  <a:ext cx="750422" cy="1312757"/>
                </a:xfrm>
                <a:prstGeom prst="rect">
                  <a:avLst/>
                </a:prstGeom>
              </p:spPr>
              <p:style>
                <a:lnRef idx="2">
                  <a:schemeClr val="accent4">
                    <a:shade val="50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  <p:txBody>
                <a:bodyPr rtlCol="1" anchor="ctr"/>
                <a:lstStyle/>
                <a:p>
                  <a:pPr algn="ctr"/>
                  <a:r>
                    <a:rPr lang="en-US" sz="1400" dirty="0"/>
                    <a:t>Mux</a:t>
                  </a:r>
                  <a:endParaRPr lang="he-IL" sz="1400" dirty="0"/>
                </a:p>
              </p:txBody>
            </p:sp>
            <p:cxnSp>
              <p:nvCxnSpPr>
                <p:cNvPr id="19" name="Elbow Connector 18"/>
                <p:cNvCxnSpPr>
                  <a:stCxn id="20" idx="3"/>
                </p:cNvCxnSpPr>
                <p:nvPr/>
              </p:nvCxnSpPr>
              <p:spPr>
                <a:xfrm>
                  <a:off x="3784481" y="3543012"/>
                  <a:ext cx="1180568" cy="628222"/>
                </a:xfrm>
                <a:prstGeom prst="bentConnector3">
                  <a:avLst>
                    <a:gd name="adj1" fmla="val 50000"/>
                  </a:avLst>
                </a:prstGeom>
                <a:solidFill>
                  <a:srgbClr val="7030A0"/>
                </a:solidFill>
                <a:ln w="76200">
                  <a:solidFill>
                    <a:srgbClr val="FF0000"/>
                  </a:solidFill>
                  <a:headEnd type="none" w="med" len="med"/>
                  <a:tailEnd type="triangl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sp>
              <p:nvSpPr>
                <p:cNvPr id="20" name="Rectangle 19"/>
                <p:cNvSpPr/>
                <p:nvPr/>
              </p:nvSpPr>
              <p:spPr>
                <a:xfrm>
                  <a:off x="2617207" y="3137423"/>
                  <a:ext cx="1167274" cy="811177"/>
                </a:xfrm>
                <a:prstGeom prst="rect">
                  <a:avLst/>
                </a:prstGeom>
                <a:solidFill>
                  <a:srgbClr val="FF0000"/>
                </a:solidFill>
              </p:spPr>
              <p:style>
                <a:lnRef idx="2">
                  <a:schemeClr val="accent5">
                    <a:shade val="50000"/>
                  </a:schemeClr>
                </a:lnRef>
                <a:fillRef idx="1">
                  <a:schemeClr val="accent5"/>
                </a:fillRef>
                <a:effectRef idx="0">
                  <a:schemeClr val="accent5"/>
                </a:effectRef>
                <a:fontRef idx="minor">
                  <a:schemeClr val="lt1"/>
                </a:fontRef>
              </p:style>
              <p:txBody>
                <a:bodyPr rtlCol="1" anchor="ctr"/>
                <a:lstStyle/>
                <a:p>
                  <a:pPr algn="ctr"/>
                  <a:r>
                    <a:rPr lang="en-US" sz="1400" dirty="0"/>
                    <a:t>Smiley-block</a:t>
                  </a:r>
                  <a:r>
                    <a:rPr lang="he-IL" sz="1400" dirty="0"/>
                    <a:t> </a:t>
                  </a:r>
                </a:p>
              </p:txBody>
            </p:sp>
            <p:cxnSp>
              <p:nvCxnSpPr>
                <p:cNvPr id="30" name="Elbow Connector 29"/>
                <p:cNvCxnSpPr>
                  <a:stCxn id="32" idx="3"/>
                </p:cNvCxnSpPr>
                <p:nvPr/>
              </p:nvCxnSpPr>
              <p:spPr>
                <a:xfrm flipV="1">
                  <a:off x="3039415" y="4725144"/>
                  <a:ext cx="1925634" cy="767562"/>
                </a:xfrm>
                <a:prstGeom prst="bentConnector3">
                  <a:avLst>
                    <a:gd name="adj1" fmla="val 32043"/>
                  </a:avLst>
                </a:prstGeom>
                <a:solidFill>
                  <a:srgbClr val="7030A0"/>
                </a:solidFill>
                <a:ln w="76200">
                  <a:headEnd type="none" w="med" len="med"/>
                  <a:tailEnd type="triangl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sp>
              <p:nvSpPr>
                <p:cNvPr id="32" name="Rectangle 31"/>
                <p:cNvSpPr/>
                <p:nvPr/>
              </p:nvSpPr>
              <p:spPr>
                <a:xfrm>
                  <a:off x="2051720" y="5205259"/>
                  <a:ext cx="987695" cy="574894"/>
                </a:xfrm>
                <a:prstGeom prst="rect">
                  <a:avLst/>
                </a:prstGeom>
              </p:spPr>
              <p:style>
                <a:lnRef idx="2">
                  <a:schemeClr val="accent5">
                    <a:shade val="50000"/>
                  </a:schemeClr>
                </a:lnRef>
                <a:fillRef idx="1">
                  <a:schemeClr val="accent5"/>
                </a:fillRef>
                <a:effectRef idx="0">
                  <a:schemeClr val="accent5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1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r>
                    <a:rPr lang="en-US" sz="1300" dirty="0"/>
                    <a:t>Background</a:t>
                  </a:r>
                  <a:endParaRPr lang="he-IL" sz="1300" dirty="0"/>
                </a:p>
              </p:txBody>
            </p:sp>
            <p:cxnSp>
              <p:nvCxnSpPr>
                <p:cNvPr id="38" name="Elbow Connector 37"/>
                <p:cNvCxnSpPr>
                  <a:stCxn id="20" idx="2"/>
                </p:cNvCxnSpPr>
                <p:nvPr/>
              </p:nvCxnSpPr>
              <p:spPr>
                <a:xfrm rot="16200000" flipH="1">
                  <a:off x="3823970" y="3325473"/>
                  <a:ext cx="511096" cy="1757349"/>
                </a:xfrm>
                <a:prstGeom prst="bentConnector2">
                  <a:avLst/>
                </a:prstGeom>
                <a:ln w="28575">
                  <a:solidFill>
                    <a:srgbClr val="0066FF">
                      <a:alpha val="60000"/>
                    </a:srgbClr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1" name="TextBox 40"/>
                <p:cNvSpPr txBox="1"/>
                <p:nvPr/>
              </p:nvSpPr>
              <p:spPr>
                <a:xfrm>
                  <a:off x="3184605" y="4197581"/>
                  <a:ext cx="1359667" cy="276999"/>
                </a:xfrm>
                <a:prstGeom prst="rect">
                  <a:avLst/>
                </a:prstGeom>
                <a:noFill/>
              </p:spPr>
              <p:txBody>
                <a:bodyPr wrap="none" rtlCol="1">
                  <a:spAutoFit/>
                </a:bodyPr>
                <a:lstStyle/>
                <a:p>
                  <a:r>
                    <a:rPr lang="en-US" sz="1200" dirty="0">
                      <a:solidFill>
                        <a:srgbClr val="FF0000"/>
                      </a:solidFill>
                    </a:rPr>
                    <a:t>Drawing Request</a:t>
                  </a:r>
                  <a:endParaRPr lang="he-IL" sz="1200" dirty="0">
                    <a:solidFill>
                      <a:srgbClr val="FF0000"/>
                    </a:solidFill>
                  </a:endParaRPr>
                </a:p>
              </p:txBody>
            </p:sp>
            <p:sp>
              <p:nvSpPr>
                <p:cNvPr id="15" name="TextBox 14"/>
                <p:cNvSpPr txBox="1"/>
                <p:nvPr/>
              </p:nvSpPr>
              <p:spPr>
                <a:xfrm>
                  <a:off x="3617146" y="3202845"/>
                  <a:ext cx="782080" cy="338554"/>
                </a:xfrm>
                <a:prstGeom prst="rect">
                  <a:avLst/>
                </a:prstGeom>
                <a:noFill/>
              </p:spPr>
              <p:txBody>
                <a:bodyPr wrap="square" rtlCol="1">
                  <a:spAutoFit/>
                </a:bodyPr>
                <a:lstStyle/>
                <a:p>
                  <a:r>
                    <a:rPr lang="en-US" sz="1600" dirty="0">
                      <a:solidFill>
                        <a:schemeClr val="bg1"/>
                      </a:solidFill>
                    </a:rPr>
                    <a:t>RGB</a:t>
                  </a:r>
                  <a:endParaRPr lang="he-IL" sz="1600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25" name="TextBox 24"/>
                <p:cNvSpPr txBox="1"/>
                <p:nvPr/>
              </p:nvSpPr>
              <p:spPr>
                <a:xfrm>
                  <a:off x="2979241" y="5117122"/>
                  <a:ext cx="680944" cy="338554"/>
                </a:xfrm>
                <a:prstGeom prst="rect">
                  <a:avLst/>
                </a:prstGeom>
                <a:noFill/>
              </p:spPr>
              <p:txBody>
                <a:bodyPr wrap="square" rtlCol="1">
                  <a:spAutoFit/>
                </a:bodyPr>
                <a:lstStyle/>
                <a:p>
                  <a:r>
                    <a:rPr lang="en-US" sz="1600" dirty="0">
                      <a:solidFill>
                        <a:schemeClr val="bg1"/>
                      </a:solidFill>
                    </a:rPr>
                    <a:t>RGB</a:t>
                  </a:r>
                  <a:endParaRPr lang="he-IL" sz="1600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27" name="TextBox 26"/>
                <p:cNvSpPr txBox="1"/>
                <p:nvPr/>
              </p:nvSpPr>
              <p:spPr>
                <a:xfrm>
                  <a:off x="7159353" y="3933056"/>
                  <a:ext cx="653007" cy="338554"/>
                </a:xfrm>
                <a:prstGeom prst="rect">
                  <a:avLst/>
                </a:prstGeom>
                <a:noFill/>
              </p:spPr>
              <p:txBody>
                <a:bodyPr wrap="square" rtlCol="1">
                  <a:spAutoFit/>
                </a:bodyPr>
                <a:lstStyle/>
                <a:p>
                  <a:r>
                    <a:rPr lang="en-US" sz="1600" dirty="0">
                      <a:solidFill>
                        <a:schemeClr val="bg1"/>
                      </a:solidFill>
                    </a:rPr>
                    <a:t>RGB</a:t>
                  </a:r>
                  <a:endParaRPr lang="he-IL" sz="1600" dirty="0">
                    <a:solidFill>
                      <a:schemeClr val="bg1"/>
                    </a:solidFill>
                  </a:endParaRPr>
                </a:p>
              </p:txBody>
            </p:sp>
            <p:cxnSp>
              <p:nvCxnSpPr>
                <p:cNvPr id="28" name="Elbow Connector 27"/>
                <p:cNvCxnSpPr>
                  <a:stCxn id="10" idx="2"/>
                </p:cNvCxnSpPr>
                <p:nvPr/>
              </p:nvCxnSpPr>
              <p:spPr>
                <a:xfrm rot="5400000">
                  <a:off x="2985389" y="2671735"/>
                  <a:ext cx="1758101" cy="5551590"/>
                </a:xfrm>
                <a:prstGeom prst="bentConnector2">
                  <a:avLst/>
                </a:prstGeom>
                <a:solidFill>
                  <a:srgbClr val="7030A0"/>
                </a:solidFill>
                <a:ln w="76200">
                  <a:solidFill>
                    <a:srgbClr val="00B050"/>
                  </a:solidFill>
                  <a:headEnd type="none" w="med" len="med"/>
                  <a:tailEnd type="triangl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31" name="Elbow Connector 30"/>
                <p:cNvCxnSpPr/>
                <p:nvPr/>
              </p:nvCxnSpPr>
              <p:spPr>
                <a:xfrm rot="5400000" flipH="1" flipV="1">
                  <a:off x="534943" y="4251060"/>
                  <a:ext cx="2611848" cy="1504444"/>
                </a:xfrm>
                <a:prstGeom prst="bentConnector3">
                  <a:avLst>
                    <a:gd name="adj1" fmla="val 100014"/>
                  </a:avLst>
                </a:prstGeom>
                <a:solidFill>
                  <a:srgbClr val="7030A0"/>
                </a:solidFill>
                <a:ln w="76200">
                  <a:solidFill>
                    <a:srgbClr val="00B050"/>
                  </a:solidFill>
                  <a:headEnd type="none" w="med" len="med"/>
                  <a:tailEnd type="triangl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33" name="Elbow Connector 32"/>
                <p:cNvCxnSpPr>
                  <a:endCxn id="32" idx="1"/>
                </p:cNvCxnSpPr>
                <p:nvPr/>
              </p:nvCxnSpPr>
              <p:spPr>
                <a:xfrm flipV="1">
                  <a:off x="1088639" y="5492706"/>
                  <a:ext cx="963081" cy="833877"/>
                </a:xfrm>
                <a:prstGeom prst="bentConnector3">
                  <a:avLst>
                    <a:gd name="adj1" fmla="val -265"/>
                  </a:avLst>
                </a:prstGeom>
                <a:solidFill>
                  <a:srgbClr val="7030A0"/>
                </a:solidFill>
                <a:ln w="76200">
                  <a:solidFill>
                    <a:srgbClr val="00B050"/>
                  </a:solidFill>
                  <a:headEnd type="none" w="med" len="med"/>
                  <a:tailEnd type="triangl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sp>
              <p:nvSpPr>
                <p:cNvPr id="39" name="TextBox 38"/>
                <p:cNvSpPr txBox="1"/>
                <p:nvPr/>
              </p:nvSpPr>
              <p:spPr>
                <a:xfrm>
                  <a:off x="6550561" y="4891226"/>
                  <a:ext cx="547081" cy="369332"/>
                </a:xfrm>
                <a:prstGeom prst="rect">
                  <a:avLst/>
                </a:prstGeom>
                <a:noFill/>
              </p:spPr>
              <p:txBody>
                <a:bodyPr wrap="square" rtlCol="1">
                  <a:spAutoFit/>
                </a:bodyPr>
                <a:lstStyle/>
                <a:p>
                  <a:r>
                    <a:rPr lang="en-US" dirty="0">
                      <a:solidFill>
                        <a:schemeClr val="bg1"/>
                      </a:solidFill>
                    </a:rPr>
                    <a:t>XY</a:t>
                  </a:r>
                  <a:endParaRPr lang="he-IL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0" name="Rectangle 9"/>
                <p:cNvSpPr/>
                <p:nvPr/>
              </p:nvSpPr>
              <p:spPr>
                <a:xfrm>
                  <a:off x="6116180" y="3933056"/>
                  <a:ext cx="1048108" cy="635424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1" anchor="ctr"/>
                <a:lstStyle/>
                <a:p>
                  <a:pPr algn="ctr"/>
                  <a:r>
                    <a:rPr lang="en-US" sz="1200" dirty="0"/>
                    <a:t>VGA controller</a:t>
                  </a:r>
                  <a:endParaRPr lang="he-IL" sz="1400" dirty="0"/>
                </a:p>
              </p:txBody>
            </p:sp>
            <p:grpSp>
              <p:nvGrpSpPr>
                <p:cNvPr id="26" name="Group 25"/>
                <p:cNvGrpSpPr/>
                <p:nvPr/>
              </p:nvGrpSpPr>
              <p:grpSpPr>
                <a:xfrm>
                  <a:off x="4727410" y="5055567"/>
                  <a:ext cx="1768781" cy="937105"/>
                  <a:chOff x="4727410" y="5055567"/>
                  <a:chExt cx="1768781" cy="937105"/>
                </a:xfrm>
              </p:grpSpPr>
              <p:sp>
                <p:nvSpPr>
                  <p:cNvPr id="36" name="Down Arrow 35"/>
                  <p:cNvSpPr/>
                  <p:nvPr/>
                </p:nvSpPr>
                <p:spPr>
                  <a:xfrm rot="5400000" flipV="1">
                    <a:off x="5952423" y="5169463"/>
                    <a:ext cx="231934" cy="751636"/>
                  </a:xfrm>
                  <a:prstGeom prst="downArrow">
                    <a:avLst/>
                  </a:prstGeom>
                  <a:solidFill>
                    <a:schemeClr val="accent2">
                      <a:lumMod val="60000"/>
                      <a:lumOff val="40000"/>
                    </a:schemeClr>
                  </a:solidFill>
                  <a:ln>
                    <a:solidFill>
                      <a:srgbClr val="F4B183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1" anchor="ctr"/>
                  <a:lstStyle/>
                  <a:p>
                    <a:pPr algn="ctr"/>
                    <a:endParaRPr lang="he-IL" sz="1400" dirty="0"/>
                  </a:p>
                </p:txBody>
              </p:sp>
              <p:sp>
                <p:nvSpPr>
                  <p:cNvPr id="34" name="Rectangle 33"/>
                  <p:cNvSpPr/>
                  <p:nvPr/>
                </p:nvSpPr>
                <p:spPr>
                  <a:xfrm>
                    <a:off x="4727410" y="5095406"/>
                    <a:ext cx="981205" cy="897266"/>
                  </a:xfrm>
                  <a:prstGeom prst="rect">
                    <a:avLst/>
                  </a:prstGeom>
                  <a:ln>
                    <a:solidFill>
                      <a:srgbClr val="F4B183"/>
                    </a:solidFill>
                    <a:headEnd type="none" w="med" len="med"/>
                    <a:tailEnd type="triangle" w="med" len="med"/>
                  </a:ln>
                </p:spPr>
                <p:style>
                  <a:lnRef idx="3">
                    <a:schemeClr val="lt1"/>
                  </a:lnRef>
                  <a:fillRef idx="1">
                    <a:schemeClr val="accent2"/>
                  </a:fillRef>
                  <a:effectRef idx="1">
                    <a:schemeClr val="accent2"/>
                  </a:effectRef>
                  <a:fontRef idx="minor">
                    <a:schemeClr val="lt1"/>
                  </a:fontRef>
                </p:style>
                <p:txBody>
                  <a:bodyPr rtlCol="1" anchor="ctr"/>
                  <a:lstStyle/>
                  <a:p>
                    <a:pPr algn="ctr"/>
                    <a:r>
                      <a:rPr lang="en-US" sz="1400" dirty="0"/>
                      <a:t>Game controller</a:t>
                    </a:r>
                    <a:endParaRPr lang="he-IL" sz="1400" dirty="0"/>
                  </a:p>
                </p:txBody>
              </p:sp>
              <p:sp>
                <p:nvSpPr>
                  <p:cNvPr id="37" name="TextBox 36"/>
                  <p:cNvSpPr txBox="1"/>
                  <p:nvPr/>
                </p:nvSpPr>
                <p:spPr>
                  <a:xfrm>
                    <a:off x="5704103" y="5055567"/>
                    <a:ext cx="792088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l" rtl="0"/>
                    <a:r>
                      <a:rPr lang="en-GB" sz="1200" dirty="0">
                        <a:solidFill>
                          <a:schemeClr val="bg1"/>
                        </a:solidFill>
                      </a:rPr>
                      <a:t>Objects control</a:t>
                    </a:r>
                    <a:endParaRPr lang="en-US" dirty="0">
                      <a:solidFill>
                        <a:schemeClr val="bg1"/>
                      </a:solidFill>
                    </a:endParaRPr>
                  </a:p>
                </p:txBody>
              </p:sp>
            </p:grpSp>
            <p:grpSp>
              <p:nvGrpSpPr>
                <p:cNvPr id="60" name="Group 59"/>
                <p:cNvGrpSpPr/>
                <p:nvPr/>
              </p:nvGrpSpPr>
              <p:grpSpPr>
                <a:xfrm>
                  <a:off x="1844092" y="2910457"/>
                  <a:ext cx="792088" cy="590551"/>
                  <a:chOff x="1844092" y="2838448"/>
                  <a:chExt cx="792088" cy="590551"/>
                </a:xfrm>
              </p:grpSpPr>
              <p:sp>
                <p:nvSpPr>
                  <p:cNvPr id="3" name="TextBox 2"/>
                  <p:cNvSpPr txBox="1"/>
                  <p:nvPr/>
                </p:nvSpPr>
                <p:spPr>
                  <a:xfrm>
                    <a:off x="1844092" y="2838448"/>
                    <a:ext cx="792088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l" rtl="0"/>
                    <a:r>
                      <a:rPr lang="en-GB" sz="1200" dirty="0">
                        <a:solidFill>
                          <a:schemeClr val="bg1"/>
                        </a:solidFill>
                      </a:rPr>
                      <a:t>Smiley control</a:t>
                    </a:r>
                    <a:endParaRPr lang="en-US" dirty="0">
                      <a:solidFill>
                        <a:schemeClr val="bg1"/>
                      </a:solidFill>
                    </a:endParaRPr>
                  </a:p>
                </p:txBody>
              </p:sp>
              <p:sp>
                <p:nvSpPr>
                  <p:cNvPr id="40" name="Down Arrow 39"/>
                  <p:cNvSpPr/>
                  <p:nvPr/>
                </p:nvSpPr>
                <p:spPr>
                  <a:xfrm rot="5400000" flipV="1">
                    <a:off x="2120776" y="2954047"/>
                    <a:ext cx="198269" cy="751636"/>
                  </a:xfrm>
                  <a:prstGeom prst="downArrow">
                    <a:avLst/>
                  </a:prstGeom>
                  <a:solidFill>
                    <a:schemeClr val="accent2">
                      <a:lumMod val="60000"/>
                      <a:lumOff val="40000"/>
                    </a:schemeClr>
                  </a:solidFill>
                  <a:ln>
                    <a:solidFill>
                      <a:srgbClr val="F4B183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1" anchor="ctr"/>
                  <a:lstStyle/>
                  <a:p>
                    <a:pPr algn="ctr"/>
                    <a:endParaRPr lang="he-IL" sz="1400" dirty="0"/>
                  </a:p>
                </p:txBody>
              </p:sp>
            </p:grpSp>
            <p:cxnSp>
              <p:nvCxnSpPr>
                <p:cNvPr id="42" name="Elbow Connector 41"/>
                <p:cNvCxnSpPr/>
                <p:nvPr/>
              </p:nvCxnSpPr>
              <p:spPr>
                <a:xfrm>
                  <a:off x="3464903" y="4459696"/>
                  <a:ext cx="1240044" cy="1128217"/>
                </a:xfrm>
                <a:prstGeom prst="bentConnector3">
                  <a:avLst>
                    <a:gd name="adj1" fmla="val 50000"/>
                  </a:avLst>
                </a:prstGeom>
                <a:ln w="28575">
                  <a:solidFill>
                    <a:srgbClr val="0066FF">
                      <a:alpha val="60000"/>
                    </a:srgbClr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64" name="Group 63"/>
              <p:cNvGrpSpPr/>
              <p:nvPr/>
            </p:nvGrpSpPr>
            <p:grpSpPr>
              <a:xfrm>
                <a:off x="7011414" y="5589240"/>
                <a:ext cx="1638065" cy="635424"/>
                <a:chOff x="7011414" y="5589240"/>
                <a:chExt cx="1638065" cy="635424"/>
              </a:xfrm>
            </p:grpSpPr>
            <p:sp>
              <p:nvSpPr>
                <p:cNvPr id="62" name="Rectangle 61"/>
                <p:cNvSpPr/>
                <p:nvPr/>
              </p:nvSpPr>
              <p:spPr>
                <a:xfrm>
                  <a:off x="7601371" y="5589240"/>
                  <a:ext cx="1048108" cy="635424"/>
                </a:xfrm>
                <a:prstGeom prst="rect">
                  <a:avLst/>
                </a:prstGeom>
              </p:spPr>
              <p:style>
                <a:lnRef idx="1">
                  <a:schemeClr val="accent6"/>
                </a:lnRef>
                <a:fillRef idx="2">
                  <a:schemeClr val="accent6"/>
                </a:fillRef>
                <a:effectRef idx="1">
                  <a:schemeClr val="accent6"/>
                </a:effectRef>
                <a:fontRef idx="minor">
                  <a:schemeClr val="dk1"/>
                </a:fontRef>
              </p:style>
              <p:txBody>
                <a:bodyPr rtlCol="1" anchor="ctr"/>
                <a:lstStyle/>
                <a:p>
                  <a:pPr algn="ctr"/>
                  <a:r>
                    <a:rPr lang="en-US" sz="1200" dirty="0"/>
                    <a:t>Sound unit</a:t>
                  </a:r>
                  <a:endParaRPr lang="he-IL" sz="1400" dirty="0"/>
                </a:p>
              </p:txBody>
            </p:sp>
            <p:sp>
              <p:nvSpPr>
                <p:cNvPr id="63" name="Down Arrow 62"/>
                <p:cNvSpPr/>
                <p:nvPr/>
              </p:nvSpPr>
              <p:spPr>
                <a:xfrm rot="5400000" flipV="1">
                  <a:off x="7184040" y="5596126"/>
                  <a:ext cx="234349" cy="579602"/>
                </a:xfrm>
                <a:prstGeom prst="downArrow">
                  <a:avLst/>
                </a:prstGeom>
                <a:solidFill>
                  <a:schemeClr val="accent2">
                    <a:lumMod val="60000"/>
                    <a:lumOff val="40000"/>
                  </a:schemeClr>
                </a:solidFill>
                <a:ln>
                  <a:solidFill>
                    <a:srgbClr val="F4B183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1" anchor="ctr"/>
                <a:lstStyle/>
                <a:p>
                  <a:pPr algn="ctr"/>
                  <a:endParaRPr lang="he-IL" sz="1400" dirty="0"/>
                </a:p>
              </p:txBody>
            </p:sp>
          </p:grpSp>
        </p:grpSp>
        <p:sp>
          <p:nvSpPr>
            <p:cNvPr id="66" name="Rectangle 65"/>
            <p:cNvSpPr/>
            <p:nvPr/>
          </p:nvSpPr>
          <p:spPr>
            <a:xfrm>
              <a:off x="7672047" y="3543012"/>
              <a:ext cx="685361" cy="1532879"/>
            </a:xfrm>
            <a:prstGeom prst="rect">
              <a:avLst/>
            </a:prstGeom>
            <a:solidFill>
              <a:srgbClr val="7030A0"/>
            </a:solidFill>
          </p:spPr>
          <p:style>
            <a:lnRef idx="1">
              <a:schemeClr val="accent5"/>
            </a:lnRef>
            <a:fillRef idx="3">
              <a:schemeClr val="accent5"/>
            </a:fillRef>
            <a:effectRef idx="2">
              <a:schemeClr val="accent5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r>
                <a:rPr lang="en-US" sz="1400" dirty="0"/>
                <a:t>Screen</a:t>
              </a:r>
              <a:endParaRPr lang="he-IL" sz="1400" dirty="0"/>
            </a:p>
          </p:txBody>
        </p:sp>
      </p:grp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>
          <a:xfrm>
            <a:off x="6722336" y="6460830"/>
            <a:ext cx="3086100" cy="365125"/>
          </a:xfrm>
        </p:spPr>
        <p:txBody>
          <a:bodyPr/>
          <a:lstStyle/>
          <a:p>
            <a:fld id="{779B5390-F4A5-4279-AD3D-A28C30176B9C}" type="slidenum">
              <a:rPr lang="he-IL" smtClean="0">
                <a:solidFill>
                  <a:schemeClr val="bg1"/>
                </a:solidFill>
              </a:rPr>
              <a:t>5</a:t>
            </a:fld>
            <a:endParaRPr lang="he-IL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7346973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8000">
              <a:schemeClr val="accent1">
                <a:lumMod val="60000"/>
                <a:lumOff val="40000"/>
              </a:schemeClr>
            </a:gs>
            <a:gs pos="20000">
              <a:schemeClr val="tx2">
                <a:lumMod val="40000"/>
                <a:lumOff val="60000"/>
              </a:schemeClr>
            </a:gs>
            <a:gs pos="100000">
              <a:schemeClr val="tx2">
                <a:lumMod val="40000"/>
                <a:lumOff val="60000"/>
              </a:schemeClr>
            </a:gs>
          </a:gsLst>
          <a:lin ang="135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97" name="Rectangle 6"/>
          <p:cNvSpPr txBox="1">
            <a:spLocks noGrp="1" noChangeArrowheads="1"/>
          </p:cNvSpPr>
          <p:nvPr/>
        </p:nvSpPr>
        <p:spPr bwMode="auto">
          <a:xfrm>
            <a:off x="6781800" y="6525344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rtl="0"/>
            <a:fld id="{262B4BEC-0E04-4388-885F-D7CFA1DEBE60}" type="slidenum">
              <a:rPr lang="he-IL" sz="1400">
                <a:solidFill>
                  <a:srgbClr val="000000"/>
                </a:solidFill>
              </a:rPr>
              <a:pPr rtl="0"/>
              <a:t>6</a:t>
            </a:fld>
            <a:endParaRPr lang="en-US" sz="1400">
              <a:solidFill>
                <a:srgbClr val="000000"/>
              </a:solidFill>
            </a:endParaRPr>
          </a:p>
        </p:txBody>
      </p:sp>
      <p:sp>
        <p:nvSpPr>
          <p:cNvPr id="18598" name="Rectangle 58"/>
          <p:cNvSpPr>
            <a:spLocks noChangeArrowheads="1"/>
          </p:cNvSpPr>
          <p:nvPr/>
        </p:nvSpPr>
        <p:spPr bwMode="auto">
          <a:xfrm>
            <a:off x="762000" y="228600"/>
            <a:ext cx="7772400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 eaLnBrk="0" hangingPunct="0"/>
            <a:r>
              <a:rPr lang="he-IL" sz="3600" b="1" u="sng" dirty="0">
                <a:solidFill>
                  <a:srgbClr val="000099"/>
                </a:solidFill>
                <a:cs typeface="David" pitchFamily="2" charset="-79"/>
              </a:rPr>
              <a:t>משימות במעבדה</a:t>
            </a:r>
            <a:endParaRPr lang="en-US" sz="3600" b="1" u="sng" dirty="0">
              <a:solidFill>
                <a:srgbClr val="000099"/>
              </a:solidFill>
              <a:cs typeface="David" pitchFamily="2" charset="-79"/>
            </a:endParaRPr>
          </a:p>
        </p:txBody>
      </p:sp>
      <p:sp>
        <p:nvSpPr>
          <p:cNvPr id="52" name="Rectangle 62"/>
          <p:cNvSpPr>
            <a:spLocks noChangeArrowheads="1"/>
          </p:cNvSpPr>
          <p:nvPr/>
        </p:nvSpPr>
        <p:spPr bwMode="auto">
          <a:xfrm>
            <a:off x="926699" y="1143001"/>
            <a:ext cx="7704634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lnSpc>
                <a:spcPct val="80000"/>
              </a:lnSpc>
              <a:spcBef>
                <a:spcPct val="20000"/>
              </a:spcBef>
              <a:buFontTx/>
              <a:buChar char="•"/>
            </a:pPr>
            <a:r>
              <a:rPr lang="he-IL" sz="2800" b="1" u="sng" dirty="0">
                <a:solidFill>
                  <a:srgbClr val="3333CC"/>
                </a:solidFill>
              </a:rPr>
              <a:t>הפיכת ביטמאפ</a:t>
            </a:r>
          </a:p>
          <a:p>
            <a:pPr marL="342900" indent="-342900">
              <a:lnSpc>
                <a:spcPct val="80000"/>
              </a:lnSpc>
              <a:spcBef>
                <a:spcPct val="20000"/>
              </a:spcBef>
              <a:buFontTx/>
              <a:buChar char="•"/>
            </a:pPr>
            <a:endParaRPr lang="he-IL" sz="2800" dirty="0">
              <a:solidFill>
                <a:srgbClr val="3333CC"/>
              </a:solidFill>
            </a:endParaRPr>
          </a:p>
          <a:p>
            <a:pPr marL="342900" indent="-342900">
              <a:lnSpc>
                <a:spcPct val="80000"/>
              </a:lnSpc>
              <a:spcBef>
                <a:spcPct val="20000"/>
              </a:spcBef>
              <a:buFontTx/>
              <a:buChar char="•"/>
            </a:pPr>
            <a:r>
              <a:rPr lang="he-IL" sz="2800" dirty="0">
                <a:solidFill>
                  <a:srgbClr val="3333CC"/>
                </a:solidFill>
              </a:rPr>
              <a:t>במודול של </a:t>
            </a:r>
            <a:r>
              <a:rPr lang="en-US" sz="2800" dirty="0" err="1">
                <a:solidFill>
                  <a:srgbClr val="3333CC"/>
                </a:solidFill>
              </a:rPr>
              <a:t>SmileyBlock</a:t>
            </a:r>
            <a:endParaRPr lang="he-IL" sz="2800" dirty="0">
              <a:solidFill>
                <a:srgbClr val="3333CC"/>
              </a:solidFill>
            </a:endParaRPr>
          </a:p>
          <a:p>
            <a:pPr marL="800100" lvl="1" indent="-342900">
              <a:lnSpc>
                <a:spcPct val="80000"/>
              </a:lnSpc>
              <a:spcBef>
                <a:spcPct val="20000"/>
              </a:spcBef>
              <a:buFontTx/>
              <a:buChar char="•"/>
            </a:pPr>
            <a:r>
              <a:rPr lang="he-IL" sz="2800" dirty="0">
                <a:solidFill>
                  <a:srgbClr val="3333CC"/>
                </a:solidFill>
              </a:rPr>
              <a:t>להתערב במודול ה- </a:t>
            </a:r>
            <a:r>
              <a:rPr lang="en-US" sz="2800" dirty="0" err="1">
                <a:solidFill>
                  <a:srgbClr val="3333CC"/>
                </a:solidFill>
              </a:rPr>
              <a:t>BitMap</a:t>
            </a:r>
            <a:endParaRPr lang="en-US" sz="2800" dirty="0">
              <a:solidFill>
                <a:srgbClr val="3333CC"/>
              </a:solidFill>
            </a:endParaRPr>
          </a:p>
          <a:p>
            <a:pPr marL="800100" lvl="1" indent="-342900">
              <a:lnSpc>
                <a:spcPct val="80000"/>
              </a:lnSpc>
              <a:spcBef>
                <a:spcPct val="20000"/>
              </a:spcBef>
              <a:buFontTx/>
              <a:buChar char="•"/>
            </a:pPr>
            <a:r>
              <a:rPr lang="he-IL" sz="2800" dirty="0">
                <a:solidFill>
                  <a:srgbClr val="3333CC"/>
                </a:solidFill>
              </a:rPr>
              <a:t>לעשות שינוי רק בציר הרלוונטי כנדרש</a:t>
            </a:r>
            <a:endParaRPr lang="en-US" sz="2800" dirty="0">
              <a:solidFill>
                <a:srgbClr val="3333CC"/>
              </a:solidFill>
            </a:endParaRPr>
          </a:p>
          <a:p>
            <a:pPr marL="800100" lvl="1" indent="-342900">
              <a:lnSpc>
                <a:spcPct val="80000"/>
              </a:lnSpc>
              <a:spcBef>
                <a:spcPct val="20000"/>
              </a:spcBef>
              <a:buFontTx/>
              <a:buChar char="•"/>
            </a:pPr>
            <a:endParaRPr lang="en-US" sz="2800" dirty="0">
              <a:solidFill>
                <a:srgbClr val="3333CC"/>
              </a:solidFill>
            </a:endParaRPr>
          </a:p>
          <a:p>
            <a:pPr marL="800100" lvl="1" indent="-342900">
              <a:lnSpc>
                <a:spcPct val="80000"/>
              </a:lnSpc>
              <a:spcBef>
                <a:spcPct val="20000"/>
              </a:spcBef>
              <a:buFontTx/>
              <a:buChar char="•"/>
            </a:pPr>
            <a:endParaRPr lang="he-IL" sz="2800" dirty="0">
              <a:solidFill>
                <a:srgbClr val="3333CC"/>
              </a:solidFill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ED059B01-86FF-417C-BFA3-2FB4DC24ABAE}"/>
              </a:ext>
            </a:extLst>
          </p:cNvPr>
          <p:cNvGrpSpPr/>
          <p:nvPr/>
        </p:nvGrpSpPr>
        <p:grpSpPr>
          <a:xfrm>
            <a:off x="2627784" y="1037274"/>
            <a:ext cx="2786236" cy="842487"/>
            <a:chOff x="3549015" y="3056573"/>
            <a:chExt cx="2045970" cy="744855"/>
          </a:xfrm>
        </p:grpSpPr>
        <p:pic>
          <p:nvPicPr>
            <p:cNvPr id="12" name="Picture 11" descr="תוצאת תמונה עבור סמיילי">
              <a:extLst>
                <a:ext uri="{FF2B5EF4-FFF2-40B4-BE49-F238E27FC236}">
                  <a16:creationId xmlns:a16="http://schemas.microsoft.com/office/drawing/2014/main" id="{A2C5659B-E606-4CE7-BDF2-5EA0BB7A678C}"/>
                </a:ext>
              </a:extLst>
            </p:cNvPr>
            <p:cNvPicPr/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 flipH="1">
              <a:off x="3549015" y="3056573"/>
              <a:ext cx="762000" cy="74485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" name="Picture 12" descr="תוצאת תמונה עבור סמיילי">
              <a:extLst>
                <a:ext uri="{FF2B5EF4-FFF2-40B4-BE49-F238E27FC236}">
                  <a16:creationId xmlns:a16="http://schemas.microsoft.com/office/drawing/2014/main" id="{3EE51EBE-C4F7-4087-ADDD-EFF96045B8DD}"/>
                </a:ext>
              </a:extLst>
            </p:cNvPr>
            <p:cNvPicPr/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34255" y="3056573"/>
              <a:ext cx="760730" cy="743585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70347ABC-3095-48CF-96D0-1A25F6ED6A33}"/>
                </a:ext>
              </a:extLst>
            </p:cNvPr>
            <p:cNvCxnSpPr/>
            <p:nvPr/>
          </p:nvCxnSpPr>
          <p:spPr>
            <a:xfrm flipH="1" flipV="1">
              <a:off x="4354830" y="3580448"/>
              <a:ext cx="419100" cy="952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Group 16"/>
          <p:cNvGrpSpPr/>
          <p:nvPr/>
        </p:nvGrpSpPr>
        <p:grpSpPr>
          <a:xfrm>
            <a:off x="31348" y="3363888"/>
            <a:ext cx="9144000" cy="2808312"/>
            <a:chOff x="31348" y="3363888"/>
            <a:chExt cx="9144000" cy="2808312"/>
          </a:xfrm>
        </p:grpSpPr>
        <p:pic>
          <p:nvPicPr>
            <p:cNvPr id="18" name="Picture 17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1348" y="3363888"/>
              <a:ext cx="9144000" cy="2808312"/>
            </a:xfrm>
            <a:prstGeom prst="rect">
              <a:avLst/>
            </a:prstGeom>
          </p:spPr>
        </p:pic>
        <p:sp>
          <p:nvSpPr>
            <p:cNvPr id="19" name="Oval 18"/>
            <p:cNvSpPr/>
            <p:nvPr/>
          </p:nvSpPr>
          <p:spPr>
            <a:xfrm>
              <a:off x="5883909" y="3645024"/>
              <a:ext cx="2016224" cy="1512168"/>
            </a:xfrm>
            <a:prstGeom prst="ellipse">
              <a:avLst/>
            </a:prstGeom>
            <a:noFill/>
            <a:ln w="28575"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/>
              <a:t>6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6C495-32CF-42B2-8214-D2B005CF76CE}" type="slidenum">
              <a:rPr lang="he-IL" smtClean="0"/>
              <a:t>6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54233036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8000">
              <a:schemeClr val="accent1">
                <a:lumMod val="60000"/>
                <a:lumOff val="40000"/>
              </a:schemeClr>
            </a:gs>
            <a:gs pos="20000">
              <a:schemeClr val="tx2">
                <a:lumMod val="40000"/>
                <a:lumOff val="60000"/>
              </a:schemeClr>
            </a:gs>
            <a:gs pos="100000">
              <a:schemeClr val="tx2">
                <a:lumMod val="40000"/>
                <a:lumOff val="60000"/>
              </a:schemeClr>
            </a:gs>
          </a:gsLst>
          <a:lin ang="135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D8B9BD2F-810C-F08C-ED64-12E751A92E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04" y="3933056"/>
            <a:ext cx="8987932" cy="2869812"/>
          </a:xfrm>
          <a:prstGeom prst="rect">
            <a:avLst/>
          </a:prstGeom>
        </p:spPr>
      </p:pic>
      <p:sp>
        <p:nvSpPr>
          <p:cNvPr id="18597" name="Rectangle 6"/>
          <p:cNvSpPr txBox="1">
            <a:spLocks noGrp="1" noChangeArrowheads="1"/>
          </p:cNvSpPr>
          <p:nvPr/>
        </p:nvSpPr>
        <p:spPr bwMode="auto">
          <a:xfrm>
            <a:off x="6781800" y="6534150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rtl="0"/>
            <a:fld id="{262B4BEC-0E04-4388-885F-D7CFA1DEBE60}" type="slidenum">
              <a:rPr lang="he-IL" sz="1400">
                <a:solidFill>
                  <a:srgbClr val="000000"/>
                </a:solidFill>
              </a:rPr>
              <a:pPr rtl="0"/>
              <a:t>7</a:t>
            </a:fld>
            <a:endParaRPr lang="en-US" sz="1400">
              <a:solidFill>
                <a:srgbClr val="000000"/>
              </a:solidFill>
            </a:endParaRPr>
          </a:p>
        </p:txBody>
      </p:sp>
      <p:sp>
        <p:nvSpPr>
          <p:cNvPr id="18598" name="Rectangle 58"/>
          <p:cNvSpPr>
            <a:spLocks noChangeArrowheads="1"/>
          </p:cNvSpPr>
          <p:nvPr/>
        </p:nvSpPr>
        <p:spPr bwMode="auto">
          <a:xfrm>
            <a:off x="762000" y="228600"/>
            <a:ext cx="7772400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 eaLnBrk="0" hangingPunct="0"/>
            <a:r>
              <a:rPr lang="he-IL" sz="3600" b="1" u="sng" dirty="0">
                <a:solidFill>
                  <a:srgbClr val="000099"/>
                </a:solidFill>
                <a:cs typeface="David" pitchFamily="2" charset="-79"/>
              </a:rPr>
              <a:t>משימות במעבדה (המשך 1)</a:t>
            </a:r>
            <a:endParaRPr lang="en-US" sz="3600" b="1" u="sng" dirty="0">
              <a:solidFill>
                <a:srgbClr val="000099"/>
              </a:solidFill>
              <a:cs typeface="David" pitchFamily="2" charset="-79"/>
            </a:endParaRPr>
          </a:p>
        </p:txBody>
      </p:sp>
      <p:sp>
        <p:nvSpPr>
          <p:cNvPr id="52" name="Rectangle 62"/>
          <p:cNvSpPr>
            <a:spLocks noChangeArrowheads="1"/>
          </p:cNvSpPr>
          <p:nvPr/>
        </p:nvSpPr>
        <p:spPr bwMode="auto">
          <a:xfrm>
            <a:off x="683568" y="836712"/>
            <a:ext cx="7947765" cy="10724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lnSpc>
                <a:spcPct val="80000"/>
              </a:lnSpc>
              <a:spcBef>
                <a:spcPct val="20000"/>
              </a:spcBef>
              <a:buFontTx/>
              <a:buChar char="•"/>
            </a:pPr>
            <a:r>
              <a:rPr lang="he-IL" sz="2400" b="1" u="sng" dirty="0">
                <a:solidFill>
                  <a:srgbClr val="3333CC"/>
                </a:solidFill>
              </a:rPr>
              <a:t>הוספת מלבן כאובייקט מעל הרקע</a:t>
            </a:r>
            <a:r>
              <a:rPr lang="he-IL" sz="2400" dirty="0">
                <a:solidFill>
                  <a:srgbClr val="3333CC"/>
                </a:solidFill>
              </a:rPr>
              <a:t> – בשני שלבים עיקריים:</a:t>
            </a:r>
          </a:p>
          <a:p>
            <a:pPr marL="342900" indent="-342900">
              <a:lnSpc>
                <a:spcPct val="80000"/>
              </a:lnSpc>
              <a:spcBef>
                <a:spcPct val="20000"/>
              </a:spcBef>
              <a:buFontTx/>
              <a:buChar char="•"/>
            </a:pPr>
            <a:endParaRPr lang="he-IL" sz="900" dirty="0">
              <a:solidFill>
                <a:srgbClr val="3333CC"/>
              </a:solidFill>
            </a:endParaRPr>
          </a:p>
          <a:p>
            <a:pPr marL="514350" indent="-514350">
              <a:lnSpc>
                <a:spcPct val="80000"/>
              </a:lnSpc>
              <a:spcBef>
                <a:spcPct val="20000"/>
              </a:spcBef>
              <a:buFont typeface="+mj-lt"/>
              <a:buAutoNum type="arabicPeriod"/>
            </a:pPr>
            <a:r>
              <a:rPr lang="he-IL" sz="2400" dirty="0">
                <a:solidFill>
                  <a:srgbClr val="3333CC"/>
                </a:solidFill>
              </a:rPr>
              <a:t>הוספת מלבן להירארכיה העליונה </a:t>
            </a:r>
          </a:p>
          <a:p>
            <a:pPr marL="971550" lvl="1" indent="-514350">
              <a:lnSpc>
                <a:spcPct val="8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he-IL" sz="2400" dirty="0">
                <a:solidFill>
                  <a:srgbClr val="3333CC"/>
                </a:solidFill>
              </a:rPr>
              <a:t>קביעת הקואורדינטות של מיקומו על ידי</a:t>
            </a:r>
          </a:p>
          <a:p>
            <a:pPr marL="1257300" lvl="2" indent="-342900">
              <a:lnSpc>
                <a:spcPct val="80000"/>
              </a:lnSpc>
              <a:spcBef>
                <a:spcPct val="20000"/>
              </a:spcBef>
              <a:buFontTx/>
              <a:buChar char="•"/>
            </a:pPr>
            <a:r>
              <a:rPr lang="he-IL" sz="2000" dirty="0">
                <a:solidFill>
                  <a:srgbClr val="3333CC"/>
                </a:solidFill>
              </a:rPr>
              <a:t>מספר קבוע – בציר </a:t>
            </a:r>
            <a:r>
              <a:rPr lang="en-US" sz="2000" dirty="0">
                <a:solidFill>
                  <a:srgbClr val="3333CC"/>
                </a:solidFill>
              </a:rPr>
              <a:t>X</a:t>
            </a:r>
            <a:r>
              <a:rPr lang="he-IL" sz="2000" dirty="0">
                <a:solidFill>
                  <a:srgbClr val="3333CC"/>
                </a:solidFill>
              </a:rPr>
              <a:t> - </a:t>
            </a:r>
            <a:r>
              <a:rPr lang="en-US" sz="2000" dirty="0" err="1">
                <a:solidFill>
                  <a:srgbClr val="3333CC"/>
                </a:solidFill>
              </a:rPr>
              <a:t>MyConstant</a:t>
            </a:r>
            <a:r>
              <a:rPr lang="he-IL" sz="2000" dirty="0">
                <a:solidFill>
                  <a:srgbClr val="3333CC"/>
                </a:solidFill>
              </a:rPr>
              <a:t> -</a:t>
            </a:r>
            <a:r>
              <a:rPr lang="en-US" sz="2000" dirty="0" err="1">
                <a:solidFill>
                  <a:srgbClr val="3333CC"/>
                </a:solidFill>
              </a:rPr>
              <a:t>topLeftX</a:t>
            </a:r>
            <a:r>
              <a:rPr lang="en-US" sz="2000" dirty="0">
                <a:solidFill>
                  <a:srgbClr val="3333CC"/>
                </a:solidFill>
              </a:rPr>
              <a:t> </a:t>
            </a:r>
            <a:endParaRPr lang="he-IL" sz="2000" dirty="0">
              <a:solidFill>
                <a:srgbClr val="3333CC"/>
              </a:solidFill>
            </a:endParaRPr>
          </a:p>
          <a:p>
            <a:pPr marL="1257300" lvl="2" indent="-342900">
              <a:lnSpc>
                <a:spcPct val="80000"/>
              </a:lnSpc>
              <a:spcBef>
                <a:spcPct val="20000"/>
              </a:spcBef>
              <a:buFontTx/>
              <a:buChar char="•"/>
            </a:pPr>
            <a:r>
              <a:rPr lang="he-IL" sz="2000" dirty="0">
                <a:solidFill>
                  <a:srgbClr val="3333CC"/>
                </a:solidFill>
              </a:rPr>
              <a:t>מספר אקראי – בציר </a:t>
            </a:r>
            <a:r>
              <a:rPr lang="en-US" sz="2000" dirty="0">
                <a:solidFill>
                  <a:srgbClr val="3333CC"/>
                </a:solidFill>
              </a:rPr>
              <a:t>Y</a:t>
            </a:r>
            <a:r>
              <a:rPr lang="he-IL" sz="2000" dirty="0">
                <a:solidFill>
                  <a:srgbClr val="3333CC"/>
                </a:solidFill>
              </a:rPr>
              <a:t> - ממכונת </a:t>
            </a:r>
            <a:r>
              <a:rPr lang="en-US" sz="2000" dirty="0">
                <a:solidFill>
                  <a:srgbClr val="3333CC"/>
                </a:solidFill>
              </a:rPr>
              <a:t>RANDOM</a:t>
            </a:r>
            <a:r>
              <a:rPr lang="he-IL" sz="2000" dirty="0">
                <a:solidFill>
                  <a:srgbClr val="3333CC"/>
                </a:solidFill>
              </a:rPr>
              <a:t> -</a:t>
            </a:r>
            <a:r>
              <a:rPr lang="en-US" sz="2000" dirty="0" err="1">
                <a:solidFill>
                  <a:srgbClr val="3333CC"/>
                </a:solidFill>
              </a:rPr>
              <a:t>topLeftY</a:t>
            </a:r>
            <a:r>
              <a:rPr lang="en-US" sz="2000" dirty="0">
                <a:solidFill>
                  <a:srgbClr val="3333CC"/>
                </a:solidFill>
              </a:rPr>
              <a:t> </a:t>
            </a:r>
            <a:endParaRPr lang="he-IL" sz="2000" dirty="0">
              <a:solidFill>
                <a:srgbClr val="3333CC"/>
              </a:solidFill>
            </a:endParaRPr>
          </a:p>
          <a:p>
            <a:pPr marL="1257300" lvl="2" indent="-342900">
              <a:lnSpc>
                <a:spcPct val="80000"/>
              </a:lnSpc>
              <a:spcBef>
                <a:spcPct val="20000"/>
              </a:spcBef>
              <a:buFontTx/>
              <a:buChar char="•"/>
            </a:pPr>
            <a:endParaRPr lang="he-IL" sz="900" dirty="0">
              <a:solidFill>
                <a:srgbClr val="3333CC"/>
              </a:solidFill>
            </a:endParaRPr>
          </a:p>
          <a:p>
            <a:pPr marL="514350" indent="-514350">
              <a:lnSpc>
                <a:spcPct val="80000"/>
              </a:lnSpc>
              <a:spcBef>
                <a:spcPct val="20000"/>
              </a:spcBef>
              <a:buFont typeface="+mj-lt"/>
              <a:buAutoNum type="arabicPeriod"/>
            </a:pPr>
            <a:r>
              <a:rPr lang="he-IL" sz="2400" dirty="0">
                <a:solidFill>
                  <a:srgbClr val="3333CC"/>
                </a:solidFill>
              </a:rPr>
              <a:t>התאמת ה- </a:t>
            </a:r>
            <a:r>
              <a:rPr lang="en-US" sz="2400" dirty="0">
                <a:solidFill>
                  <a:srgbClr val="3333CC"/>
                </a:solidFill>
              </a:rPr>
              <a:t>MUX</a:t>
            </a:r>
            <a:r>
              <a:rPr lang="he-IL" sz="2400" dirty="0">
                <a:solidFill>
                  <a:srgbClr val="3333CC"/>
                </a:solidFill>
              </a:rPr>
              <a:t> – כך שיכיל: </a:t>
            </a:r>
          </a:p>
          <a:p>
            <a:pPr marL="971550" lvl="1" indent="-514350">
              <a:lnSpc>
                <a:spcPct val="8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he-IL" sz="2400" dirty="0">
                <a:solidFill>
                  <a:srgbClr val="3333CC"/>
                </a:solidFill>
              </a:rPr>
              <a:t>כניסות מהמלבן</a:t>
            </a:r>
          </a:p>
          <a:p>
            <a:pPr marL="971550" lvl="1" indent="-514350">
              <a:lnSpc>
                <a:spcPct val="8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he-IL" sz="2400" dirty="0">
                <a:solidFill>
                  <a:srgbClr val="3333CC"/>
                </a:solidFill>
              </a:rPr>
              <a:t>לוגיקה מתאימה בקוד להצגת המלבן</a:t>
            </a:r>
            <a:endParaRPr lang="en-US" sz="2400" dirty="0">
              <a:solidFill>
                <a:srgbClr val="3333CC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/>
              <a:t>6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6C495-32CF-42B2-8214-D2B005CF76CE}" type="slidenum">
              <a:rPr lang="he-IL" smtClean="0"/>
              <a:t>7</a:t>
            </a:fld>
            <a:endParaRPr lang="he-IL"/>
          </a:p>
        </p:txBody>
      </p:sp>
      <p:sp>
        <p:nvSpPr>
          <p:cNvPr id="2" name="AutoShape 2" descr="https://moodle2223.technion.ac.il/draftfile.php/23205/user/draft/55411138/image%20%282%29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cxnSp>
        <p:nvCxnSpPr>
          <p:cNvPr id="22" name="Curved Connector 21"/>
          <p:cNvCxnSpPr/>
          <p:nvPr/>
        </p:nvCxnSpPr>
        <p:spPr>
          <a:xfrm rot="5400000">
            <a:off x="7976188" y="3599249"/>
            <a:ext cx="674035" cy="137594"/>
          </a:xfrm>
          <a:prstGeom prst="curvedConnector3">
            <a:avLst>
              <a:gd name="adj1" fmla="val 50000"/>
            </a:avLst>
          </a:prstGeom>
          <a:ln w="38100">
            <a:solidFill>
              <a:srgbClr val="990033"/>
            </a:solidFill>
            <a:tailEnd type="stealth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8" name="Curved Connector 7"/>
          <p:cNvCxnSpPr>
            <a:cxnSpLocks/>
          </p:cNvCxnSpPr>
          <p:nvPr/>
        </p:nvCxnSpPr>
        <p:spPr>
          <a:xfrm rot="5400000">
            <a:off x="1056233" y="2336255"/>
            <a:ext cx="1918966" cy="1080120"/>
          </a:xfrm>
          <a:prstGeom prst="curvedConnector3">
            <a:avLst>
              <a:gd name="adj1" fmla="val -5077"/>
            </a:avLst>
          </a:prstGeom>
          <a:ln w="38100">
            <a:solidFill>
              <a:srgbClr val="990033"/>
            </a:solidFill>
            <a:tailEnd type="stealth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2012281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8000">
              <a:schemeClr val="accent1">
                <a:lumMod val="60000"/>
                <a:lumOff val="40000"/>
              </a:schemeClr>
            </a:gs>
            <a:gs pos="20000">
              <a:schemeClr val="tx2">
                <a:lumMod val="40000"/>
                <a:lumOff val="60000"/>
              </a:schemeClr>
            </a:gs>
            <a:gs pos="100000">
              <a:schemeClr val="tx2">
                <a:lumMod val="40000"/>
                <a:lumOff val="60000"/>
              </a:schemeClr>
            </a:gs>
          </a:gsLst>
          <a:lin ang="135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97" name="Rectangle 6"/>
          <p:cNvSpPr txBox="1">
            <a:spLocks noGrp="1" noChangeArrowheads="1"/>
          </p:cNvSpPr>
          <p:nvPr/>
        </p:nvSpPr>
        <p:spPr bwMode="auto">
          <a:xfrm>
            <a:off x="6781800" y="6534150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rtl="0"/>
            <a:fld id="{262B4BEC-0E04-4388-885F-D7CFA1DEBE60}" type="slidenum">
              <a:rPr lang="he-IL" sz="1400">
                <a:solidFill>
                  <a:srgbClr val="000000"/>
                </a:solidFill>
              </a:rPr>
              <a:pPr rtl="0"/>
              <a:t>8</a:t>
            </a:fld>
            <a:endParaRPr lang="en-US" sz="1400">
              <a:solidFill>
                <a:srgbClr val="000000"/>
              </a:solidFill>
            </a:endParaRPr>
          </a:p>
        </p:txBody>
      </p:sp>
      <p:sp>
        <p:nvSpPr>
          <p:cNvPr id="18598" name="Rectangle 58"/>
          <p:cNvSpPr>
            <a:spLocks noChangeArrowheads="1"/>
          </p:cNvSpPr>
          <p:nvPr/>
        </p:nvSpPr>
        <p:spPr bwMode="auto">
          <a:xfrm>
            <a:off x="762000" y="228600"/>
            <a:ext cx="7772400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 eaLnBrk="0" hangingPunct="0"/>
            <a:r>
              <a:rPr lang="he-IL" sz="3600" b="1" u="sng" dirty="0">
                <a:solidFill>
                  <a:srgbClr val="000099"/>
                </a:solidFill>
                <a:cs typeface="David" pitchFamily="2" charset="-79"/>
              </a:rPr>
              <a:t>משימות במעבדה (המשך 2)</a:t>
            </a:r>
            <a:endParaRPr lang="en-US" sz="3600" b="1" u="sng" dirty="0">
              <a:solidFill>
                <a:srgbClr val="000099"/>
              </a:solidFill>
              <a:cs typeface="David" pitchFamily="2" charset="-79"/>
            </a:endParaRPr>
          </a:p>
        </p:txBody>
      </p:sp>
      <p:sp>
        <p:nvSpPr>
          <p:cNvPr id="52" name="Rectangle 62"/>
          <p:cNvSpPr>
            <a:spLocks noChangeArrowheads="1"/>
          </p:cNvSpPr>
          <p:nvPr/>
        </p:nvSpPr>
        <p:spPr bwMode="auto">
          <a:xfrm>
            <a:off x="971600" y="977281"/>
            <a:ext cx="7704634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lnSpc>
                <a:spcPct val="80000"/>
              </a:lnSpc>
              <a:spcBef>
                <a:spcPct val="20000"/>
              </a:spcBef>
              <a:buFontTx/>
              <a:buChar char="•"/>
            </a:pPr>
            <a:r>
              <a:rPr lang="he-IL" sz="2800" dirty="0">
                <a:solidFill>
                  <a:srgbClr val="3333CC"/>
                </a:solidFill>
              </a:rPr>
              <a:t>תרגיל של הפעלת </a:t>
            </a:r>
            <a:r>
              <a:rPr lang="he-IL" sz="2800" b="1" u="sng" dirty="0">
                <a:solidFill>
                  <a:srgbClr val="3333CC"/>
                </a:solidFill>
              </a:rPr>
              <a:t>הנתח הלוגי </a:t>
            </a:r>
            <a:r>
              <a:rPr lang="en-US" sz="2800" b="1" u="sng" dirty="0">
                <a:solidFill>
                  <a:srgbClr val="3333CC"/>
                </a:solidFill>
              </a:rPr>
              <a:t>SIGNAL TAP</a:t>
            </a:r>
            <a:endParaRPr lang="he-IL" sz="2800" b="1" u="sng" dirty="0">
              <a:solidFill>
                <a:srgbClr val="3333CC"/>
              </a:solidFill>
            </a:endParaRPr>
          </a:p>
          <a:p>
            <a:pPr marL="800100" lvl="1" indent="-342900">
              <a:lnSpc>
                <a:spcPct val="80000"/>
              </a:lnSpc>
              <a:spcBef>
                <a:spcPct val="20000"/>
              </a:spcBef>
              <a:buFontTx/>
              <a:buChar char="•"/>
            </a:pPr>
            <a:r>
              <a:rPr lang="he-IL" sz="2800" dirty="0">
                <a:solidFill>
                  <a:srgbClr val="3333CC"/>
                </a:solidFill>
              </a:rPr>
              <a:t>קביעת הפרמטרים לפי הצורך</a:t>
            </a:r>
          </a:p>
          <a:p>
            <a:pPr marL="800100" lvl="1" indent="-342900">
              <a:lnSpc>
                <a:spcPct val="80000"/>
              </a:lnSpc>
              <a:spcBef>
                <a:spcPct val="20000"/>
              </a:spcBef>
              <a:buFontTx/>
              <a:buChar char="•"/>
            </a:pPr>
            <a:r>
              <a:rPr lang="he-IL" sz="2800" dirty="0">
                <a:solidFill>
                  <a:srgbClr val="3333CC"/>
                </a:solidFill>
              </a:rPr>
              <a:t>הרצה והבנת התוצאות</a:t>
            </a:r>
            <a:endParaRPr lang="en-US" sz="2800" dirty="0">
              <a:solidFill>
                <a:srgbClr val="3333CC"/>
              </a:solidFill>
            </a:endParaRPr>
          </a:p>
          <a:p>
            <a:pPr marL="800100" lvl="1" indent="-342900">
              <a:lnSpc>
                <a:spcPct val="80000"/>
              </a:lnSpc>
              <a:spcBef>
                <a:spcPct val="20000"/>
              </a:spcBef>
              <a:buFontTx/>
              <a:buChar char="•"/>
            </a:pPr>
            <a:endParaRPr lang="he-IL" sz="1200" dirty="0">
              <a:solidFill>
                <a:srgbClr val="3333CC"/>
              </a:solidFill>
            </a:endParaRPr>
          </a:p>
          <a:p>
            <a:pPr marL="342900" indent="-342900">
              <a:lnSpc>
                <a:spcPct val="80000"/>
              </a:lnSpc>
              <a:spcBef>
                <a:spcPct val="20000"/>
              </a:spcBef>
              <a:buFontTx/>
              <a:buChar char="•"/>
            </a:pPr>
            <a:r>
              <a:rPr lang="he-IL" sz="2800" b="1" u="sng" dirty="0">
                <a:solidFill>
                  <a:srgbClr val="3333CC"/>
                </a:solidFill>
              </a:rPr>
              <a:t>הוספת ספרות למלבן</a:t>
            </a:r>
            <a:endParaRPr lang="en-US" sz="2800" b="1" u="sng" dirty="0">
              <a:solidFill>
                <a:srgbClr val="3333CC"/>
              </a:solidFill>
            </a:endParaRPr>
          </a:p>
          <a:p>
            <a:pPr marL="800100" lvl="1" indent="-342900">
              <a:lnSpc>
                <a:spcPct val="80000"/>
              </a:lnSpc>
              <a:spcBef>
                <a:spcPct val="20000"/>
              </a:spcBef>
              <a:buFontTx/>
              <a:buChar char="•"/>
            </a:pPr>
            <a:r>
              <a:rPr lang="he-IL" sz="2800" dirty="0">
                <a:solidFill>
                  <a:srgbClr val="3333CC"/>
                </a:solidFill>
              </a:rPr>
              <a:t>ע"י חיבור ביטמאפ</a:t>
            </a:r>
            <a:br>
              <a:rPr lang="en-US" sz="2800" dirty="0">
                <a:solidFill>
                  <a:srgbClr val="3333CC"/>
                </a:solidFill>
              </a:rPr>
            </a:br>
            <a:r>
              <a:rPr lang="he-IL" sz="2800" dirty="0">
                <a:solidFill>
                  <a:srgbClr val="3333CC"/>
                </a:solidFill>
              </a:rPr>
              <a:t>של ספרות למלבן</a:t>
            </a:r>
          </a:p>
          <a:p>
            <a:pPr marL="342900" indent="-342900">
              <a:lnSpc>
                <a:spcPct val="80000"/>
              </a:lnSpc>
              <a:spcBef>
                <a:spcPct val="20000"/>
              </a:spcBef>
              <a:buFontTx/>
              <a:buChar char="•"/>
            </a:pPr>
            <a:endParaRPr lang="he-IL" sz="2800" dirty="0">
              <a:solidFill>
                <a:srgbClr val="3333CC"/>
              </a:solidFill>
            </a:endParaRPr>
          </a:p>
          <a:p>
            <a:pPr marL="342900" indent="-342900">
              <a:lnSpc>
                <a:spcPct val="80000"/>
              </a:lnSpc>
              <a:spcBef>
                <a:spcPct val="20000"/>
              </a:spcBef>
              <a:buFontTx/>
              <a:buChar char="•"/>
            </a:pPr>
            <a:endParaRPr lang="he-IL" sz="2800" dirty="0">
              <a:solidFill>
                <a:srgbClr val="3333CC"/>
              </a:solidFill>
            </a:endParaRPr>
          </a:p>
          <a:p>
            <a:pPr marL="342900" indent="-342900">
              <a:lnSpc>
                <a:spcPct val="80000"/>
              </a:lnSpc>
              <a:spcBef>
                <a:spcPct val="20000"/>
              </a:spcBef>
              <a:buFontTx/>
              <a:buChar char="•"/>
            </a:pPr>
            <a:endParaRPr lang="he-IL" sz="2800" dirty="0">
              <a:solidFill>
                <a:srgbClr val="3333CC"/>
              </a:solidFill>
            </a:endParaRPr>
          </a:p>
          <a:p>
            <a:pPr marL="342900" indent="-342900">
              <a:lnSpc>
                <a:spcPct val="80000"/>
              </a:lnSpc>
              <a:spcBef>
                <a:spcPct val="20000"/>
              </a:spcBef>
              <a:buFontTx/>
              <a:buChar char="•"/>
            </a:pPr>
            <a:r>
              <a:rPr lang="he-IL" sz="2800" b="1" u="sng" dirty="0">
                <a:solidFill>
                  <a:srgbClr val="3333CC"/>
                </a:solidFill>
              </a:rPr>
              <a:t>שינוי בקר המשחק</a:t>
            </a:r>
            <a:r>
              <a:rPr lang="he-IL" sz="2800" dirty="0">
                <a:solidFill>
                  <a:srgbClr val="3333CC"/>
                </a:solidFill>
              </a:rPr>
              <a:t> - להתנגשות בין ה- </a:t>
            </a:r>
            <a:r>
              <a:rPr lang="en-US" sz="2800" dirty="0">
                <a:solidFill>
                  <a:srgbClr val="3333CC"/>
                </a:solidFill>
              </a:rPr>
              <a:t>smiley</a:t>
            </a:r>
            <a:r>
              <a:rPr lang="he-IL" sz="2800" dirty="0">
                <a:solidFill>
                  <a:srgbClr val="3333CC"/>
                </a:solidFill>
              </a:rPr>
              <a:t> </a:t>
            </a:r>
            <a:br>
              <a:rPr lang="en-US" sz="2800" dirty="0">
                <a:solidFill>
                  <a:srgbClr val="3333CC"/>
                </a:solidFill>
              </a:rPr>
            </a:br>
            <a:r>
              <a:rPr lang="he-IL" sz="2800" dirty="0">
                <a:solidFill>
                  <a:srgbClr val="3333CC"/>
                </a:solidFill>
              </a:rPr>
              <a:t>לבין אובייקט הספרות</a:t>
            </a:r>
          </a:p>
        </p:txBody>
      </p:sp>
      <p:grpSp>
        <p:nvGrpSpPr>
          <p:cNvPr id="7" name="Group 6"/>
          <p:cNvGrpSpPr/>
          <p:nvPr/>
        </p:nvGrpSpPr>
        <p:grpSpPr>
          <a:xfrm>
            <a:off x="179512" y="2564904"/>
            <a:ext cx="5077225" cy="2088232"/>
            <a:chOff x="430879" y="2708920"/>
            <a:chExt cx="5077225" cy="2088232"/>
          </a:xfrm>
        </p:grpSpPr>
        <p:sp>
          <p:nvSpPr>
            <p:cNvPr id="2" name="Rectangle 1"/>
            <p:cNvSpPr/>
            <p:nvPr/>
          </p:nvSpPr>
          <p:spPr>
            <a:xfrm>
              <a:off x="2569004" y="2708920"/>
              <a:ext cx="1642956" cy="208823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r>
                <a:rPr lang="en-US" sz="2000" dirty="0"/>
                <a:t>Square</a:t>
              </a:r>
              <a:br>
                <a:rPr lang="en-US" sz="2000" dirty="0"/>
              </a:br>
              <a:r>
                <a:rPr lang="en-US" sz="2000" dirty="0"/>
                <a:t> object</a:t>
              </a:r>
              <a:endParaRPr lang="he-IL" sz="2000" dirty="0"/>
            </a:p>
          </p:txBody>
        </p:sp>
        <p:sp>
          <p:nvSpPr>
            <p:cNvPr id="3" name="Rectangle 2"/>
            <p:cNvSpPr/>
            <p:nvPr/>
          </p:nvSpPr>
          <p:spPr>
            <a:xfrm>
              <a:off x="430879" y="3428257"/>
              <a:ext cx="1937792" cy="50405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r>
                <a:rPr lang="en-US" dirty="0"/>
                <a:t> RANDOM </a:t>
              </a:r>
              <a:r>
                <a:rPr lang="en-US" dirty="0" err="1"/>
                <a:t>TopLeftY</a:t>
              </a:r>
              <a:endParaRPr lang="he-IL" dirty="0"/>
            </a:p>
          </p:txBody>
        </p:sp>
        <p:sp>
          <p:nvSpPr>
            <p:cNvPr id="8" name="Rectangle 7"/>
            <p:cNvSpPr/>
            <p:nvPr/>
          </p:nvSpPr>
          <p:spPr>
            <a:xfrm>
              <a:off x="430879" y="2708920"/>
              <a:ext cx="1937792" cy="50405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r>
                <a:rPr lang="en-US" dirty="0" err="1"/>
                <a:t>MyConstant</a:t>
              </a:r>
              <a:r>
                <a:rPr lang="en-US" dirty="0"/>
                <a:t> </a:t>
              </a:r>
              <a:r>
                <a:rPr lang="en-US" dirty="0" err="1"/>
                <a:t>TopLeftX</a:t>
              </a:r>
              <a:endParaRPr lang="he-IL" dirty="0"/>
            </a:p>
          </p:txBody>
        </p:sp>
        <p:sp>
          <p:nvSpPr>
            <p:cNvPr id="9" name="Rectangle 8"/>
            <p:cNvSpPr/>
            <p:nvPr/>
          </p:nvSpPr>
          <p:spPr>
            <a:xfrm>
              <a:off x="4427984" y="3113969"/>
              <a:ext cx="1080120" cy="110711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r>
                <a:rPr lang="he-IL" sz="5400" dirty="0"/>
                <a:t>3</a:t>
              </a:r>
            </a:p>
          </p:txBody>
        </p:sp>
        <p:cxnSp>
          <p:nvCxnSpPr>
            <p:cNvPr id="5" name="Straight Connector 4"/>
            <p:cNvCxnSpPr>
              <a:stCxn id="8" idx="3"/>
            </p:cNvCxnSpPr>
            <p:nvPr/>
          </p:nvCxnSpPr>
          <p:spPr>
            <a:xfrm>
              <a:off x="2368671" y="2960948"/>
              <a:ext cx="216024" cy="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>
              <a:off x="2339752" y="3573016"/>
              <a:ext cx="216024" cy="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4211960" y="3518397"/>
              <a:ext cx="216024" cy="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/>
              <a:t>6</a:t>
            </a:r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6C495-32CF-42B2-8214-D2B005CF76CE}" type="slidenum">
              <a:rPr lang="he-IL" smtClean="0"/>
              <a:t>8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21492983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8000">
              <a:schemeClr val="accent1">
                <a:lumMod val="60000"/>
                <a:lumOff val="40000"/>
              </a:schemeClr>
            </a:gs>
            <a:gs pos="20000">
              <a:schemeClr val="tx2">
                <a:lumMod val="40000"/>
                <a:lumOff val="60000"/>
              </a:schemeClr>
            </a:gs>
            <a:gs pos="100000">
              <a:schemeClr val="tx2">
                <a:lumMod val="40000"/>
                <a:lumOff val="60000"/>
              </a:schemeClr>
            </a:gs>
          </a:gsLst>
          <a:lin ang="135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854901" y="136422"/>
            <a:ext cx="5269474" cy="932752"/>
          </a:xfrm>
        </p:spPr>
        <p:txBody>
          <a:bodyPr>
            <a:normAutofit/>
          </a:bodyPr>
          <a:lstStyle/>
          <a:p>
            <a:pPr algn="ctr"/>
            <a:r>
              <a:rPr lang="he-IL" sz="3600" b="1" u="sng" dirty="0">
                <a:solidFill>
                  <a:srgbClr val="3333CC"/>
                </a:solidFill>
              </a:rPr>
              <a:t>הפעלת צלילים בפרויקט</a:t>
            </a:r>
            <a:endParaRPr lang="en-US" sz="3600" b="1" u="sng" dirty="0">
              <a:solidFill>
                <a:srgbClr val="3333CC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F8E0D89-97D4-42DA-9634-9921BB587AD0}" type="slidenum">
              <a:rPr lang="he-IL" smtClean="0"/>
              <a:pPr>
                <a:defRPr/>
              </a:pPr>
              <a:t>9</a:t>
            </a:fld>
            <a:endParaRPr lang="en-US" dirty="0"/>
          </a:p>
        </p:txBody>
      </p:sp>
      <p:grpSp>
        <p:nvGrpSpPr>
          <p:cNvPr id="6" name="Group 5"/>
          <p:cNvGrpSpPr/>
          <p:nvPr/>
        </p:nvGrpSpPr>
        <p:grpSpPr>
          <a:xfrm>
            <a:off x="899592" y="1127347"/>
            <a:ext cx="2597075" cy="2254453"/>
            <a:chOff x="899592" y="1127347"/>
            <a:chExt cx="2597075" cy="2254453"/>
          </a:xfrm>
        </p:grpSpPr>
        <p:pic>
          <p:nvPicPr>
            <p:cNvPr id="2" name="Picture 1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99592" y="1127347"/>
              <a:ext cx="2597075" cy="2254453"/>
            </a:xfrm>
            <a:prstGeom prst="rect">
              <a:avLst/>
            </a:prstGeom>
          </p:spPr>
        </p:pic>
        <p:sp>
          <p:nvSpPr>
            <p:cNvPr id="5" name="Down Arrow 4"/>
            <p:cNvSpPr/>
            <p:nvPr/>
          </p:nvSpPr>
          <p:spPr>
            <a:xfrm rot="2976085">
              <a:off x="1834134" y="1060038"/>
              <a:ext cx="288032" cy="597366"/>
            </a:xfrm>
            <a:prstGeom prst="downArrow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</p:grpSp>
      <p:grpSp>
        <p:nvGrpSpPr>
          <p:cNvPr id="17" name="Group 16"/>
          <p:cNvGrpSpPr/>
          <p:nvPr/>
        </p:nvGrpSpPr>
        <p:grpSpPr>
          <a:xfrm>
            <a:off x="2463568" y="5517232"/>
            <a:ext cx="4124656" cy="936104"/>
            <a:chOff x="3707904" y="2041671"/>
            <a:chExt cx="4124656" cy="936104"/>
          </a:xfrm>
        </p:grpSpPr>
        <p:sp>
          <p:nvSpPr>
            <p:cNvPr id="18" name="Down Arrow 17"/>
            <p:cNvSpPr/>
            <p:nvPr/>
          </p:nvSpPr>
          <p:spPr>
            <a:xfrm rot="5400000" flipV="1">
              <a:off x="6309424" y="2142462"/>
              <a:ext cx="433973" cy="744314"/>
            </a:xfrm>
            <a:prstGeom prst="downArrow">
              <a:avLst/>
            </a:prstGeom>
            <a:solidFill>
              <a:srgbClr val="7030A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  <p:sp>
          <p:nvSpPr>
            <p:cNvPr id="19" name="Rectangle 18"/>
            <p:cNvSpPr/>
            <p:nvPr/>
          </p:nvSpPr>
          <p:spPr>
            <a:xfrm>
              <a:off x="5309561" y="2181112"/>
              <a:ext cx="861317" cy="684911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r>
                <a:rPr lang="he-IL" dirty="0"/>
                <a:t>מונה </a:t>
              </a:r>
            </a:p>
          </p:txBody>
        </p:sp>
        <p:sp>
          <p:nvSpPr>
            <p:cNvPr id="20" name="Rectangle 19"/>
            <p:cNvSpPr/>
            <p:nvPr/>
          </p:nvSpPr>
          <p:spPr>
            <a:xfrm>
              <a:off x="6869571" y="2041671"/>
              <a:ext cx="962989" cy="93610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r>
                <a:rPr lang="he-IL" dirty="0"/>
                <a:t>טבלת סינוס</a:t>
              </a:r>
            </a:p>
          </p:txBody>
        </p:sp>
        <p:sp>
          <p:nvSpPr>
            <p:cNvPr id="21" name="Down Arrow 20"/>
            <p:cNvSpPr/>
            <p:nvPr/>
          </p:nvSpPr>
          <p:spPr>
            <a:xfrm rot="5400000" flipV="1">
              <a:off x="4707767" y="2179258"/>
              <a:ext cx="433973" cy="744314"/>
            </a:xfrm>
            <a:prstGeom prst="downArrow">
              <a:avLst/>
            </a:prstGeom>
            <a:solidFill>
              <a:srgbClr val="7030A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  <p:sp>
          <p:nvSpPr>
            <p:cNvPr id="22" name="Rectangle 21"/>
            <p:cNvSpPr/>
            <p:nvPr/>
          </p:nvSpPr>
          <p:spPr>
            <a:xfrm>
              <a:off x="3707904" y="2217908"/>
              <a:ext cx="861317" cy="684911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r>
                <a:rPr lang="he-IL" dirty="0"/>
                <a:t>מחלק תדר </a:t>
              </a:r>
            </a:p>
          </p:txBody>
        </p:sp>
      </p:grpSp>
      <p:sp>
        <p:nvSpPr>
          <p:cNvPr id="23" name="Rectangle 22"/>
          <p:cNvSpPr/>
          <p:nvPr/>
        </p:nvSpPr>
        <p:spPr>
          <a:xfrm>
            <a:off x="1219300" y="1452033"/>
            <a:ext cx="7596336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>
              <a:spcAft>
                <a:spcPts val="0"/>
              </a:spcAft>
              <a:buSzPts val="1100"/>
              <a:buFont typeface="Wingdings" panose="05000000000000000000" pitchFamily="2" charset="2"/>
              <a:buChar char="q"/>
            </a:pPr>
            <a:r>
              <a:rPr lang="he-IL" sz="2800" dirty="0">
                <a:solidFill>
                  <a:srgbClr val="222222"/>
                </a:solidFill>
                <a:latin typeface="Arial" panose="020B0604020202020204" pitchFamily="34" charset="0"/>
                <a:ea typeface="Calibri" panose="020F0502020204030204" pitchFamily="34" charset="0"/>
                <a:cs typeface="David" panose="020E0502060401010101" pitchFamily="34" charset="-79"/>
              </a:rPr>
              <a:t>השליטה בצלילים - מהמקלדת</a:t>
            </a:r>
            <a:r>
              <a:rPr lang="en-US" sz="2800" dirty="0">
                <a:solidFill>
                  <a:srgbClr val="222222"/>
                </a:solidFill>
                <a:latin typeface="Arial" panose="020B0604020202020204" pitchFamily="34" charset="0"/>
                <a:ea typeface="Calibri" panose="020F0502020204030204" pitchFamily="34" charset="0"/>
                <a:cs typeface="David" panose="020E0502060401010101" pitchFamily="34" charset="-79"/>
              </a:rPr>
              <a:t> </a:t>
            </a:r>
            <a:endParaRPr lang="he-IL" sz="2800" dirty="0">
              <a:solidFill>
                <a:srgbClr val="222222"/>
              </a:solidFill>
              <a:latin typeface="Arial" panose="020B0604020202020204" pitchFamily="34" charset="0"/>
              <a:ea typeface="Calibri" panose="020F0502020204030204" pitchFamily="34" charset="0"/>
              <a:cs typeface="David" panose="020E0502060401010101" pitchFamily="34" charset="-79"/>
            </a:endParaRPr>
          </a:p>
          <a:p>
            <a:pPr marL="342900" lvl="0" indent="-342900">
              <a:spcAft>
                <a:spcPts val="0"/>
              </a:spcAft>
              <a:buSzPts val="1100"/>
              <a:buFont typeface="Wingdings" panose="05000000000000000000" pitchFamily="2" charset="2"/>
              <a:buChar char="q"/>
            </a:pPr>
            <a:r>
              <a:rPr lang="he-IL" sz="2800" dirty="0">
                <a:solidFill>
                  <a:srgbClr val="222222"/>
                </a:solidFill>
                <a:latin typeface="Arial" panose="020B0604020202020204" pitchFamily="34" charset="0"/>
                <a:ea typeface="Calibri" panose="020F0502020204030204" pitchFamily="34" charset="0"/>
                <a:cs typeface="David" panose="020E0502060401010101" pitchFamily="34" charset="-79"/>
              </a:rPr>
              <a:t>הצליל יושמע על רמקול/אוזניות</a:t>
            </a:r>
          </a:p>
          <a:p>
            <a:pPr marL="342900" lvl="0" indent="-342900">
              <a:spcAft>
                <a:spcPts val="0"/>
              </a:spcAft>
              <a:buSzPts val="1100"/>
              <a:buFont typeface="Wingdings" panose="05000000000000000000" pitchFamily="2" charset="2"/>
              <a:buChar char="q"/>
            </a:pPr>
            <a:r>
              <a:rPr lang="he-IL" sz="2800" dirty="0">
                <a:solidFill>
                  <a:srgbClr val="222222"/>
                </a:solidFill>
                <a:latin typeface="Arial" panose="020B0604020202020204" pitchFamily="34" charset="0"/>
                <a:ea typeface="Calibri" panose="020F0502020204030204" pitchFamily="34" charset="0"/>
                <a:cs typeface="David" panose="020E0502060401010101" pitchFamily="34" charset="-79"/>
              </a:rPr>
              <a:t>הסבר מפורט בסרטון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/>
              <a:t>6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FCDF506-5C5F-827C-ACE1-B20C475F13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496" y="3645157"/>
            <a:ext cx="9073008" cy="1800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749132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8000">
              <a:schemeClr val="accent1">
                <a:lumMod val="60000"/>
                <a:lumOff val="40000"/>
              </a:schemeClr>
            </a:gs>
            <a:gs pos="20000">
              <a:schemeClr val="tx2">
                <a:lumMod val="40000"/>
                <a:lumOff val="60000"/>
              </a:schemeClr>
            </a:gs>
            <a:gs pos="100000">
              <a:schemeClr val="tx2">
                <a:lumMod val="40000"/>
                <a:lumOff val="60000"/>
              </a:schemeClr>
            </a:gs>
          </a:gsLst>
          <a:lin ang="135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907157" y="332656"/>
            <a:ext cx="7329685" cy="932752"/>
          </a:xfrm>
        </p:spPr>
        <p:txBody>
          <a:bodyPr>
            <a:noAutofit/>
          </a:bodyPr>
          <a:lstStyle/>
          <a:p>
            <a:pPr algn="ctr"/>
            <a:r>
              <a:rPr lang="he-IL" sz="3600" b="1" dirty="0">
                <a:solidFill>
                  <a:srgbClr val="3333CC"/>
                </a:solidFill>
              </a:rPr>
              <a:t>עבודה על הפרוייקט </a:t>
            </a:r>
            <a:r>
              <a:rPr lang="ar-AE" sz="3600" b="1" dirty="0">
                <a:solidFill>
                  <a:srgbClr val="3333CC"/>
                </a:solidFill>
              </a:rPr>
              <a:t>إستفتاح</a:t>
            </a:r>
            <a:r>
              <a:rPr lang="he-IL" sz="3600" b="1" dirty="0">
                <a:solidFill>
                  <a:srgbClr val="3333CC"/>
                </a:solidFill>
              </a:rPr>
              <a:t>  - </a:t>
            </a:r>
            <a:r>
              <a:rPr lang="he-IL" sz="3600" b="1" dirty="0" err="1">
                <a:solidFill>
                  <a:srgbClr val="3333CC"/>
                </a:solidFill>
              </a:rPr>
              <a:t>סיפתח</a:t>
            </a:r>
            <a:r>
              <a:rPr lang="he-IL" sz="3600" b="1" dirty="0">
                <a:solidFill>
                  <a:srgbClr val="3333CC"/>
                </a:solidFill>
              </a:rPr>
              <a:t> רשות</a:t>
            </a:r>
            <a:endParaRPr lang="en-US" sz="3600" b="1" u="sng" dirty="0">
              <a:solidFill>
                <a:srgbClr val="3333CC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F8E0D89-97D4-42DA-9634-9921BB587AD0}" type="slidenum">
              <a:rPr lang="he-IL" smtClean="0"/>
              <a:pPr>
                <a:defRPr/>
              </a:pPr>
              <a:t>10</a:t>
            </a:fld>
            <a:endParaRPr lang="en-US" dirty="0"/>
          </a:p>
        </p:txBody>
      </p:sp>
      <p:sp>
        <p:nvSpPr>
          <p:cNvPr id="23" name="Rectangle 22"/>
          <p:cNvSpPr/>
          <p:nvPr/>
        </p:nvSpPr>
        <p:spPr>
          <a:xfrm>
            <a:off x="921835" y="1659285"/>
            <a:ext cx="7329685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Aft>
                <a:spcPts val="0"/>
              </a:spcAft>
              <a:buSzPts val="1100"/>
              <a:buFont typeface="Wingdings" panose="05000000000000000000" pitchFamily="2" charset="2"/>
              <a:buChar char="q"/>
            </a:pPr>
            <a:r>
              <a:rPr lang="he-IL" sz="2800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0"/>
                <a:cs typeface="David" panose="020E0502060401010101" pitchFamily="34" charset="-79"/>
              </a:rPr>
              <a:t>לבצע את משימת </a:t>
            </a:r>
            <a:r>
              <a:rPr lang="he-IL" sz="2800" dirty="0" err="1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0"/>
                <a:cs typeface="David" panose="020E0502060401010101" pitchFamily="34" charset="-79"/>
              </a:rPr>
              <a:t>הסיפתח</a:t>
            </a:r>
            <a:r>
              <a:rPr lang="he-IL" sz="2800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0"/>
                <a:cs typeface="David" panose="020E0502060401010101" pitchFamily="34" charset="-79"/>
              </a:rPr>
              <a:t> שבדוח</a:t>
            </a:r>
          </a:p>
          <a:p>
            <a:pPr marL="800100" lvl="1" indent="-342900">
              <a:spcAft>
                <a:spcPts val="0"/>
              </a:spcAft>
              <a:buSzPts val="1100"/>
              <a:buFont typeface="Wingdings" panose="05000000000000000000" pitchFamily="2" charset="2"/>
              <a:buChar char="q"/>
            </a:pPr>
            <a:r>
              <a:rPr lang="he-IL" sz="2800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0"/>
                <a:cs typeface="David" panose="020E0502060401010101" pitchFamily="34" charset="-79"/>
              </a:rPr>
              <a:t>להוסיף התנגשות  בין הסמיילי  לבין הלב והעלמת  הלב שהתנגש</a:t>
            </a:r>
          </a:p>
          <a:p>
            <a:pPr marL="800100" lvl="1" indent="-342900">
              <a:spcAft>
                <a:spcPts val="0"/>
              </a:spcAft>
              <a:buSzPts val="1100"/>
              <a:buFont typeface="Wingdings" panose="05000000000000000000" pitchFamily="2" charset="2"/>
              <a:buChar char="q"/>
            </a:pPr>
            <a:r>
              <a:rPr lang="he-IL" sz="2800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0"/>
                <a:cs typeface="David" panose="020E0502060401010101" pitchFamily="34" charset="-79"/>
              </a:rPr>
              <a:t>לשמור את קובץ ה- </a:t>
            </a:r>
            <a:r>
              <a:rPr lang="en-US" sz="2800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0"/>
                <a:cs typeface="David" panose="020E0502060401010101" pitchFamily="34" charset="-79"/>
              </a:rPr>
              <a:t>TOP </a:t>
            </a:r>
            <a:r>
              <a:rPr lang="he-IL" sz="2800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0"/>
                <a:cs typeface="David" panose="020E0502060401010101" pitchFamily="34" charset="-79"/>
              </a:rPr>
              <a:t> בשם חדש (ליצור עותק) עבור הפרויקט</a:t>
            </a:r>
          </a:p>
          <a:p>
            <a:pPr marL="342900" indent="-342900">
              <a:spcAft>
                <a:spcPts val="0"/>
              </a:spcAft>
              <a:buSzPts val="1100"/>
              <a:buFont typeface="Wingdings" panose="05000000000000000000" pitchFamily="2" charset="2"/>
              <a:buChar char="q"/>
            </a:pPr>
            <a:r>
              <a:rPr lang="he-IL" sz="2800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0"/>
                <a:cs typeface="David" panose="020E0502060401010101" pitchFamily="34" charset="-79"/>
              </a:rPr>
              <a:t>לשבת עם המדריך לדון על </a:t>
            </a:r>
          </a:p>
          <a:p>
            <a:pPr marL="800100" lvl="1" indent="-342900">
              <a:spcAft>
                <a:spcPts val="0"/>
              </a:spcAft>
              <a:buSzPts val="1100"/>
              <a:buFont typeface="Wingdings" panose="05000000000000000000" pitchFamily="2" charset="2"/>
              <a:buChar char="q"/>
            </a:pPr>
            <a:r>
              <a:rPr lang="he-IL" sz="2800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0"/>
                <a:cs typeface="David" panose="020E0502060401010101" pitchFamily="34" charset="-79"/>
              </a:rPr>
              <a:t>סכמת מלבנים כללית של הפרויקט</a:t>
            </a:r>
          </a:p>
          <a:p>
            <a:pPr marL="800100" lvl="1" indent="-342900">
              <a:spcAft>
                <a:spcPts val="0"/>
              </a:spcAft>
              <a:buSzPts val="1100"/>
              <a:buFont typeface="Wingdings" panose="05000000000000000000" pitchFamily="2" charset="2"/>
              <a:buChar char="q"/>
            </a:pPr>
            <a:r>
              <a:rPr lang="he-IL" sz="2800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0"/>
                <a:cs typeface="David" panose="020E0502060401010101" pitchFamily="34" charset="-79"/>
              </a:rPr>
              <a:t>תוכניות, מחשבות, שאלות אם יש</a:t>
            </a:r>
            <a:endParaRPr lang="en-US" sz="2800" dirty="0">
              <a:solidFill>
                <a:srgbClr val="000000"/>
              </a:solidFill>
              <a:latin typeface="Arial" panose="020B0604020202020204" pitchFamily="34" charset="0"/>
              <a:ea typeface="Calibri" panose="020F0502020204030204" pitchFamily="34" charset="0"/>
              <a:cs typeface="David" panose="020E0502060401010101" pitchFamily="34" charset="-79"/>
            </a:endParaRPr>
          </a:p>
          <a:p>
            <a:pPr marL="342900" indent="-342900">
              <a:spcAft>
                <a:spcPts val="0"/>
              </a:spcAft>
              <a:buSzPts val="1100"/>
              <a:buFont typeface="Wingdings" panose="05000000000000000000" pitchFamily="2" charset="2"/>
              <a:buChar char="q"/>
            </a:pPr>
            <a:endParaRPr lang="en-US" sz="2800" dirty="0">
              <a:solidFill>
                <a:srgbClr val="000000"/>
              </a:solidFill>
              <a:latin typeface="Arial" panose="020B0604020202020204" pitchFamily="34" charset="0"/>
              <a:ea typeface="Calibri" panose="020F0502020204030204" pitchFamily="34" charset="0"/>
              <a:cs typeface="David" panose="020E0502060401010101" pitchFamily="34" charset="-79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256025696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8000">
              <a:schemeClr val="accent1">
                <a:lumMod val="60000"/>
                <a:lumOff val="40000"/>
              </a:schemeClr>
            </a:gs>
            <a:gs pos="20000">
              <a:schemeClr val="tx2">
                <a:lumMod val="40000"/>
                <a:lumOff val="60000"/>
              </a:schemeClr>
            </a:gs>
            <a:gs pos="100000">
              <a:schemeClr val="tx2">
                <a:lumMod val="40000"/>
                <a:lumOff val="60000"/>
              </a:schemeClr>
            </a:gs>
          </a:gsLst>
          <a:lin ang="135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F8E0D89-97D4-42DA-9634-9921BB587AD0}" type="slidenum">
              <a:rPr lang="he-IL" smtClean="0"/>
              <a:pPr>
                <a:defRPr/>
              </a:pPr>
              <a:t>11</a:t>
            </a:fld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1151031" y="1197382"/>
            <a:ext cx="6841938" cy="221599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he-IL" sz="138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בהצלחה!</a:t>
            </a:r>
            <a:endParaRPr lang="en-US" sz="54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/>
              <a:t>6</a:t>
            </a:r>
          </a:p>
        </p:txBody>
      </p:sp>
      <p:pic>
        <p:nvPicPr>
          <p:cNvPr id="5" name="Picture 4" descr="מבחן באנגלית מחר יתקיים מבחן באנגלית בהצלחה לכולם. Image result for ‫תמונה  בהצלחה‬‎ Subscribe to posts טקס יום הזיכרון ליצחק רבין פורסם: Oct 16, 2018,  6:45 AM על ידי: אורטל אורטל ביום ראשון 21/10/18 יתקיים טקס לזכרו של יצחק  רבין ז&quot;ל. הנכם מתבקשים להגיע בתלבושת לבנה ...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41700" y="3717032"/>
            <a:ext cx="2260600" cy="2032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42088581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13996</TotalTime>
  <Words>439</Words>
  <Application>Microsoft Office PowerPoint</Application>
  <PresentationFormat>On-screen Show (4:3)</PresentationFormat>
  <Paragraphs>125</Paragraphs>
  <Slides>11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Arial</vt:lpstr>
      <vt:lpstr>Calibri</vt:lpstr>
      <vt:lpstr>Calibri Light</vt:lpstr>
      <vt:lpstr>Century Gothic</vt:lpstr>
      <vt:lpstr>David</vt:lpstr>
      <vt:lpstr>tahoma</vt:lpstr>
      <vt:lpstr>Wingdings</vt:lpstr>
      <vt:lpstr>Custom Design</vt:lpstr>
      <vt:lpstr>PowerPoint Presentation</vt:lpstr>
      <vt:lpstr>תוכן המעבדה</vt:lpstr>
      <vt:lpstr>מהו VGA</vt:lpstr>
      <vt:lpstr>בקר ה- VGA</vt:lpstr>
      <vt:lpstr>סכמה כללית של יישום ה - Smiley</vt:lpstr>
      <vt:lpstr>PowerPoint Presentation</vt:lpstr>
      <vt:lpstr>PowerPoint Presentation</vt:lpstr>
      <vt:lpstr>PowerPoint Presentation</vt:lpstr>
      <vt:lpstr>הפעלת צלילים בפרויקט</vt:lpstr>
      <vt:lpstr>עבודה על הפרוייקט إستفتاح  - סיפתח רשות</vt:lpstr>
      <vt:lpstr>PowerPoint Presentation</vt:lpstr>
    </vt:vector>
  </TitlesOfParts>
  <Company>Technion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Pavel</dc:creator>
  <cp:lastModifiedBy>Liat Schwartz</cp:lastModifiedBy>
  <cp:revision>789</cp:revision>
  <cp:lastPrinted>2016-12-19T07:49:45Z</cp:lastPrinted>
  <dcterms:created xsi:type="dcterms:W3CDTF">2003-02-13T09:55:52Z</dcterms:created>
  <dcterms:modified xsi:type="dcterms:W3CDTF">2025-09-17T12:31:42Z</dcterms:modified>
</cp:coreProperties>
</file>