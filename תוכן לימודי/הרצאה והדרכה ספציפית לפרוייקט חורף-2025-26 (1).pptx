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bookmarkIdSeed="6">
  <p:sldMasterIdLst>
    <p:sldMasterId id="2147483674" r:id="rId1"/>
    <p:sldMasterId id="2147483695" r:id="rId2"/>
  </p:sldMasterIdLst>
  <p:notesMasterIdLst>
    <p:notesMasterId r:id="rId22"/>
  </p:notesMasterIdLst>
  <p:handoutMasterIdLst>
    <p:handoutMasterId r:id="rId23"/>
  </p:handoutMasterIdLst>
  <p:sldIdLst>
    <p:sldId id="572" r:id="rId3"/>
    <p:sldId id="423" r:id="rId4"/>
    <p:sldId id="513" r:id="rId5"/>
    <p:sldId id="514" r:id="rId6"/>
    <p:sldId id="527" r:id="rId7"/>
    <p:sldId id="598" r:id="rId8"/>
    <p:sldId id="528" r:id="rId9"/>
    <p:sldId id="530" r:id="rId10"/>
    <p:sldId id="600" r:id="rId11"/>
    <p:sldId id="590" r:id="rId12"/>
    <p:sldId id="592" r:id="rId13"/>
    <p:sldId id="604" r:id="rId14"/>
    <p:sldId id="605" r:id="rId15"/>
    <p:sldId id="606" r:id="rId16"/>
    <p:sldId id="608" r:id="rId17"/>
    <p:sldId id="601" r:id="rId18"/>
    <p:sldId id="602" r:id="rId19"/>
    <p:sldId id="589" r:id="rId20"/>
    <p:sldId id="586" r:id="rId21"/>
  </p:sldIdLst>
  <p:sldSz cx="9144000" cy="6858000" type="screen4x3"/>
  <p:notesSz cx="6797675" cy="9928225"/>
  <p:defaultTextStyle>
    <a:defPPr>
      <a:defRPr lang="he-IL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5C8F8D-AE37-E43E-6B8B-489699F60A51}" name="David Bar-on" initials="DBo" userId="S::dudyb@technion.ac.il::4f8ef7cd-8581-4879-baa9-cc749f29c0f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Bar-On" initials="DB" lastIdx="6" clrIdx="0">
    <p:extLst>
      <p:ext uri="{19B8F6BF-5375-455C-9EA6-DF929625EA0E}">
        <p15:presenceInfo xmlns:p15="http://schemas.microsoft.com/office/powerpoint/2012/main" userId="S-1-5-21-875234899-1626871297-367356602-11803" providerId="AD"/>
      </p:ext>
    </p:extLst>
  </p:cmAuthor>
  <p:cmAuthor id="2" name="Avraham Kaplan" initials="AK" lastIdx="14" clrIdx="1">
    <p:extLst>
      <p:ext uri="{19B8F6BF-5375-455C-9EA6-DF929625EA0E}">
        <p15:presenceInfo xmlns:p15="http://schemas.microsoft.com/office/powerpoint/2012/main" userId="S-1-5-21-875234899-1626871297-367356602-10813" providerId="AD"/>
      </p:ext>
    </p:extLst>
  </p:cmAuthor>
  <p:cmAuthor id="3" name="David Bar-On" initials="DB [2]" lastIdx="2" clrIdx="2">
    <p:extLst>
      <p:ext uri="{19B8F6BF-5375-455C-9EA6-DF929625EA0E}">
        <p15:presenceInfo xmlns:p15="http://schemas.microsoft.com/office/powerpoint/2012/main" userId="David Bar-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990033"/>
    <a:srgbClr val="3333CC"/>
    <a:srgbClr val="052F61"/>
    <a:srgbClr val="0066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147" autoAdjust="0"/>
    <p:restoredTop sz="94591" autoAdjust="0"/>
  </p:normalViewPr>
  <p:slideViewPr>
    <p:cSldViewPr>
      <p:cViewPr varScale="1">
        <p:scale>
          <a:sx n="117" d="100"/>
          <a:sy n="117" d="100"/>
        </p:scale>
        <p:origin x="159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1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52335" y="0"/>
            <a:ext cx="2945340" cy="496967"/>
          </a:xfrm>
          <a:prstGeom prst="rect">
            <a:avLst/>
          </a:prstGeom>
        </p:spPr>
        <p:txBody>
          <a:bodyPr vert="horz" lIns="91531" tIns="45766" rIns="91531" bIns="45766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592" y="0"/>
            <a:ext cx="2945340" cy="496967"/>
          </a:xfrm>
          <a:prstGeom prst="rect">
            <a:avLst/>
          </a:prstGeom>
        </p:spPr>
        <p:txBody>
          <a:bodyPr vert="horz" lIns="91531" tIns="45766" rIns="91531" bIns="45766" rtlCol="1"/>
          <a:lstStyle>
            <a:lvl1pPr algn="l">
              <a:defRPr sz="1200"/>
            </a:lvl1pPr>
          </a:lstStyle>
          <a:p>
            <a:fld id="{E9D2CE53-F455-4756-AE73-B4032F69F7EB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852335" y="9431258"/>
            <a:ext cx="2945340" cy="496967"/>
          </a:xfrm>
          <a:prstGeom prst="rect">
            <a:avLst/>
          </a:prstGeom>
        </p:spPr>
        <p:txBody>
          <a:bodyPr vert="horz" lIns="91531" tIns="45766" rIns="91531" bIns="45766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592" y="9431258"/>
            <a:ext cx="2945340" cy="496967"/>
          </a:xfrm>
          <a:prstGeom prst="rect">
            <a:avLst/>
          </a:prstGeom>
        </p:spPr>
        <p:txBody>
          <a:bodyPr vert="horz" lIns="91531" tIns="45766" rIns="91531" bIns="45766" rtlCol="1" anchor="b"/>
          <a:lstStyle>
            <a:lvl1pPr algn="l">
              <a:defRPr sz="1200"/>
            </a:lvl1pPr>
          </a:lstStyle>
          <a:p>
            <a:fld id="{BAB39A2C-75B5-4C56-B253-BDB8A27850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50290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52335" y="0"/>
            <a:ext cx="2945340" cy="496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92" y="0"/>
            <a:ext cx="2945340" cy="496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1" y="4715629"/>
            <a:ext cx="5438776" cy="4467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52335" y="9429671"/>
            <a:ext cx="2945340" cy="496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92" y="9429671"/>
            <a:ext cx="2945340" cy="496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B0EA2CB-9693-432C-B07B-7C2E2F27AEF4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646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6EC113-5EF6-48E9-9CE4-D869B359D9CF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F391A-EBEF-4E17-8774-1E7237B35061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623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0"/>
            <a:ext cx="6554867" cy="152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>
            <a:lvl1pPr marL="342900" indent="-342900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  <a:defRPr>
                <a:solidFill>
                  <a:schemeClr val="bg1"/>
                </a:solidFill>
              </a:defRPr>
            </a:lvl1pPr>
            <a:lvl2pPr marL="7429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2pPr>
            <a:lvl3pPr marL="12001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3pPr>
            <a:lvl4pPr marL="16573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4pPr>
            <a:lvl5pPr marL="21145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533C76-4298-43FB-B1BD-0F0829E2ADDB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7" name="Group 164"/>
          <p:cNvGrpSpPr>
            <a:grpSpLocks/>
          </p:cNvGrpSpPr>
          <p:nvPr userDrawn="1"/>
        </p:nvGrpSpPr>
        <p:grpSpPr bwMode="auto">
          <a:xfrm>
            <a:off x="7071932" y="137319"/>
            <a:ext cx="1895475" cy="792162"/>
            <a:chOff x="3467" y="348"/>
            <a:chExt cx="831" cy="380"/>
          </a:xfrm>
        </p:grpSpPr>
        <p:sp>
          <p:nvSpPr>
            <p:cNvPr id="8" name="Freeform 110"/>
            <p:cNvSpPr>
              <a:spLocks/>
            </p:cNvSpPr>
            <p:nvPr/>
          </p:nvSpPr>
          <p:spPr bwMode="auto">
            <a:xfrm flipV="1">
              <a:off x="3467" y="348"/>
              <a:ext cx="36" cy="67"/>
            </a:xfrm>
            <a:custGeom>
              <a:avLst/>
              <a:gdLst>
                <a:gd name="T0" fmla="*/ 35639 w 27"/>
                <a:gd name="T1" fmla="*/ 42277 h 50"/>
                <a:gd name="T2" fmla="*/ 22857 w 27"/>
                <a:gd name="T3" fmla="*/ 56651 h 50"/>
                <a:gd name="T4" fmla="*/ 11276 w 27"/>
                <a:gd name="T5" fmla="*/ 56651 h 50"/>
                <a:gd name="T6" fmla="*/ 11276 w 27"/>
                <a:gd name="T7" fmla="*/ 75707 h 50"/>
                <a:gd name="T8" fmla="*/ 0 w 27"/>
                <a:gd name="T9" fmla="*/ 62185 h 50"/>
                <a:gd name="T10" fmla="*/ 0 w 27"/>
                <a:gd name="T11" fmla="*/ 49560 h 50"/>
                <a:gd name="T12" fmla="*/ 15035 w 27"/>
                <a:gd name="T13" fmla="*/ 49560 h 50"/>
                <a:gd name="T14" fmla="*/ 23967 w 27"/>
                <a:gd name="T15" fmla="*/ 39135 h 50"/>
                <a:gd name="T16" fmla="*/ 11276 w 27"/>
                <a:gd name="T17" fmla="*/ 9786 h 50"/>
                <a:gd name="T18" fmla="*/ 4905 w 27"/>
                <a:gd name="T19" fmla="*/ 0 h 50"/>
                <a:gd name="T20" fmla="*/ 35639 w 27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"/>
                <a:gd name="T34" fmla="*/ 0 h 50"/>
                <a:gd name="T35" fmla="*/ 27 w 27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" h="50">
                  <a:moveTo>
                    <a:pt x="27" y="28"/>
                  </a:moveTo>
                  <a:cubicBezTo>
                    <a:pt x="27" y="35"/>
                    <a:pt x="23" y="38"/>
                    <a:pt x="17" y="38"/>
                  </a:cubicBezTo>
                  <a:lnTo>
                    <a:pt x="8" y="38"/>
                  </a:lnTo>
                  <a:lnTo>
                    <a:pt x="8" y="50"/>
                  </a:lnTo>
                  <a:cubicBezTo>
                    <a:pt x="4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3" y="33"/>
                    <a:pt x="18" y="33"/>
                    <a:pt x="18" y="26"/>
                  </a:cubicBezTo>
                  <a:cubicBezTo>
                    <a:pt x="18" y="17"/>
                    <a:pt x="13" y="10"/>
                    <a:pt x="8" y="7"/>
                  </a:cubicBezTo>
                  <a:cubicBezTo>
                    <a:pt x="6" y="6"/>
                    <a:pt x="4" y="4"/>
                    <a:pt x="4" y="0"/>
                  </a:cubicBezTo>
                  <a:cubicBezTo>
                    <a:pt x="13" y="1"/>
                    <a:pt x="27" y="11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9" name="Freeform 111"/>
            <p:cNvSpPr>
              <a:spLocks/>
            </p:cNvSpPr>
            <p:nvPr/>
          </p:nvSpPr>
          <p:spPr bwMode="auto">
            <a:xfrm flipV="1">
              <a:off x="3511" y="363"/>
              <a:ext cx="45" cy="51"/>
            </a:xfrm>
            <a:custGeom>
              <a:avLst/>
              <a:gdLst>
                <a:gd name="T0" fmla="*/ 37852 w 34"/>
                <a:gd name="T1" fmla="*/ 30812 h 38"/>
                <a:gd name="T2" fmla="*/ 21608 w 34"/>
                <a:gd name="T3" fmla="*/ 58838 h 38"/>
                <a:gd name="T4" fmla="*/ 10140 w 34"/>
                <a:gd name="T5" fmla="*/ 50732 h 38"/>
                <a:gd name="T6" fmla="*/ 1 w 34"/>
                <a:gd name="T7" fmla="*/ 58838 h 38"/>
                <a:gd name="T8" fmla="*/ 0 w 34"/>
                <a:gd name="T9" fmla="*/ 54814 h 38"/>
                <a:gd name="T10" fmla="*/ 1 w 34"/>
                <a:gd name="T11" fmla="*/ 50732 h 38"/>
                <a:gd name="T12" fmla="*/ 3304 w 34"/>
                <a:gd name="T13" fmla="*/ 46622 h 38"/>
                <a:gd name="T14" fmla="*/ 4373 w 34"/>
                <a:gd name="T15" fmla="*/ 40842 h 38"/>
                <a:gd name="T16" fmla="*/ 4373 w 34"/>
                <a:gd name="T17" fmla="*/ 37800 h 38"/>
                <a:gd name="T18" fmla="*/ 1 w 34"/>
                <a:gd name="T19" fmla="*/ 0 h 38"/>
                <a:gd name="T20" fmla="*/ 2496 w 34"/>
                <a:gd name="T21" fmla="*/ 0 h 38"/>
                <a:gd name="T22" fmla="*/ 10948 w 34"/>
                <a:gd name="T23" fmla="*/ 10068 h 38"/>
                <a:gd name="T24" fmla="*/ 13421 w 34"/>
                <a:gd name="T25" fmla="*/ 39899 h 38"/>
                <a:gd name="T26" fmla="*/ 20224 w 34"/>
                <a:gd name="T27" fmla="*/ 51197 h 38"/>
                <a:gd name="T28" fmla="*/ 27883 w 34"/>
                <a:gd name="T29" fmla="*/ 30812 h 38"/>
                <a:gd name="T30" fmla="*/ 17763 w 34"/>
                <a:gd name="T31" fmla="*/ 7502 h 38"/>
                <a:gd name="T32" fmla="*/ 12335 w 34"/>
                <a:gd name="T33" fmla="*/ 1 h 38"/>
                <a:gd name="T34" fmla="*/ 17763 w 34"/>
                <a:gd name="T35" fmla="*/ 0 h 38"/>
                <a:gd name="T36" fmla="*/ 37852 w 34"/>
                <a:gd name="T37" fmla="*/ 30812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4"/>
                <a:gd name="T58" fmla="*/ 0 h 38"/>
                <a:gd name="T59" fmla="*/ 34 w 34"/>
                <a:gd name="T60" fmla="*/ 38 h 3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4" h="38">
                  <a:moveTo>
                    <a:pt x="34" y="20"/>
                  </a:moveTo>
                  <a:cubicBezTo>
                    <a:pt x="34" y="31"/>
                    <a:pt x="28" y="38"/>
                    <a:pt x="20" y="38"/>
                  </a:cubicBezTo>
                  <a:cubicBezTo>
                    <a:pt x="14" y="38"/>
                    <a:pt x="12" y="36"/>
                    <a:pt x="9" y="32"/>
                  </a:cubicBezTo>
                  <a:cubicBezTo>
                    <a:pt x="7" y="34"/>
                    <a:pt x="3" y="37"/>
                    <a:pt x="1" y="38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34"/>
                    <a:pt x="1" y="33"/>
                    <a:pt x="1" y="32"/>
                  </a:cubicBezTo>
                  <a:lnTo>
                    <a:pt x="3" y="30"/>
                  </a:lnTo>
                  <a:cubicBezTo>
                    <a:pt x="4" y="28"/>
                    <a:pt x="4" y="28"/>
                    <a:pt x="4" y="26"/>
                  </a:cubicBezTo>
                  <a:cubicBezTo>
                    <a:pt x="4" y="25"/>
                    <a:pt x="4" y="25"/>
                    <a:pt x="4" y="24"/>
                  </a:cubicBezTo>
                  <a:lnTo>
                    <a:pt x="1" y="0"/>
                  </a:lnTo>
                  <a:cubicBezTo>
                    <a:pt x="1" y="0"/>
                    <a:pt x="1" y="0"/>
                    <a:pt x="2" y="0"/>
                  </a:cubicBezTo>
                  <a:cubicBezTo>
                    <a:pt x="5" y="0"/>
                    <a:pt x="9" y="3"/>
                    <a:pt x="10" y="7"/>
                  </a:cubicBezTo>
                  <a:lnTo>
                    <a:pt x="12" y="25"/>
                  </a:lnTo>
                  <a:cubicBezTo>
                    <a:pt x="13" y="30"/>
                    <a:pt x="15" y="33"/>
                    <a:pt x="18" y="33"/>
                  </a:cubicBezTo>
                  <a:cubicBezTo>
                    <a:pt x="22" y="33"/>
                    <a:pt x="25" y="29"/>
                    <a:pt x="25" y="20"/>
                  </a:cubicBezTo>
                  <a:cubicBezTo>
                    <a:pt x="25" y="10"/>
                    <a:pt x="20" y="5"/>
                    <a:pt x="16" y="5"/>
                  </a:cubicBezTo>
                  <a:cubicBezTo>
                    <a:pt x="13" y="5"/>
                    <a:pt x="12" y="4"/>
                    <a:pt x="11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26" y="0"/>
                    <a:pt x="34" y="7"/>
                    <a:pt x="34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Freeform 112"/>
            <p:cNvSpPr>
              <a:spLocks noEditPoints="1"/>
            </p:cNvSpPr>
            <p:nvPr/>
          </p:nvSpPr>
          <p:spPr bwMode="auto">
            <a:xfrm flipV="1">
              <a:off x="3566" y="362"/>
              <a:ext cx="46" cy="52"/>
            </a:xfrm>
            <a:custGeom>
              <a:avLst/>
              <a:gdLst>
                <a:gd name="T0" fmla="*/ 20471 w 35"/>
                <a:gd name="T1" fmla="*/ 33173 h 39"/>
                <a:gd name="T2" fmla="*/ 20471 w 35"/>
                <a:gd name="T3" fmla="*/ 50975 h 39"/>
                <a:gd name="T4" fmla="*/ 11851 w 35"/>
                <a:gd name="T5" fmla="*/ 39909 h 39"/>
                <a:gd name="T6" fmla="*/ 11851 w 35"/>
                <a:gd name="T7" fmla="*/ 18660 h 39"/>
                <a:gd name="T8" fmla="*/ 20471 w 35"/>
                <a:gd name="T9" fmla="*/ 33173 h 39"/>
                <a:gd name="T10" fmla="*/ 32433 w 35"/>
                <a:gd name="T11" fmla="*/ 31956 h 39"/>
                <a:gd name="T12" fmla="*/ 32433 w 35"/>
                <a:gd name="T13" fmla="*/ 50975 h 39"/>
                <a:gd name="T14" fmla="*/ 24228 w 35"/>
                <a:gd name="T15" fmla="*/ 39909 h 39"/>
                <a:gd name="T16" fmla="*/ 24228 w 35"/>
                <a:gd name="T17" fmla="*/ 30476 h 39"/>
                <a:gd name="T18" fmla="*/ 11508 w 35"/>
                <a:gd name="T19" fmla="*/ 6540 h 39"/>
                <a:gd name="T20" fmla="*/ 9894 w 35"/>
                <a:gd name="T21" fmla="*/ 6540 h 39"/>
                <a:gd name="T22" fmla="*/ 7528 w 35"/>
                <a:gd name="T23" fmla="*/ 51785 h 39"/>
                <a:gd name="T24" fmla="*/ 0 w 35"/>
                <a:gd name="T25" fmla="*/ 39909 h 39"/>
                <a:gd name="T26" fmla="*/ 0 w 35"/>
                <a:gd name="T27" fmla="*/ 38839 h 39"/>
                <a:gd name="T28" fmla="*/ 3857 w 35"/>
                <a:gd name="T29" fmla="*/ 0 h 39"/>
                <a:gd name="T30" fmla="*/ 8756 w 35"/>
                <a:gd name="T31" fmla="*/ 0 h 39"/>
                <a:gd name="T32" fmla="*/ 32433 w 35"/>
                <a:gd name="T33" fmla="*/ 31956 h 3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5"/>
                <a:gd name="T52" fmla="*/ 0 h 39"/>
                <a:gd name="T53" fmla="*/ 35 w 35"/>
                <a:gd name="T54" fmla="*/ 39 h 3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5" h="39">
                  <a:moveTo>
                    <a:pt x="22" y="25"/>
                  </a:moveTo>
                  <a:lnTo>
                    <a:pt x="22" y="38"/>
                  </a:lnTo>
                  <a:cubicBezTo>
                    <a:pt x="17" y="38"/>
                    <a:pt x="13" y="36"/>
                    <a:pt x="13" y="30"/>
                  </a:cubicBezTo>
                  <a:lnTo>
                    <a:pt x="13" y="14"/>
                  </a:lnTo>
                  <a:cubicBezTo>
                    <a:pt x="18" y="15"/>
                    <a:pt x="22" y="18"/>
                    <a:pt x="22" y="25"/>
                  </a:cubicBezTo>
                  <a:close/>
                  <a:moveTo>
                    <a:pt x="35" y="24"/>
                  </a:moveTo>
                  <a:lnTo>
                    <a:pt x="35" y="38"/>
                  </a:lnTo>
                  <a:cubicBezTo>
                    <a:pt x="30" y="38"/>
                    <a:pt x="26" y="36"/>
                    <a:pt x="26" y="30"/>
                  </a:cubicBezTo>
                  <a:lnTo>
                    <a:pt x="26" y="23"/>
                  </a:lnTo>
                  <a:cubicBezTo>
                    <a:pt x="26" y="12"/>
                    <a:pt x="18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lnTo>
                    <a:pt x="8" y="39"/>
                  </a:lnTo>
                  <a:cubicBezTo>
                    <a:pt x="2" y="38"/>
                    <a:pt x="0" y="34"/>
                    <a:pt x="0" y="30"/>
                  </a:cubicBezTo>
                  <a:cubicBezTo>
                    <a:pt x="0" y="30"/>
                    <a:pt x="0" y="29"/>
                    <a:pt x="0" y="29"/>
                  </a:cubicBezTo>
                  <a:lnTo>
                    <a:pt x="4" y="0"/>
                  </a:lnTo>
                  <a:cubicBezTo>
                    <a:pt x="6" y="0"/>
                    <a:pt x="8" y="0"/>
                    <a:pt x="9" y="0"/>
                  </a:cubicBezTo>
                  <a:cubicBezTo>
                    <a:pt x="24" y="0"/>
                    <a:pt x="35" y="10"/>
                    <a:pt x="35" y="24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Freeform 113"/>
            <p:cNvSpPr>
              <a:spLocks/>
            </p:cNvSpPr>
            <p:nvPr/>
          </p:nvSpPr>
          <p:spPr bwMode="auto">
            <a:xfrm flipV="1">
              <a:off x="3623" y="363"/>
              <a:ext cx="38" cy="52"/>
            </a:xfrm>
            <a:custGeom>
              <a:avLst/>
              <a:gdLst>
                <a:gd name="T0" fmla="*/ 25097 w 29"/>
                <a:gd name="T1" fmla="*/ 11276 h 39"/>
                <a:gd name="T2" fmla="*/ 25097 w 29"/>
                <a:gd name="T3" fmla="*/ 29129 h 39"/>
                <a:gd name="T4" fmla="*/ 9216 w 29"/>
                <a:gd name="T5" fmla="*/ 51785 h 39"/>
                <a:gd name="T6" fmla="*/ 0 w 29"/>
                <a:gd name="T7" fmla="*/ 48997 h 39"/>
                <a:gd name="T8" fmla="*/ 0 w 29"/>
                <a:gd name="T9" fmla="*/ 1 h 39"/>
                <a:gd name="T10" fmla="*/ 6497 w 29"/>
                <a:gd name="T11" fmla="*/ 11276 h 39"/>
                <a:gd name="T12" fmla="*/ 6497 w 29"/>
                <a:gd name="T13" fmla="*/ 45179 h 39"/>
                <a:gd name="T14" fmla="*/ 8513 w 29"/>
                <a:gd name="T15" fmla="*/ 45179 h 39"/>
                <a:gd name="T16" fmla="*/ 18514 w 29"/>
                <a:gd name="T17" fmla="*/ 29129 h 39"/>
                <a:gd name="T18" fmla="*/ 18514 w 29"/>
                <a:gd name="T19" fmla="*/ 0 h 39"/>
                <a:gd name="T20" fmla="*/ 25097 w 29"/>
                <a:gd name="T21" fmla="*/ 11276 h 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"/>
                <a:gd name="T34" fmla="*/ 0 h 39"/>
                <a:gd name="T35" fmla="*/ 29 w 29"/>
                <a:gd name="T36" fmla="*/ 39 h 3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3"/>
                    <a:pt x="21" y="39"/>
                    <a:pt x="11" y="39"/>
                  </a:cubicBezTo>
                  <a:cubicBezTo>
                    <a:pt x="6" y="39"/>
                    <a:pt x="2" y="38"/>
                    <a:pt x="0" y="37"/>
                  </a:cubicBezTo>
                  <a:lnTo>
                    <a:pt x="0" y="1"/>
                  </a:lnTo>
                  <a:cubicBezTo>
                    <a:pt x="5" y="1"/>
                    <a:pt x="8" y="2"/>
                    <a:pt x="8" y="8"/>
                  </a:cubicBezTo>
                  <a:lnTo>
                    <a:pt x="8" y="34"/>
                  </a:lnTo>
                  <a:cubicBezTo>
                    <a:pt x="9" y="34"/>
                    <a:pt x="9" y="34"/>
                    <a:pt x="10" y="34"/>
                  </a:cubicBezTo>
                  <a:cubicBezTo>
                    <a:pt x="14" y="34"/>
                    <a:pt x="21" y="31"/>
                    <a:pt x="21" y="22"/>
                  </a:cubicBezTo>
                  <a:lnTo>
                    <a:pt x="21" y="0"/>
                  </a:lnTo>
                  <a:cubicBezTo>
                    <a:pt x="24" y="0"/>
                    <a:pt x="29" y="3"/>
                    <a:pt x="2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Freeform 114"/>
            <p:cNvSpPr>
              <a:spLocks/>
            </p:cNvSpPr>
            <p:nvPr/>
          </p:nvSpPr>
          <p:spPr bwMode="auto">
            <a:xfrm flipV="1">
              <a:off x="3689" y="363"/>
              <a:ext cx="47" cy="52"/>
            </a:xfrm>
            <a:custGeom>
              <a:avLst/>
              <a:gdLst>
                <a:gd name="T0" fmla="*/ 55463 w 35"/>
                <a:gd name="T1" fmla="*/ 11627 h 39"/>
                <a:gd name="T2" fmla="*/ 55463 w 35"/>
                <a:gd name="T3" fmla="*/ 29129 h 39"/>
                <a:gd name="T4" fmla="*/ 27469 w 35"/>
                <a:gd name="T5" fmla="*/ 51785 h 39"/>
                <a:gd name="T6" fmla="*/ 4188 w 35"/>
                <a:gd name="T7" fmla="*/ 47519 h 39"/>
                <a:gd name="T8" fmla="*/ 9561 w 35"/>
                <a:gd name="T9" fmla="*/ 44231 h 39"/>
                <a:gd name="T10" fmla="*/ 9561 w 35"/>
                <a:gd name="T11" fmla="*/ 44231 h 39"/>
                <a:gd name="T12" fmla="*/ 9561 w 35"/>
                <a:gd name="T13" fmla="*/ 11276 h 39"/>
                <a:gd name="T14" fmla="*/ 5624 w 35"/>
                <a:gd name="T15" fmla="*/ 6540 h 39"/>
                <a:gd name="T16" fmla="*/ 4188 w 35"/>
                <a:gd name="T17" fmla="*/ 6540 h 39"/>
                <a:gd name="T18" fmla="*/ 4188 w 35"/>
                <a:gd name="T19" fmla="*/ 6540 h 39"/>
                <a:gd name="T20" fmla="*/ 0 w 35"/>
                <a:gd name="T21" fmla="*/ 2759 h 39"/>
                <a:gd name="T22" fmla="*/ 7552 w 35"/>
                <a:gd name="T23" fmla="*/ 0 h 39"/>
                <a:gd name="T24" fmla="*/ 23152 w 35"/>
                <a:gd name="T25" fmla="*/ 12857 h 39"/>
                <a:gd name="T26" fmla="*/ 23152 w 35"/>
                <a:gd name="T27" fmla="*/ 45179 h 39"/>
                <a:gd name="T28" fmla="*/ 24557 w 35"/>
                <a:gd name="T29" fmla="*/ 45179 h 39"/>
                <a:gd name="T30" fmla="*/ 41749 w 35"/>
                <a:gd name="T31" fmla="*/ 29129 h 39"/>
                <a:gd name="T32" fmla="*/ 41749 w 35"/>
                <a:gd name="T33" fmla="*/ 0 h 39"/>
                <a:gd name="T34" fmla="*/ 55463 w 35"/>
                <a:gd name="T35" fmla="*/ 11627 h 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5"/>
                <a:gd name="T55" fmla="*/ 0 h 39"/>
                <a:gd name="T56" fmla="*/ 35 w 35"/>
                <a:gd name="T57" fmla="*/ 39 h 3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5" h="39">
                  <a:moveTo>
                    <a:pt x="35" y="9"/>
                  </a:moveTo>
                  <a:lnTo>
                    <a:pt x="35" y="22"/>
                  </a:lnTo>
                  <a:cubicBezTo>
                    <a:pt x="35" y="33"/>
                    <a:pt x="27" y="39"/>
                    <a:pt x="17" y="39"/>
                  </a:cubicBezTo>
                  <a:cubicBezTo>
                    <a:pt x="12" y="39"/>
                    <a:pt x="6" y="38"/>
                    <a:pt x="3" y="36"/>
                  </a:cubicBezTo>
                  <a:cubicBezTo>
                    <a:pt x="3" y="34"/>
                    <a:pt x="5" y="33"/>
                    <a:pt x="6" y="33"/>
                  </a:cubicBezTo>
                  <a:lnTo>
                    <a:pt x="6" y="8"/>
                  </a:lnTo>
                  <a:cubicBezTo>
                    <a:pt x="6" y="6"/>
                    <a:pt x="5" y="5"/>
                    <a:pt x="4" y="5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0" y="4"/>
                    <a:pt x="0" y="2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11" y="0"/>
                    <a:pt x="15" y="3"/>
                    <a:pt x="15" y="10"/>
                  </a:cubicBezTo>
                  <a:lnTo>
                    <a:pt x="15" y="34"/>
                  </a:lnTo>
                  <a:cubicBezTo>
                    <a:pt x="15" y="34"/>
                    <a:pt x="15" y="34"/>
                    <a:pt x="16" y="34"/>
                  </a:cubicBezTo>
                  <a:cubicBezTo>
                    <a:pt x="20" y="34"/>
                    <a:pt x="27" y="31"/>
                    <a:pt x="27" y="22"/>
                  </a:cubicBezTo>
                  <a:lnTo>
                    <a:pt x="27" y="0"/>
                  </a:lnTo>
                  <a:cubicBezTo>
                    <a:pt x="32" y="0"/>
                    <a:pt x="35" y="3"/>
                    <a:pt x="35" y="9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Freeform 115"/>
            <p:cNvSpPr>
              <a:spLocks noEditPoints="1"/>
            </p:cNvSpPr>
            <p:nvPr/>
          </p:nvSpPr>
          <p:spPr bwMode="auto">
            <a:xfrm flipV="1">
              <a:off x="3745" y="364"/>
              <a:ext cx="45" cy="51"/>
            </a:xfrm>
            <a:custGeom>
              <a:avLst/>
              <a:gdLst>
                <a:gd name="T0" fmla="*/ 37852 w 34"/>
                <a:gd name="T1" fmla="*/ 30812 h 38"/>
                <a:gd name="T2" fmla="*/ 21067 w 34"/>
                <a:gd name="T3" fmla="*/ 58838 h 38"/>
                <a:gd name="T4" fmla="*/ 0 w 34"/>
                <a:gd name="T5" fmla="*/ 58838 h 38"/>
                <a:gd name="T6" fmla="*/ 5788 w 34"/>
                <a:gd name="T7" fmla="*/ 51197 h 38"/>
                <a:gd name="T8" fmla="*/ 9320 w 34"/>
                <a:gd name="T9" fmla="*/ 51197 h 38"/>
                <a:gd name="T10" fmla="*/ 1 w 34"/>
                <a:gd name="T11" fmla="*/ 30812 h 38"/>
                <a:gd name="T12" fmla="*/ 19178 w 34"/>
                <a:gd name="T13" fmla="*/ 0 h 38"/>
                <a:gd name="T14" fmla="*/ 37852 w 34"/>
                <a:gd name="T15" fmla="*/ 30812 h 38"/>
                <a:gd name="T16" fmla="*/ 27883 w 34"/>
                <a:gd name="T17" fmla="*/ 30812 h 38"/>
                <a:gd name="T18" fmla="*/ 19178 w 34"/>
                <a:gd name="T19" fmla="*/ 7502 h 38"/>
                <a:gd name="T20" fmla="*/ 10948 w 34"/>
                <a:gd name="T21" fmla="*/ 30812 h 38"/>
                <a:gd name="T22" fmla="*/ 19178 w 34"/>
                <a:gd name="T23" fmla="*/ 53549 h 38"/>
                <a:gd name="T24" fmla="*/ 27883 w 34"/>
                <a:gd name="T25" fmla="*/ 30812 h 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4"/>
                <a:gd name="T40" fmla="*/ 0 h 38"/>
                <a:gd name="T41" fmla="*/ 34 w 34"/>
                <a:gd name="T42" fmla="*/ 38 h 3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4" h="38">
                  <a:moveTo>
                    <a:pt x="34" y="20"/>
                  </a:moveTo>
                  <a:cubicBezTo>
                    <a:pt x="34" y="30"/>
                    <a:pt x="28" y="38"/>
                    <a:pt x="19" y="38"/>
                  </a:cubicBezTo>
                  <a:lnTo>
                    <a:pt x="0" y="38"/>
                  </a:lnTo>
                  <a:cubicBezTo>
                    <a:pt x="0" y="36"/>
                    <a:pt x="2" y="33"/>
                    <a:pt x="5" y="33"/>
                  </a:cubicBezTo>
                  <a:lnTo>
                    <a:pt x="8" y="33"/>
                  </a:lnTo>
                  <a:cubicBezTo>
                    <a:pt x="4" y="32"/>
                    <a:pt x="1" y="27"/>
                    <a:pt x="1" y="20"/>
                  </a:cubicBezTo>
                  <a:cubicBezTo>
                    <a:pt x="1" y="9"/>
                    <a:pt x="8" y="0"/>
                    <a:pt x="17" y="0"/>
                  </a:cubicBezTo>
                  <a:cubicBezTo>
                    <a:pt x="26" y="0"/>
                    <a:pt x="34" y="8"/>
                    <a:pt x="34" y="20"/>
                  </a:cubicBezTo>
                  <a:close/>
                  <a:moveTo>
                    <a:pt x="25" y="20"/>
                  </a:moveTo>
                  <a:cubicBezTo>
                    <a:pt x="25" y="11"/>
                    <a:pt x="21" y="5"/>
                    <a:pt x="17" y="5"/>
                  </a:cubicBezTo>
                  <a:cubicBezTo>
                    <a:pt x="13" y="5"/>
                    <a:pt x="10" y="11"/>
                    <a:pt x="10" y="20"/>
                  </a:cubicBezTo>
                  <a:cubicBezTo>
                    <a:pt x="10" y="28"/>
                    <a:pt x="13" y="34"/>
                    <a:pt x="17" y="34"/>
                  </a:cubicBezTo>
                  <a:cubicBezTo>
                    <a:pt x="21" y="34"/>
                    <a:pt x="25" y="28"/>
                    <a:pt x="25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Freeform 116"/>
            <p:cNvSpPr>
              <a:spLocks/>
            </p:cNvSpPr>
            <p:nvPr/>
          </p:nvSpPr>
          <p:spPr bwMode="auto">
            <a:xfrm flipV="1">
              <a:off x="3797" y="364"/>
              <a:ext cx="40" cy="51"/>
            </a:xfrm>
            <a:custGeom>
              <a:avLst/>
              <a:gdLst>
                <a:gd name="T0" fmla="*/ 39909 w 30"/>
                <a:gd name="T1" fmla="*/ 58838 h 38"/>
                <a:gd name="T2" fmla="*/ 0 w 30"/>
                <a:gd name="T3" fmla="*/ 58838 h 38"/>
                <a:gd name="T4" fmla="*/ 4905 w 30"/>
                <a:gd name="T5" fmla="*/ 51197 h 38"/>
                <a:gd name="T6" fmla="*/ 23967 w 30"/>
                <a:gd name="T7" fmla="*/ 51197 h 38"/>
                <a:gd name="T8" fmla="*/ 17143 w 30"/>
                <a:gd name="T9" fmla="*/ 41353 h 38"/>
                <a:gd name="T10" fmla="*/ 17143 w 30"/>
                <a:gd name="T11" fmla="*/ 0 h 38"/>
                <a:gd name="T12" fmla="*/ 27561 w 30"/>
                <a:gd name="T13" fmla="*/ 12746 h 38"/>
                <a:gd name="T14" fmla="*/ 27561 w 30"/>
                <a:gd name="T15" fmla="*/ 43840 h 38"/>
                <a:gd name="T16" fmla="*/ 35233 w 30"/>
                <a:gd name="T17" fmla="*/ 51197 h 38"/>
                <a:gd name="T18" fmla="*/ 35233 w 30"/>
                <a:gd name="T19" fmla="*/ 51197 h 38"/>
                <a:gd name="T20" fmla="*/ 39909 w 30"/>
                <a:gd name="T21" fmla="*/ 58838 h 3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"/>
                <a:gd name="T34" fmla="*/ 0 h 38"/>
                <a:gd name="T35" fmla="*/ 30 w 30"/>
                <a:gd name="T36" fmla="*/ 38 h 3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" h="38">
                  <a:moveTo>
                    <a:pt x="30" y="38"/>
                  </a:moveTo>
                  <a:lnTo>
                    <a:pt x="0" y="38"/>
                  </a:lnTo>
                  <a:cubicBezTo>
                    <a:pt x="0" y="37"/>
                    <a:pt x="1" y="33"/>
                    <a:pt x="4" y="33"/>
                  </a:cubicBezTo>
                  <a:lnTo>
                    <a:pt x="18" y="33"/>
                  </a:lnTo>
                  <a:cubicBezTo>
                    <a:pt x="16" y="32"/>
                    <a:pt x="13" y="30"/>
                    <a:pt x="13" y="27"/>
                  </a:cubicBezTo>
                  <a:lnTo>
                    <a:pt x="13" y="0"/>
                  </a:lnTo>
                  <a:cubicBezTo>
                    <a:pt x="17" y="0"/>
                    <a:pt x="21" y="3"/>
                    <a:pt x="21" y="8"/>
                  </a:cubicBezTo>
                  <a:lnTo>
                    <a:pt x="21" y="28"/>
                  </a:lnTo>
                  <a:cubicBezTo>
                    <a:pt x="21" y="31"/>
                    <a:pt x="24" y="33"/>
                    <a:pt x="26" y="33"/>
                  </a:cubicBezTo>
                  <a:cubicBezTo>
                    <a:pt x="29" y="33"/>
                    <a:pt x="30" y="36"/>
                    <a:pt x="30" y="3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Freeform 117"/>
            <p:cNvSpPr>
              <a:spLocks/>
            </p:cNvSpPr>
            <p:nvPr/>
          </p:nvSpPr>
          <p:spPr bwMode="auto">
            <a:xfrm flipV="1">
              <a:off x="3843" y="363"/>
              <a:ext cx="23" cy="49"/>
            </a:xfrm>
            <a:custGeom>
              <a:avLst/>
              <a:gdLst>
                <a:gd name="T0" fmla="*/ 32534 w 17"/>
                <a:gd name="T1" fmla="*/ 7110 h 37"/>
                <a:gd name="T2" fmla="*/ 32534 w 17"/>
                <a:gd name="T3" fmla="*/ 28963 h 37"/>
                <a:gd name="T4" fmla="*/ 9352 w 17"/>
                <a:gd name="T5" fmla="*/ 41657 h 37"/>
                <a:gd name="T6" fmla="*/ 0 w 17"/>
                <a:gd name="T7" fmla="*/ 41486 h 37"/>
                <a:gd name="T8" fmla="*/ 6912 w 17"/>
                <a:gd name="T9" fmla="*/ 35859 h 37"/>
                <a:gd name="T10" fmla="*/ 15590 w 17"/>
                <a:gd name="T11" fmla="*/ 28963 h 37"/>
                <a:gd name="T12" fmla="*/ 15590 w 17"/>
                <a:gd name="T13" fmla="*/ 5831 h 37"/>
                <a:gd name="T14" fmla="*/ 6912 w 17"/>
                <a:gd name="T15" fmla="*/ 5831 h 37"/>
                <a:gd name="T16" fmla="*/ 0 w 17"/>
                <a:gd name="T17" fmla="*/ 0 h 37"/>
                <a:gd name="T18" fmla="*/ 21092 w 17"/>
                <a:gd name="T19" fmla="*/ 0 h 37"/>
                <a:gd name="T20" fmla="*/ 32534 w 17"/>
                <a:gd name="T21" fmla="*/ 7110 h 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"/>
                <a:gd name="T34" fmla="*/ 0 h 37"/>
                <a:gd name="T35" fmla="*/ 17 w 17"/>
                <a:gd name="T36" fmla="*/ 37 h 3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" h="37">
                  <a:moveTo>
                    <a:pt x="17" y="6"/>
                  </a:moveTo>
                  <a:lnTo>
                    <a:pt x="17" y="26"/>
                  </a:lnTo>
                  <a:cubicBezTo>
                    <a:pt x="17" y="33"/>
                    <a:pt x="11" y="37"/>
                    <a:pt x="5" y="37"/>
                  </a:cubicBezTo>
                  <a:cubicBezTo>
                    <a:pt x="4" y="37"/>
                    <a:pt x="1" y="37"/>
                    <a:pt x="0" y="36"/>
                  </a:cubicBezTo>
                  <a:cubicBezTo>
                    <a:pt x="1" y="34"/>
                    <a:pt x="3" y="32"/>
                    <a:pt x="4" y="32"/>
                  </a:cubicBezTo>
                  <a:cubicBezTo>
                    <a:pt x="6" y="32"/>
                    <a:pt x="8" y="29"/>
                    <a:pt x="8" y="26"/>
                  </a:cubicBezTo>
                  <a:lnTo>
                    <a:pt x="8" y="5"/>
                  </a:lnTo>
                  <a:lnTo>
                    <a:pt x="4" y="5"/>
                  </a:lnTo>
                  <a:cubicBezTo>
                    <a:pt x="2" y="5"/>
                    <a:pt x="0" y="2"/>
                    <a:pt x="0" y="0"/>
                  </a:cubicBezTo>
                  <a:lnTo>
                    <a:pt x="11" y="0"/>
                  </a:lnTo>
                  <a:cubicBezTo>
                    <a:pt x="15" y="0"/>
                    <a:pt x="17" y="3"/>
                    <a:pt x="17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Freeform 118"/>
            <p:cNvSpPr>
              <a:spLocks noEditPoints="1"/>
            </p:cNvSpPr>
            <p:nvPr/>
          </p:nvSpPr>
          <p:spPr bwMode="auto">
            <a:xfrm flipV="1">
              <a:off x="3875" y="363"/>
              <a:ext cx="39" cy="52"/>
            </a:xfrm>
            <a:custGeom>
              <a:avLst/>
              <a:gdLst>
                <a:gd name="T0" fmla="*/ 46906 w 29"/>
                <a:gd name="T1" fmla="*/ 11276 h 39"/>
                <a:gd name="T2" fmla="*/ 46906 w 29"/>
                <a:gd name="T3" fmla="*/ 29129 h 39"/>
                <a:gd name="T4" fmla="*/ 15554 w 29"/>
                <a:gd name="T5" fmla="*/ 51785 h 39"/>
                <a:gd name="T6" fmla="*/ 0 w 29"/>
                <a:gd name="T7" fmla="*/ 48997 h 39"/>
                <a:gd name="T8" fmla="*/ 6212 w 29"/>
                <a:gd name="T9" fmla="*/ 44231 h 39"/>
                <a:gd name="T10" fmla="*/ 6212 w 29"/>
                <a:gd name="T11" fmla="*/ 44231 h 39"/>
                <a:gd name="T12" fmla="*/ 15109 w 29"/>
                <a:gd name="T13" fmla="*/ 45179 h 39"/>
                <a:gd name="T14" fmla="*/ 34810 w 29"/>
                <a:gd name="T15" fmla="*/ 27561 h 39"/>
                <a:gd name="T16" fmla="*/ 34810 w 29"/>
                <a:gd name="T17" fmla="*/ 0 h 39"/>
                <a:gd name="T18" fmla="*/ 46906 w 29"/>
                <a:gd name="T19" fmla="*/ 11276 h 39"/>
                <a:gd name="T20" fmla="*/ 15109 w 29"/>
                <a:gd name="T21" fmla="*/ 11276 h 39"/>
                <a:gd name="T22" fmla="*/ 15109 w 29"/>
                <a:gd name="T23" fmla="*/ 23967 h 39"/>
                <a:gd name="T24" fmla="*/ 8354 w 29"/>
                <a:gd name="T25" fmla="*/ 30476 h 39"/>
                <a:gd name="T26" fmla="*/ 1 w 29"/>
                <a:gd name="T27" fmla="*/ 23967 h 39"/>
                <a:gd name="T28" fmla="*/ 1 w 29"/>
                <a:gd name="T29" fmla="*/ 0 h 39"/>
                <a:gd name="T30" fmla="*/ 15109 w 29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"/>
                <a:gd name="T49" fmla="*/ 0 h 39"/>
                <a:gd name="T50" fmla="*/ 29 w 29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2"/>
                    <a:pt x="21" y="39"/>
                    <a:pt x="10" y="39"/>
                  </a:cubicBezTo>
                  <a:cubicBezTo>
                    <a:pt x="6" y="39"/>
                    <a:pt x="2" y="38"/>
                    <a:pt x="0" y="37"/>
                  </a:cubicBezTo>
                  <a:cubicBezTo>
                    <a:pt x="0" y="35"/>
                    <a:pt x="2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4"/>
                    <a:pt x="7" y="34"/>
                    <a:pt x="9" y="34"/>
                  </a:cubicBezTo>
                  <a:cubicBezTo>
                    <a:pt x="17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5" y="0"/>
                    <a:pt x="29" y="3"/>
                    <a:pt x="29" y="8"/>
                  </a:cubicBezTo>
                  <a:close/>
                  <a:moveTo>
                    <a:pt x="9" y="8"/>
                  </a:moveTo>
                  <a:lnTo>
                    <a:pt x="9" y="18"/>
                  </a:lnTo>
                  <a:cubicBezTo>
                    <a:pt x="9" y="21"/>
                    <a:pt x="7" y="23"/>
                    <a:pt x="5" y="23"/>
                  </a:cubicBezTo>
                  <a:cubicBezTo>
                    <a:pt x="3" y="23"/>
                    <a:pt x="1" y="21"/>
                    <a:pt x="1" y="18"/>
                  </a:cubicBezTo>
                  <a:lnTo>
                    <a:pt x="1" y="0"/>
                  </a:lnTo>
                  <a:cubicBezTo>
                    <a:pt x="5" y="0"/>
                    <a:pt x="9" y="3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7" name="Freeform 119"/>
            <p:cNvSpPr>
              <a:spLocks/>
            </p:cNvSpPr>
            <p:nvPr/>
          </p:nvSpPr>
          <p:spPr bwMode="auto">
            <a:xfrm flipV="1">
              <a:off x="3923" y="348"/>
              <a:ext cx="35" cy="67"/>
            </a:xfrm>
            <a:custGeom>
              <a:avLst/>
              <a:gdLst>
                <a:gd name="T0" fmla="*/ 43370 w 26"/>
                <a:gd name="T1" fmla="*/ 42277 h 50"/>
                <a:gd name="T2" fmla="*/ 29465 w 26"/>
                <a:gd name="T3" fmla="*/ 56651 h 50"/>
                <a:gd name="T4" fmla="*/ 13728 w 26"/>
                <a:gd name="T5" fmla="*/ 56651 h 50"/>
                <a:gd name="T6" fmla="*/ 13728 w 26"/>
                <a:gd name="T7" fmla="*/ 75707 h 50"/>
                <a:gd name="T8" fmla="*/ 0 w 26"/>
                <a:gd name="T9" fmla="*/ 62185 h 50"/>
                <a:gd name="T10" fmla="*/ 0 w 26"/>
                <a:gd name="T11" fmla="*/ 49560 h 50"/>
                <a:gd name="T12" fmla="*/ 18480 w 26"/>
                <a:gd name="T13" fmla="*/ 49560 h 50"/>
                <a:gd name="T14" fmla="*/ 29786 w 26"/>
                <a:gd name="T15" fmla="*/ 39135 h 50"/>
                <a:gd name="T16" fmla="*/ 13728 w 26"/>
                <a:gd name="T17" fmla="*/ 9786 h 50"/>
                <a:gd name="T18" fmla="*/ 6320 w 26"/>
                <a:gd name="T19" fmla="*/ 0 h 50"/>
                <a:gd name="T20" fmla="*/ 43370 w 26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6"/>
                <a:gd name="T34" fmla="*/ 0 h 50"/>
                <a:gd name="T35" fmla="*/ 26 w 26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6" h="50">
                  <a:moveTo>
                    <a:pt x="26" y="28"/>
                  </a:moveTo>
                  <a:cubicBezTo>
                    <a:pt x="26" y="35"/>
                    <a:pt x="23" y="38"/>
                    <a:pt x="17" y="38"/>
                  </a:cubicBezTo>
                  <a:lnTo>
                    <a:pt x="8" y="38"/>
                  </a:lnTo>
                  <a:lnTo>
                    <a:pt x="8" y="50"/>
                  </a:lnTo>
                  <a:cubicBezTo>
                    <a:pt x="4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3" y="33"/>
                    <a:pt x="18" y="33"/>
                    <a:pt x="18" y="26"/>
                  </a:cubicBezTo>
                  <a:cubicBezTo>
                    <a:pt x="18" y="17"/>
                    <a:pt x="13" y="10"/>
                    <a:pt x="8" y="7"/>
                  </a:cubicBezTo>
                  <a:cubicBezTo>
                    <a:pt x="5" y="6"/>
                    <a:pt x="4" y="4"/>
                    <a:pt x="4" y="0"/>
                  </a:cubicBezTo>
                  <a:cubicBezTo>
                    <a:pt x="12" y="1"/>
                    <a:pt x="26" y="11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8" name="Freeform 120"/>
            <p:cNvSpPr>
              <a:spLocks noEditPoints="1"/>
            </p:cNvSpPr>
            <p:nvPr/>
          </p:nvSpPr>
          <p:spPr bwMode="auto">
            <a:xfrm flipV="1">
              <a:off x="3990" y="363"/>
              <a:ext cx="40" cy="52"/>
            </a:xfrm>
            <a:custGeom>
              <a:avLst/>
              <a:gdLst>
                <a:gd name="T0" fmla="*/ 39909 w 30"/>
                <a:gd name="T1" fmla="*/ 11276 h 39"/>
                <a:gd name="T2" fmla="*/ 39909 w 30"/>
                <a:gd name="T3" fmla="*/ 29129 h 39"/>
                <a:gd name="T4" fmla="*/ 15035 w 30"/>
                <a:gd name="T5" fmla="*/ 51785 h 39"/>
                <a:gd name="T6" fmla="*/ 0 w 30"/>
                <a:gd name="T7" fmla="*/ 48997 h 39"/>
                <a:gd name="T8" fmla="*/ 4905 w 30"/>
                <a:gd name="T9" fmla="*/ 44231 h 39"/>
                <a:gd name="T10" fmla="*/ 6540 w 30"/>
                <a:gd name="T11" fmla="*/ 44231 h 39"/>
                <a:gd name="T12" fmla="*/ 12857 w 30"/>
                <a:gd name="T13" fmla="*/ 45179 h 39"/>
                <a:gd name="T14" fmla="*/ 27561 w 30"/>
                <a:gd name="T15" fmla="*/ 27561 h 39"/>
                <a:gd name="T16" fmla="*/ 27561 w 30"/>
                <a:gd name="T17" fmla="*/ 0 h 39"/>
                <a:gd name="T18" fmla="*/ 39909 w 30"/>
                <a:gd name="T19" fmla="*/ 11276 h 39"/>
                <a:gd name="T20" fmla="*/ 12857 w 30"/>
                <a:gd name="T21" fmla="*/ 11276 h 39"/>
                <a:gd name="T22" fmla="*/ 12857 w 30"/>
                <a:gd name="T23" fmla="*/ 23967 h 39"/>
                <a:gd name="T24" fmla="*/ 8457 w 30"/>
                <a:gd name="T25" fmla="*/ 30476 h 39"/>
                <a:gd name="T26" fmla="*/ 2759 w 30"/>
                <a:gd name="T27" fmla="*/ 23967 h 39"/>
                <a:gd name="T28" fmla="*/ 2759 w 30"/>
                <a:gd name="T29" fmla="*/ 0 h 39"/>
                <a:gd name="T30" fmla="*/ 12857 w 30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0"/>
                <a:gd name="T49" fmla="*/ 0 h 39"/>
                <a:gd name="T50" fmla="*/ 30 w 30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0" h="39">
                  <a:moveTo>
                    <a:pt x="30" y="8"/>
                  </a:moveTo>
                  <a:lnTo>
                    <a:pt x="30" y="22"/>
                  </a:lnTo>
                  <a:cubicBezTo>
                    <a:pt x="30" y="32"/>
                    <a:pt x="22" y="39"/>
                    <a:pt x="11" y="39"/>
                  </a:cubicBezTo>
                  <a:cubicBezTo>
                    <a:pt x="7" y="39"/>
                    <a:pt x="3" y="38"/>
                    <a:pt x="0" y="37"/>
                  </a:cubicBezTo>
                  <a:cubicBezTo>
                    <a:pt x="1" y="35"/>
                    <a:pt x="3" y="33"/>
                    <a:pt x="4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7" y="34"/>
                    <a:pt x="8" y="34"/>
                    <a:pt x="10" y="34"/>
                  </a:cubicBezTo>
                  <a:cubicBezTo>
                    <a:pt x="18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6" y="0"/>
                    <a:pt x="30" y="3"/>
                    <a:pt x="30" y="8"/>
                  </a:cubicBezTo>
                  <a:close/>
                  <a:moveTo>
                    <a:pt x="10" y="8"/>
                  </a:moveTo>
                  <a:lnTo>
                    <a:pt x="10" y="18"/>
                  </a:lnTo>
                  <a:cubicBezTo>
                    <a:pt x="10" y="21"/>
                    <a:pt x="8" y="23"/>
                    <a:pt x="6" y="23"/>
                  </a:cubicBezTo>
                  <a:cubicBezTo>
                    <a:pt x="4" y="23"/>
                    <a:pt x="2" y="21"/>
                    <a:pt x="2" y="18"/>
                  </a:cubicBezTo>
                  <a:lnTo>
                    <a:pt x="2" y="0"/>
                  </a:lnTo>
                  <a:cubicBezTo>
                    <a:pt x="6" y="0"/>
                    <a:pt x="10" y="3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9" name="Freeform 121"/>
            <p:cNvSpPr>
              <a:spLocks/>
            </p:cNvSpPr>
            <p:nvPr/>
          </p:nvSpPr>
          <p:spPr bwMode="auto">
            <a:xfrm flipV="1">
              <a:off x="4039" y="363"/>
              <a:ext cx="42" cy="51"/>
            </a:xfrm>
            <a:custGeom>
              <a:avLst/>
              <a:gdLst>
                <a:gd name="T0" fmla="*/ 28215 w 32"/>
                <a:gd name="T1" fmla="*/ 36619 h 38"/>
                <a:gd name="T2" fmla="*/ 16295 w 32"/>
                <a:gd name="T3" fmla="*/ 58838 h 38"/>
                <a:gd name="T4" fmla="*/ 9459 w 32"/>
                <a:gd name="T5" fmla="*/ 55500 h 38"/>
                <a:gd name="T6" fmla="*/ 13578 w 32"/>
                <a:gd name="T7" fmla="*/ 51197 h 38"/>
                <a:gd name="T8" fmla="*/ 14645 w 32"/>
                <a:gd name="T9" fmla="*/ 51197 h 38"/>
                <a:gd name="T10" fmla="*/ 15281 w 32"/>
                <a:gd name="T11" fmla="*/ 51197 h 38"/>
                <a:gd name="T12" fmla="*/ 20181 w 32"/>
                <a:gd name="T13" fmla="*/ 34738 h 38"/>
                <a:gd name="T14" fmla="*/ 11158 w 32"/>
                <a:gd name="T15" fmla="*/ 7502 h 38"/>
                <a:gd name="T16" fmla="*/ 9459 w 32"/>
                <a:gd name="T17" fmla="*/ 7502 h 38"/>
                <a:gd name="T18" fmla="*/ 7207 w 32"/>
                <a:gd name="T19" fmla="*/ 58838 h 38"/>
                <a:gd name="T20" fmla="*/ 0 w 32"/>
                <a:gd name="T21" fmla="*/ 49147 h 38"/>
                <a:gd name="T22" fmla="*/ 0 w 32"/>
                <a:gd name="T23" fmla="*/ 46622 h 38"/>
                <a:gd name="T24" fmla="*/ 3760 w 32"/>
                <a:gd name="T25" fmla="*/ 0 h 38"/>
                <a:gd name="T26" fmla="*/ 8501 w 32"/>
                <a:gd name="T27" fmla="*/ 0 h 38"/>
                <a:gd name="T28" fmla="*/ 28215 w 32"/>
                <a:gd name="T29" fmla="*/ 36619 h 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2"/>
                <a:gd name="T46" fmla="*/ 0 h 38"/>
                <a:gd name="T47" fmla="*/ 32 w 32"/>
                <a:gd name="T48" fmla="*/ 38 h 3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2" h="38">
                  <a:moveTo>
                    <a:pt x="32" y="23"/>
                  </a:moveTo>
                  <a:cubicBezTo>
                    <a:pt x="32" y="32"/>
                    <a:pt x="26" y="38"/>
                    <a:pt x="18" y="38"/>
                  </a:cubicBezTo>
                  <a:cubicBezTo>
                    <a:pt x="17" y="38"/>
                    <a:pt x="13" y="38"/>
                    <a:pt x="11" y="36"/>
                  </a:cubicBezTo>
                  <a:cubicBezTo>
                    <a:pt x="12" y="34"/>
                    <a:pt x="13" y="33"/>
                    <a:pt x="15" y="33"/>
                  </a:cubicBezTo>
                  <a:cubicBezTo>
                    <a:pt x="15" y="33"/>
                    <a:pt x="16" y="33"/>
                    <a:pt x="16" y="33"/>
                  </a:cubicBezTo>
                  <a:cubicBezTo>
                    <a:pt x="16" y="33"/>
                    <a:pt x="17" y="33"/>
                    <a:pt x="17" y="33"/>
                  </a:cubicBezTo>
                  <a:cubicBezTo>
                    <a:pt x="20" y="33"/>
                    <a:pt x="23" y="29"/>
                    <a:pt x="23" y="22"/>
                  </a:cubicBezTo>
                  <a:cubicBezTo>
                    <a:pt x="23" y="13"/>
                    <a:pt x="18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lnTo>
                    <a:pt x="8" y="38"/>
                  </a:lnTo>
                  <a:cubicBezTo>
                    <a:pt x="3" y="38"/>
                    <a:pt x="0" y="34"/>
                    <a:pt x="0" y="31"/>
                  </a:cubicBezTo>
                  <a:cubicBezTo>
                    <a:pt x="0" y="30"/>
                    <a:pt x="0" y="30"/>
                    <a:pt x="0" y="30"/>
                  </a:cubicBezTo>
                  <a:lnTo>
                    <a:pt x="4" y="0"/>
                  </a:lnTo>
                  <a:cubicBezTo>
                    <a:pt x="6" y="0"/>
                    <a:pt x="8" y="0"/>
                    <a:pt x="9" y="0"/>
                  </a:cubicBezTo>
                  <a:cubicBezTo>
                    <a:pt x="25" y="0"/>
                    <a:pt x="32" y="11"/>
                    <a:pt x="32" y="23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0" name="Freeform 122"/>
            <p:cNvSpPr>
              <a:spLocks/>
            </p:cNvSpPr>
            <p:nvPr/>
          </p:nvSpPr>
          <p:spPr bwMode="auto">
            <a:xfrm flipV="1">
              <a:off x="4089" y="348"/>
              <a:ext cx="36" cy="67"/>
            </a:xfrm>
            <a:custGeom>
              <a:avLst/>
              <a:gdLst>
                <a:gd name="T0" fmla="*/ 35639 w 27"/>
                <a:gd name="T1" fmla="*/ 42277 h 50"/>
                <a:gd name="T2" fmla="*/ 23967 w 27"/>
                <a:gd name="T3" fmla="*/ 56651 h 50"/>
                <a:gd name="T4" fmla="*/ 11627 w 27"/>
                <a:gd name="T5" fmla="*/ 56651 h 50"/>
                <a:gd name="T6" fmla="*/ 11627 w 27"/>
                <a:gd name="T7" fmla="*/ 75707 h 50"/>
                <a:gd name="T8" fmla="*/ 0 w 27"/>
                <a:gd name="T9" fmla="*/ 62185 h 50"/>
                <a:gd name="T10" fmla="*/ 0 w 27"/>
                <a:gd name="T11" fmla="*/ 49560 h 50"/>
                <a:gd name="T12" fmla="*/ 15035 w 27"/>
                <a:gd name="T13" fmla="*/ 49560 h 50"/>
                <a:gd name="T14" fmla="*/ 23967 w 27"/>
                <a:gd name="T15" fmla="*/ 39135 h 50"/>
                <a:gd name="T16" fmla="*/ 11627 w 27"/>
                <a:gd name="T17" fmla="*/ 9786 h 50"/>
                <a:gd name="T18" fmla="*/ 4905 w 27"/>
                <a:gd name="T19" fmla="*/ 0 h 50"/>
                <a:gd name="T20" fmla="*/ 35639 w 27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"/>
                <a:gd name="T34" fmla="*/ 0 h 50"/>
                <a:gd name="T35" fmla="*/ 27 w 27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" h="50">
                  <a:moveTo>
                    <a:pt x="27" y="28"/>
                  </a:moveTo>
                  <a:cubicBezTo>
                    <a:pt x="27" y="35"/>
                    <a:pt x="23" y="38"/>
                    <a:pt x="18" y="38"/>
                  </a:cubicBezTo>
                  <a:lnTo>
                    <a:pt x="9" y="38"/>
                  </a:lnTo>
                  <a:lnTo>
                    <a:pt x="9" y="50"/>
                  </a:lnTo>
                  <a:cubicBezTo>
                    <a:pt x="5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4" y="33"/>
                    <a:pt x="18" y="33"/>
                    <a:pt x="18" y="26"/>
                  </a:cubicBezTo>
                  <a:cubicBezTo>
                    <a:pt x="18" y="17"/>
                    <a:pt x="13" y="10"/>
                    <a:pt x="9" y="7"/>
                  </a:cubicBezTo>
                  <a:cubicBezTo>
                    <a:pt x="6" y="6"/>
                    <a:pt x="4" y="4"/>
                    <a:pt x="4" y="0"/>
                  </a:cubicBezTo>
                  <a:cubicBezTo>
                    <a:pt x="13" y="1"/>
                    <a:pt x="27" y="11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1" name="Freeform 123"/>
            <p:cNvSpPr>
              <a:spLocks/>
            </p:cNvSpPr>
            <p:nvPr/>
          </p:nvSpPr>
          <p:spPr bwMode="auto">
            <a:xfrm flipV="1">
              <a:off x="4134" y="363"/>
              <a:ext cx="12" cy="52"/>
            </a:xfrm>
            <a:custGeom>
              <a:avLst/>
              <a:gdLst>
                <a:gd name="T0" fmla="*/ 11627 w 9"/>
                <a:gd name="T1" fmla="*/ 11276 h 39"/>
                <a:gd name="T2" fmla="*/ 11627 w 9"/>
                <a:gd name="T3" fmla="*/ 45179 h 39"/>
                <a:gd name="T4" fmla="*/ 6540 w 9"/>
                <a:gd name="T5" fmla="*/ 51785 h 39"/>
                <a:gd name="T6" fmla="*/ 0 w 9"/>
                <a:gd name="T7" fmla="*/ 45179 h 39"/>
                <a:gd name="T8" fmla="*/ 0 w 9"/>
                <a:gd name="T9" fmla="*/ 0 h 39"/>
                <a:gd name="T10" fmla="*/ 11627 w 9"/>
                <a:gd name="T11" fmla="*/ 11276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"/>
                <a:gd name="T19" fmla="*/ 0 h 39"/>
                <a:gd name="T20" fmla="*/ 9 w 9"/>
                <a:gd name="T21" fmla="*/ 39 h 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" h="39">
                  <a:moveTo>
                    <a:pt x="9" y="8"/>
                  </a:moveTo>
                  <a:lnTo>
                    <a:pt x="9" y="34"/>
                  </a:lnTo>
                  <a:cubicBezTo>
                    <a:pt x="9" y="37"/>
                    <a:pt x="7" y="39"/>
                    <a:pt x="5" y="39"/>
                  </a:cubicBezTo>
                  <a:cubicBezTo>
                    <a:pt x="2" y="39"/>
                    <a:pt x="0" y="37"/>
                    <a:pt x="0" y="34"/>
                  </a:cubicBezTo>
                  <a:lnTo>
                    <a:pt x="0" y="0"/>
                  </a:lnTo>
                  <a:cubicBezTo>
                    <a:pt x="6" y="0"/>
                    <a:pt x="9" y="5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2" name="Freeform 124"/>
            <p:cNvSpPr>
              <a:spLocks/>
            </p:cNvSpPr>
            <p:nvPr/>
          </p:nvSpPr>
          <p:spPr bwMode="auto">
            <a:xfrm flipV="1">
              <a:off x="4154" y="364"/>
              <a:ext cx="46" cy="66"/>
            </a:xfrm>
            <a:custGeom>
              <a:avLst/>
              <a:gdLst>
                <a:gd name="T0" fmla="*/ 64729 w 34"/>
                <a:gd name="T1" fmla="*/ 59488 h 49"/>
                <a:gd name="T2" fmla="*/ 36761 w 34"/>
                <a:gd name="T3" fmla="*/ 84254 h 49"/>
                <a:gd name="T4" fmla="*/ 0 w 34"/>
                <a:gd name="T5" fmla="*/ 84254 h 49"/>
                <a:gd name="T6" fmla="*/ 9352 w 34"/>
                <a:gd name="T7" fmla="*/ 74395 h 49"/>
                <a:gd name="T8" fmla="*/ 15590 w 34"/>
                <a:gd name="T9" fmla="*/ 74395 h 49"/>
                <a:gd name="T10" fmla="*/ 5109 w 34"/>
                <a:gd name="T11" fmla="*/ 55233 h 49"/>
                <a:gd name="T12" fmla="*/ 5109 w 34"/>
                <a:gd name="T13" fmla="*/ 0 h 49"/>
                <a:gd name="T14" fmla="*/ 21092 w 34"/>
                <a:gd name="T15" fmla="*/ 13977 h 49"/>
                <a:gd name="T16" fmla="*/ 21092 w 34"/>
                <a:gd name="T17" fmla="*/ 58799 h 49"/>
                <a:gd name="T18" fmla="*/ 32534 w 34"/>
                <a:gd name="T19" fmla="*/ 74395 h 49"/>
                <a:gd name="T20" fmla="*/ 47843 w 34"/>
                <a:gd name="T21" fmla="*/ 58799 h 49"/>
                <a:gd name="T22" fmla="*/ 32916 w 34"/>
                <a:gd name="T23" fmla="*/ 32789 h 49"/>
                <a:gd name="T24" fmla="*/ 27171 w 34"/>
                <a:gd name="T25" fmla="*/ 22304 h 49"/>
                <a:gd name="T26" fmla="*/ 27171 w 34"/>
                <a:gd name="T27" fmla="*/ 22304 h 49"/>
                <a:gd name="T28" fmla="*/ 64729 w 34"/>
                <a:gd name="T29" fmla="*/ 59488 h 4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4"/>
                <a:gd name="T46" fmla="*/ 0 h 49"/>
                <a:gd name="T47" fmla="*/ 34 w 34"/>
                <a:gd name="T48" fmla="*/ 49 h 49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4" h="49">
                  <a:moveTo>
                    <a:pt x="34" y="35"/>
                  </a:moveTo>
                  <a:cubicBezTo>
                    <a:pt x="34" y="43"/>
                    <a:pt x="28" y="49"/>
                    <a:pt x="19" y="49"/>
                  </a:cubicBezTo>
                  <a:lnTo>
                    <a:pt x="0" y="49"/>
                  </a:lnTo>
                  <a:cubicBezTo>
                    <a:pt x="0" y="47"/>
                    <a:pt x="2" y="44"/>
                    <a:pt x="5" y="44"/>
                  </a:cubicBezTo>
                  <a:lnTo>
                    <a:pt x="8" y="44"/>
                  </a:lnTo>
                  <a:cubicBezTo>
                    <a:pt x="5" y="43"/>
                    <a:pt x="3" y="39"/>
                    <a:pt x="3" y="33"/>
                  </a:cubicBezTo>
                  <a:lnTo>
                    <a:pt x="3" y="0"/>
                  </a:lnTo>
                  <a:cubicBezTo>
                    <a:pt x="8" y="0"/>
                    <a:pt x="11" y="4"/>
                    <a:pt x="11" y="8"/>
                  </a:cubicBezTo>
                  <a:lnTo>
                    <a:pt x="11" y="34"/>
                  </a:lnTo>
                  <a:cubicBezTo>
                    <a:pt x="11" y="42"/>
                    <a:pt x="14" y="44"/>
                    <a:pt x="17" y="44"/>
                  </a:cubicBezTo>
                  <a:cubicBezTo>
                    <a:pt x="21" y="44"/>
                    <a:pt x="25" y="41"/>
                    <a:pt x="25" y="34"/>
                  </a:cubicBezTo>
                  <a:cubicBezTo>
                    <a:pt x="25" y="25"/>
                    <a:pt x="21" y="21"/>
                    <a:pt x="18" y="19"/>
                  </a:cubicBezTo>
                  <a:cubicBezTo>
                    <a:pt x="15" y="18"/>
                    <a:pt x="14" y="16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23" y="14"/>
                    <a:pt x="34" y="22"/>
                    <a:pt x="34" y="3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3" name="Freeform 125"/>
            <p:cNvSpPr>
              <a:spLocks/>
            </p:cNvSpPr>
            <p:nvPr/>
          </p:nvSpPr>
          <p:spPr bwMode="auto">
            <a:xfrm flipV="1">
              <a:off x="4209" y="363"/>
              <a:ext cx="41" cy="51"/>
            </a:xfrm>
            <a:custGeom>
              <a:avLst/>
              <a:gdLst>
                <a:gd name="T0" fmla="*/ 33320 w 31"/>
                <a:gd name="T1" fmla="*/ 30812 h 38"/>
                <a:gd name="T2" fmla="*/ 15995 w 31"/>
                <a:gd name="T3" fmla="*/ 58838 h 38"/>
                <a:gd name="T4" fmla="*/ 0 w 31"/>
                <a:gd name="T5" fmla="*/ 36619 h 38"/>
                <a:gd name="T6" fmla="*/ 9144 w 31"/>
                <a:gd name="T7" fmla="*/ 18135 h 38"/>
                <a:gd name="T8" fmla="*/ 10015 w 31"/>
                <a:gd name="T9" fmla="*/ 18135 h 38"/>
                <a:gd name="T10" fmla="*/ 13349 w 31"/>
                <a:gd name="T11" fmla="*/ 22958 h 38"/>
                <a:gd name="T12" fmla="*/ 9144 w 31"/>
                <a:gd name="T13" fmla="*/ 37800 h 38"/>
                <a:gd name="T14" fmla="*/ 15995 w 31"/>
                <a:gd name="T15" fmla="*/ 51197 h 38"/>
                <a:gd name="T16" fmla="*/ 23350 w 31"/>
                <a:gd name="T17" fmla="*/ 30812 h 38"/>
                <a:gd name="T18" fmla="*/ 13246 w 31"/>
                <a:gd name="T19" fmla="*/ 7502 h 38"/>
                <a:gd name="T20" fmla="*/ 7572 w 31"/>
                <a:gd name="T21" fmla="*/ 9497 h 38"/>
                <a:gd name="T22" fmla="*/ 6914 w 31"/>
                <a:gd name="T23" fmla="*/ 9497 h 38"/>
                <a:gd name="T24" fmla="*/ 2475 w 31"/>
                <a:gd name="T25" fmla="*/ 4165 h 38"/>
                <a:gd name="T26" fmla="*/ 13349 w 31"/>
                <a:gd name="T27" fmla="*/ 0 h 38"/>
                <a:gd name="T28" fmla="*/ 33320 w 31"/>
                <a:gd name="T29" fmla="*/ 30812 h 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1"/>
                <a:gd name="T46" fmla="*/ 0 h 38"/>
                <a:gd name="T47" fmla="*/ 31 w 31"/>
                <a:gd name="T48" fmla="*/ 38 h 3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1" h="38">
                  <a:moveTo>
                    <a:pt x="31" y="20"/>
                  </a:moveTo>
                  <a:cubicBezTo>
                    <a:pt x="31" y="31"/>
                    <a:pt x="26" y="38"/>
                    <a:pt x="15" y="38"/>
                  </a:cubicBezTo>
                  <a:cubicBezTo>
                    <a:pt x="5" y="38"/>
                    <a:pt x="0" y="32"/>
                    <a:pt x="0" y="23"/>
                  </a:cubicBezTo>
                  <a:cubicBezTo>
                    <a:pt x="0" y="18"/>
                    <a:pt x="4" y="13"/>
                    <a:pt x="8" y="12"/>
                  </a:cubicBezTo>
                  <a:cubicBezTo>
                    <a:pt x="8" y="12"/>
                    <a:pt x="8" y="12"/>
                    <a:pt x="9" y="12"/>
                  </a:cubicBezTo>
                  <a:cubicBezTo>
                    <a:pt x="10" y="12"/>
                    <a:pt x="12" y="13"/>
                    <a:pt x="13" y="15"/>
                  </a:cubicBezTo>
                  <a:cubicBezTo>
                    <a:pt x="10" y="16"/>
                    <a:pt x="8" y="19"/>
                    <a:pt x="8" y="24"/>
                  </a:cubicBezTo>
                  <a:cubicBezTo>
                    <a:pt x="8" y="31"/>
                    <a:pt x="11" y="33"/>
                    <a:pt x="15" y="33"/>
                  </a:cubicBezTo>
                  <a:cubicBezTo>
                    <a:pt x="18" y="33"/>
                    <a:pt x="22" y="29"/>
                    <a:pt x="22" y="20"/>
                  </a:cubicBezTo>
                  <a:cubicBezTo>
                    <a:pt x="22" y="11"/>
                    <a:pt x="18" y="5"/>
                    <a:pt x="12" y="5"/>
                  </a:cubicBezTo>
                  <a:cubicBezTo>
                    <a:pt x="10" y="5"/>
                    <a:pt x="9" y="5"/>
                    <a:pt x="7" y="6"/>
                  </a:cubicBezTo>
                  <a:cubicBezTo>
                    <a:pt x="7" y="6"/>
                    <a:pt x="7" y="6"/>
                    <a:pt x="6" y="6"/>
                  </a:cubicBezTo>
                  <a:cubicBezTo>
                    <a:pt x="5" y="6"/>
                    <a:pt x="3" y="5"/>
                    <a:pt x="2" y="3"/>
                  </a:cubicBezTo>
                  <a:cubicBezTo>
                    <a:pt x="4" y="1"/>
                    <a:pt x="8" y="0"/>
                    <a:pt x="13" y="0"/>
                  </a:cubicBezTo>
                  <a:cubicBezTo>
                    <a:pt x="23" y="0"/>
                    <a:pt x="31" y="7"/>
                    <a:pt x="31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4" name="Freeform 126"/>
            <p:cNvSpPr>
              <a:spLocks noEditPoints="1"/>
            </p:cNvSpPr>
            <p:nvPr/>
          </p:nvSpPr>
          <p:spPr bwMode="auto">
            <a:xfrm flipV="1">
              <a:off x="4259" y="363"/>
              <a:ext cx="39" cy="52"/>
            </a:xfrm>
            <a:custGeom>
              <a:avLst/>
              <a:gdLst>
                <a:gd name="T0" fmla="*/ 46906 w 29"/>
                <a:gd name="T1" fmla="*/ 11276 h 39"/>
                <a:gd name="T2" fmla="*/ 46906 w 29"/>
                <a:gd name="T3" fmla="*/ 29129 h 39"/>
                <a:gd name="T4" fmla="*/ 17974 w 29"/>
                <a:gd name="T5" fmla="*/ 51785 h 39"/>
                <a:gd name="T6" fmla="*/ 0 w 29"/>
                <a:gd name="T7" fmla="*/ 48997 h 39"/>
                <a:gd name="T8" fmla="*/ 6212 w 29"/>
                <a:gd name="T9" fmla="*/ 44231 h 39"/>
                <a:gd name="T10" fmla="*/ 6212 w 29"/>
                <a:gd name="T11" fmla="*/ 44231 h 39"/>
                <a:gd name="T12" fmla="*/ 15109 w 29"/>
                <a:gd name="T13" fmla="*/ 45179 h 39"/>
                <a:gd name="T14" fmla="*/ 34810 w 29"/>
                <a:gd name="T15" fmla="*/ 27561 h 39"/>
                <a:gd name="T16" fmla="*/ 34810 w 29"/>
                <a:gd name="T17" fmla="*/ 0 h 39"/>
                <a:gd name="T18" fmla="*/ 46906 w 29"/>
                <a:gd name="T19" fmla="*/ 11276 h 39"/>
                <a:gd name="T20" fmla="*/ 15109 w 29"/>
                <a:gd name="T21" fmla="*/ 11276 h 39"/>
                <a:gd name="T22" fmla="*/ 15109 w 29"/>
                <a:gd name="T23" fmla="*/ 23967 h 39"/>
                <a:gd name="T24" fmla="*/ 8354 w 29"/>
                <a:gd name="T25" fmla="*/ 30476 h 39"/>
                <a:gd name="T26" fmla="*/ 1 w 29"/>
                <a:gd name="T27" fmla="*/ 23967 h 39"/>
                <a:gd name="T28" fmla="*/ 1 w 29"/>
                <a:gd name="T29" fmla="*/ 0 h 39"/>
                <a:gd name="T30" fmla="*/ 15109 w 29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"/>
                <a:gd name="T49" fmla="*/ 0 h 39"/>
                <a:gd name="T50" fmla="*/ 29 w 29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2"/>
                    <a:pt x="21" y="39"/>
                    <a:pt x="11" y="39"/>
                  </a:cubicBezTo>
                  <a:cubicBezTo>
                    <a:pt x="6" y="39"/>
                    <a:pt x="2" y="38"/>
                    <a:pt x="0" y="37"/>
                  </a:cubicBezTo>
                  <a:cubicBezTo>
                    <a:pt x="0" y="35"/>
                    <a:pt x="2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4"/>
                    <a:pt x="7" y="34"/>
                    <a:pt x="9" y="34"/>
                  </a:cubicBezTo>
                  <a:cubicBezTo>
                    <a:pt x="17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5" y="0"/>
                    <a:pt x="29" y="3"/>
                    <a:pt x="29" y="8"/>
                  </a:cubicBezTo>
                  <a:close/>
                  <a:moveTo>
                    <a:pt x="9" y="8"/>
                  </a:moveTo>
                  <a:lnTo>
                    <a:pt x="9" y="18"/>
                  </a:lnTo>
                  <a:cubicBezTo>
                    <a:pt x="9" y="21"/>
                    <a:pt x="7" y="23"/>
                    <a:pt x="5" y="23"/>
                  </a:cubicBezTo>
                  <a:cubicBezTo>
                    <a:pt x="3" y="23"/>
                    <a:pt x="1" y="21"/>
                    <a:pt x="1" y="18"/>
                  </a:cubicBezTo>
                  <a:lnTo>
                    <a:pt x="1" y="0"/>
                  </a:lnTo>
                  <a:cubicBezTo>
                    <a:pt x="5" y="0"/>
                    <a:pt x="9" y="3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5" name="Freeform 127"/>
            <p:cNvSpPr>
              <a:spLocks/>
            </p:cNvSpPr>
            <p:nvPr/>
          </p:nvSpPr>
          <p:spPr bwMode="auto">
            <a:xfrm flipV="1">
              <a:off x="3764" y="675"/>
              <a:ext cx="38" cy="41"/>
            </a:xfrm>
            <a:custGeom>
              <a:avLst/>
              <a:gdLst>
                <a:gd name="T0" fmla="*/ 25097 w 29"/>
                <a:gd name="T1" fmla="*/ 6914 h 31"/>
                <a:gd name="T2" fmla="*/ 25097 w 29"/>
                <a:gd name="T3" fmla="*/ 19881 h 31"/>
                <a:gd name="T4" fmla="*/ 12076 w 29"/>
                <a:gd name="T5" fmla="*/ 33320 h 31"/>
                <a:gd name="T6" fmla="*/ 2792 w 29"/>
                <a:gd name="T7" fmla="*/ 30882 h 31"/>
                <a:gd name="T8" fmla="*/ 4793 w 29"/>
                <a:gd name="T9" fmla="*/ 29402 h 31"/>
                <a:gd name="T10" fmla="*/ 4793 w 29"/>
                <a:gd name="T11" fmla="*/ 29402 h 31"/>
                <a:gd name="T12" fmla="*/ 4793 w 29"/>
                <a:gd name="T13" fmla="*/ 5725 h 31"/>
                <a:gd name="T14" fmla="*/ 2792 w 29"/>
                <a:gd name="T15" fmla="*/ 2475 h 31"/>
                <a:gd name="T16" fmla="*/ 2131 w 29"/>
                <a:gd name="T17" fmla="*/ 2475 h 31"/>
                <a:gd name="T18" fmla="*/ 2131 w 29"/>
                <a:gd name="T19" fmla="*/ 3273 h 31"/>
                <a:gd name="T20" fmla="*/ 0 w 29"/>
                <a:gd name="T21" fmla="*/ 1 h 31"/>
                <a:gd name="T22" fmla="*/ 2792 w 29"/>
                <a:gd name="T23" fmla="*/ 0 h 31"/>
                <a:gd name="T24" fmla="*/ 8229 w 29"/>
                <a:gd name="T25" fmla="*/ 6914 h 31"/>
                <a:gd name="T26" fmla="*/ 8229 w 29"/>
                <a:gd name="T27" fmla="*/ 30644 h 31"/>
                <a:gd name="T28" fmla="*/ 11155 w 29"/>
                <a:gd name="T29" fmla="*/ 30882 h 31"/>
                <a:gd name="T30" fmla="*/ 20735 w 29"/>
                <a:gd name="T31" fmla="*/ 19881 h 31"/>
                <a:gd name="T32" fmla="*/ 20735 w 29"/>
                <a:gd name="T33" fmla="*/ 0 h 31"/>
                <a:gd name="T34" fmla="*/ 25097 w 29"/>
                <a:gd name="T35" fmla="*/ 6914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"/>
                <a:gd name="T55" fmla="*/ 0 h 31"/>
                <a:gd name="T56" fmla="*/ 29 w 29"/>
                <a:gd name="T57" fmla="*/ 31 h 3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" h="31">
                  <a:moveTo>
                    <a:pt x="29" y="6"/>
                  </a:moveTo>
                  <a:lnTo>
                    <a:pt x="29" y="18"/>
                  </a:lnTo>
                  <a:cubicBezTo>
                    <a:pt x="29" y="26"/>
                    <a:pt x="22" y="31"/>
                    <a:pt x="14" y="31"/>
                  </a:cubicBezTo>
                  <a:cubicBezTo>
                    <a:pt x="10" y="31"/>
                    <a:pt x="6" y="30"/>
                    <a:pt x="3" y="29"/>
                  </a:cubicBezTo>
                  <a:cubicBezTo>
                    <a:pt x="3" y="28"/>
                    <a:pt x="4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5"/>
                  </a:lnTo>
                  <a:cubicBezTo>
                    <a:pt x="5" y="3"/>
                    <a:pt x="4" y="2"/>
                    <a:pt x="3" y="2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8" y="0"/>
                    <a:pt x="9" y="2"/>
                    <a:pt x="9" y="6"/>
                  </a:cubicBezTo>
                  <a:lnTo>
                    <a:pt x="9" y="28"/>
                  </a:lnTo>
                  <a:cubicBezTo>
                    <a:pt x="10" y="29"/>
                    <a:pt x="12" y="29"/>
                    <a:pt x="13" y="29"/>
                  </a:cubicBezTo>
                  <a:cubicBezTo>
                    <a:pt x="19" y="29"/>
                    <a:pt x="24" y="25"/>
                    <a:pt x="24" y="18"/>
                  </a:cubicBezTo>
                  <a:lnTo>
                    <a:pt x="24" y="0"/>
                  </a:lnTo>
                  <a:cubicBezTo>
                    <a:pt x="28" y="0"/>
                    <a:pt x="29" y="2"/>
                    <a:pt x="29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6" name="Freeform 128"/>
            <p:cNvSpPr>
              <a:spLocks/>
            </p:cNvSpPr>
            <p:nvPr/>
          </p:nvSpPr>
          <p:spPr bwMode="auto">
            <a:xfrm flipV="1">
              <a:off x="3810" y="675"/>
              <a:ext cx="29" cy="41"/>
            </a:xfrm>
            <a:custGeom>
              <a:avLst/>
              <a:gdLst>
                <a:gd name="T0" fmla="*/ 21975 w 22"/>
                <a:gd name="T1" fmla="*/ 5725 h 31"/>
                <a:gd name="T2" fmla="*/ 21975 w 22"/>
                <a:gd name="T3" fmla="*/ 19881 h 31"/>
                <a:gd name="T4" fmla="*/ 8559 w 22"/>
                <a:gd name="T5" fmla="*/ 33320 h 31"/>
                <a:gd name="T6" fmla="*/ 0 w 22"/>
                <a:gd name="T7" fmla="*/ 30882 h 31"/>
                <a:gd name="T8" fmla="*/ 2353 w 22"/>
                <a:gd name="T9" fmla="*/ 30644 h 31"/>
                <a:gd name="T10" fmla="*/ 3102 w 22"/>
                <a:gd name="T11" fmla="*/ 30644 h 31"/>
                <a:gd name="T12" fmla="*/ 7105 w 22"/>
                <a:gd name="T13" fmla="*/ 30882 h 31"/>
                <a:gd name="T14" fmla="*/ 16671 w 22"/>
                <a:gd name="T15" fmla="*/ 17655 h 31"/>
                <a:gd name="T16" fmla="*/ 16671 w 22"/>
                <a:gd name="T17" fmla="*/ 0 h 31"/>
                <a:gd name="T18" fmla="*/ 21975 w 22"/>
                <a:gd name="T19" fmla="*/ 572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"/>
                <a:gd name="T31" fmla="*/ 0 h 31"/>
                <a:gd name="T32" fmla="*/ 22 w 22"/>
                <a:gd name="T33" fmla="*/ 31 h 3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" h="31">
                  <a:moveTo>
                    <a:pt x="22" y="5"/>
                  </a:moveTo>
                  <a:lnTo>
                    <a:pt x="22" y="18"/>
                  </a:lnTo>
                  <a:cubicBezTo>
                    <a:pt x="22" y="27"/>
                    <a:pt x="16" y="31"/>
                    <a:pt x="8" y="31"/>
                  </a:cubicBezTo>
                  <a:cubicBezTo>
                    <a:pt x="5" y="31"/>
                    <a:pt x="1" y="30"/>
                    <a:pt x="0" y="29"/>
                  </a:cubicBezTo>
                  <a:cubicBezTo>
                    <a:pt x="0" y="28"/>
                    <a:pt x="1" y="28"/>
                    <a:pt x="2" y="28"/>
                  </a:cubicBezTo>
                  <a:cubicBezTo>
                    <a:pt x="2" y="28"/>
                    <a:pt x="3" y="28"/>
                    <a:pt x="3" y="28"/>
                  </a:cubicBezTo>
                  <a:cubicBezTo>
                    <a:pt x="4" y="28"/>
                    <a:pt x="5" y="29"/>
                    <a:pt x="7" y="29"/>
                  </a:cubicBezTo>
                  <a:cubicBezTo>
                    <a:pt x="14" y="29"/>
                    <a:pt x="17" y="24"/>
                    <a:pt x="17" y="17"/>
                  </a:cubicBezTo>
                  <a:lnTo>
                    <a:pt x="17" y="0"/>
                  </a:lnTo>
                  <a:cubicBezTo>
                    <a:pt x="19" y="0"/>
                    <a:pt x="22" y="1"/>
                    <a:pt x="22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7" name="Freeform 129"/>
            <p:cNvSpPr>
              <a:spLocks/>
            </p:cNvSpPr>
            <p:nvPr/>
          </p:nvSpPr>
          <p:spPr bwMode="auto">
            <a:xfrm flipV="1">
              <a:off x="3850" y="675"/>
              <a:ext cx="5" cy="41"/>
            </a:xfrm>
            <a:custGeom>
              <a:avLst/>
              <a:gdLst>
                <a:gd name="T0" fmla="*/ 890 w 4"/>
                <a:gd name="T1" fmla="*/ 5725 h 31"/>
                <a:gd name="T2" fmla="*/ 890 w 4"/>
                <a:gd name="T3" fmla="*/ 30644 h 31"/>
                <a:gd name="T4" fmla="*/ 570 w 4"/>
                <a:gd name="T5" fmla="*/ 33320 h 31"/>
                <a:gd name="T6" fmla="*/ 0 w 4"/>
                <a:gd name="T7" fmla="*/ 30644 h 31"/>
                <a:gd name="T8" fmla="*/ 0 w 4"/>
                <a:gd name="T9" fmla="*/ 0 h 31"/>
                <a:gd name="T10" fmla="*/ 890 w 4"/>
                <a:gd name="T11" fmla="*/ 5725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31"/>
                <a:gd name="T20" fmla="*/ 4 w 4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31">
                  <a:moveTo>
                    <a:pt x="4" y="5"/>
                  </a:moveTo>
                  <a:lnTo>
                    <a:pt x="4" y="28"/>
                  </a:lnTo>
                  <a:cubicBezTo>
                    <a:pt x="4" y="30"/>
                    <a:pt x="3" y="31"/>
                    <a:pt x="2" y="31"/>
                  </a:cubicBezTo>
                  <a:cubicBezTo>
                    <a:pt x="1" y="31"/>
                    <a:pt x="0" y="30"/>
                    <a:pt x="0" y="28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8" name="Freeform 130"/>
            <p:cNvSpPr>
              <a:spLocks noEditPoints="1"/>
            </p:cNvSpPr>
            <p:nvPr/>
          </p:nvSpPr>
          <p:spPr bwMode="auto">
            <a:xfrm flipV="1">
              <a:off x="3866" y="675"/>
              <a:ext cx="37" cy="41"/>
            </a:xfrm>
            <a:custGeom>
              <a:avLst/>
              <a:gdLst>
                <a:gd name="T0" fmla="*/ 17274 w 28"/>
                <a:gd name="T1" fmla="*/ 19881 h 31"/>
                <a:gd name="T2" fmla="*/ 17274 w 28"/>
                <a:gd name="T3" fmla="*/ 33320 h 31"/>
                <a:gd name="T4" fmla="*/ 13072 w 28"/>
                <a:gd name="T5" fmla="*/ 27979 h 31"/>
                <a:gd name="T6" fmla="*/ 13072 w 28"/>
                <a:gd name="T7" fmla="*/ 13246 h 31"/>
                <a:gd name="T8" fmla="*/ 17274 w 28"/>
                <a:gd name="T9" fmla="*/ 19881 h 31"/>
                <a:gd name="T10" fmla="*/ 30163 w 28"/>
                <a:gd name="T11" fmla="*/ 21155 h 31"/>
                <a:gd name="T12" fmla="*/ 30163 w 28"/>
                <a:gd name="T13" fmla="*/ 33320 h 31"/>
                <a:gd name="T14" fmla="*/ 25876 w 28"/>
                <a:gd name="T15" fmla="*/ 27979 h 31"/>
                <a:gd name="T16" fmla="*/ 25876 w 28"/>
                <a:gd name="T17" fmla="*/ 20762 h 31"/>
                <a:gd name="T18" fmla="*/ 8900 w 28"/>
                <a:gd name="T19" fmla="*/ 3273 h 31"/>
                <a:gd name="T20" fmla="*/ 7486 w 28"/>
                <a:gd name="T21" fmla="*/ 3273 h 31"/>
                <a:gd name="T22" fmla="*/ 4287 w 28"/>
                <a:gd name="T23" fmla="*/ 33320 h 31"/>
                <a:gd name="T24" fmla="*/ 0 w 28"/>
                <a:gd name="T25" fmla="*/ 27459 h 31"/>
                <a:gd name="T26" fmla="*/ 0 w 28"/>
                <a:gd name="T27" fmla="*/ 26294 h 31"/>
                <a:gd name="T28" fmla="*/ 3244 w 28"/>
                <a:gd name="T29" fmla="*/ 1 h 31"/>
                <a:gd name="T30" fmla="*/ 7486 w 28"/>
                <a:gd name="T31" fmla="*/ 0 h 31"/>
                <a:gd name="T32" fmla="*/ 30163 w 28"/>
                <a:gd name="T33" fmla="*/ 21155 h 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"/>
                <a:gd name="T52" fmla="*/ 0 h 31"/>
                <a:gd name="T53" fmla="*/ 28 w 28"/>
                <a:gd name="T54" fmla="*/ 31 h 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" h="31">
                  <a:moveTo>
                    <a:pt x="16" y="18"/>
                  </a:moveTo>
                  <a:lnTo>
                    <a:pt x="16" y="31"/>
                  </a:lnTo>
                  <a:cubicBezTo>
                    <a:pt x="13" y="31"/>
                    <a:pt x="12" y="29"/>
                    <a:pt x="12" y="26"/>
                  </a:cubicBezTo>
                  <a:lnTo>
                    <a:pt x="12" y="12"/>
                  </a:lnTo>
                  <a:cubicBezTo>
                    <a:pt x="15" y="13"/>
                    <a:pt x="16" y="16"/>
                    <a:pt x="16" y="18"/>
                  </a:cubicBezTo>
                  <a:close/>
                  <a:moveTo>
                    <a:pt x="28" y="20"/>
                  </a:moveTo>
                  <a:lnTo>
                    <a:pt x="28" y="31"/>
                  </a:lnTo>
                  <a:cubicBezTo>
                    <a:pt x="25" y="31"/>
                    <a:pt x="24" y="29"/>
                    <a:pt x="24" y="26"/>
                  </a:cubicBezTo>
                  <a:lnTo>
                    <a:pt x="24" y="19"/>
                  </a:lnTo>
                  <a:cubicBezTo>
                    <a:pt x="24" y="10"/>
                    <a:pt x="16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5"/>
                  </a:cubicBezTo>
                  <a:cubicBezTo>
                    <a:pt x="0" y="25"/>
                    <a:pt x="0" y="24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8" y="9"/>
                    <a:pt x="28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9" name="Freeform 131"/>
            <p:cNvSpPr>
              <a:spLocks/>
            </p:cNvSpPr>
            <p:nvPr/>
          </p:nvSpPr>
          <p:spPr bwMode="auto">
            <a:xfrm flipV="1">
              <a:off x="3912" y="675"/>
              <a:ext cx="35" cy="53"/>
            </a:xfrm>
            <a:custGeom>
              <a:avLst/>
              <a:gdLst>
                <a:gd name="T0" fmla="*/ 43370 w 26"/>
                <a:gd name="T1" fmla="*/ 31650 h 40"/>
                <a:gd name="T2" fmla="*/ 23933 w 26"/>
                <a:gd name="T3" fmla="*/ 45273 h 40"/>
                <a:gd name="T4" fmla="*/ 0 w 26"/>
                <a:gd name="T5" fmla="*/ 45273 h 40"/>
                <a:gd name="T6" fmla="*/ 4695 w 26"/>
                <a:gd name="T7" fmla="*/ 41936 h 40"/>
                <a:gd name="T8" fmla="*/ 11453 w 26"/>
                <a:gd name="T9" fmla="*/ 41936 h 40"/>
                <a:gd name="T10" fmla="*/ 1 w 26"/>
                <a:gd name="T11" fmla="*/ 29117 h 40"/>
                <a:gd name="T12" fmla="*/ 1 w 26"/>
                <a:gd name="T13" fmla="*/ 0 h 40"/>
                <a:gd name="T14" fmla="*/ 10198 w 26"/>
                <a:gd name="T15" fmla="*/ 5849 h 40"/>
                <a:gd name="T16" fmla="*/ 10198 w 26"/>
                <a:gd name="T17" fmla="*/ 31617 h 40"/>
                <a:gd name="T18" fmla="*/ 22127 w 26"/>
                <a:gd name="T19" fmla="*/ 41936 h 40"/>
                <a:gd name="T20" fmla="*/ 37610 w 26"/>
                <a:gd name="T21" fmla="*/ 31617 h 40"/>
                <a:gd name="T22" fmla="*/ 23933 w 26"/>
                <a:gd name="T23" fmla="*/ 16124 h 40"/>
                <a:gd name="T24" fmla="*/ 18480 w 26"/>
                <a:gd name="T25" fmla="*/ 11085 h 40"/>
                <a:gd name="T26" fmla="*/ 43370 w 26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"/>
                <a:gd name="T43" fmla="*/ 0 h 40"/>
                <a:gd name="T44" fmla="*/ 26 w 26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" h="40">
                  <a:moveTo>
                    <a:pt x="26" y="28"/>
                  </a:moveTo>
                  <a:cubicBezTo>
                    <a:pt x="26" y="34"/>
                    <a:pt x="22" y="40"/>
                    <a:pt x="14" y="40"/>
                  </a:cubicBezTo>
                  <a:lnTo>
                    <a:pt x="0" y="40"/>
                  </a:lnTo>
                  <a:cubicBezTo>
                    <a:pt x="0" y="38"/>
                    <a:pt x="1" y="37"/>
                    <a:pt x="3" y="37"/>
                  </a:cubicBezTo>
                  <a:lnTo>
                    <a:pt x="7" y="37"/>
                  </a:lnTo>
                  <a:cubicBezTo>
                    <a:pt x="5" y="36"/>
                    <a:pt x="1" y="32"/>
                    <a:pt x="1" y="26"/>
                  </a:cubicBezTo>
                  <a:lnTo>
                    <a:pt x="1" y="0"/>
                  </a:lnTo>
                  <a:cubicBezTo>
                    <a:pt x="5" y="0"/>
                    <a:pt x="6" y="3"/>
                    <a:pt x="6" y="5"/>
                  </a:cubicBezTo>
                  <a:lnTo>
                    <a:pt x="6" y="27"/>
                  </a:lnTo>
                  <a:cubicBezTo>
                    <a:pt x="6" y="33"/>
                    <a:pt x="9" y="37"/>
                    <a:pt x="13" y="37"/>
                  </a:cubicBezTo>
                  <a:cubicBezTo>
                    <a:pt x="19" y="37"/>
                    <a:pt x="22" y="32"/>
                    <a:pt x="22" y="27"/>
                  </a:cubicBezTo>
                  <a:cubicBezTo>
                    <a:pt x="22" y="20"/>
                    <a:pt x="18" y="16"/>
                    <a:pt x="14" y="14"/>
                  </a:cubicBezTo>
                  <a:cubicBezTo>
                    <a:pt x="12" y="13"/>
                    <a:pt x="11" y="12"/>
                    <a:pt x="11" y="10"/>
                  </a:cubicBezTo>
                  <a:cubicBezTo>
                    <a:pt x="17" y="11"/>
                    <a:pt x="26" y="17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0" name="Freeform 132"/>
            <p:cNvSpPr>
              <a:spLocks/>
            </p:cNvSpPr>
            <p:nvPr/>
          </p:nvSpPr>
          <p:spPr bwMode="auto">
            <a:xfrm flipV="1">
              <a:off x="3954" y="675"/>
              <a:ext cx="38" cy="41"/>
            </a:xfrm>
            <a:custGeom>
              <a:avLst/>
              <a:gdLst>
                <a:gd name="T0" fmla="*/ 25097 w 29"/>
                <a:gd name="T1" fmla="*/ 6914 h 31"/>
                <a:gd name="T2" fmla="*/ 25097 w 29"/>
                <a:gd name="T3" fmla="*/ 19881 h 31"/>
                <a:gd name="T4" fmla="*/ 12076 w 29"/>
                <a:gd name="T5" fmla="*/ 33320 h 31"/>
                <a:gd name="T6" fmla="*/ 2792 w 29"/>
                <a:gd name="T7" fmla="*/ 30882 h 31"/>
                <a:gd name="T8" fmla="*/ 4793 w 29"/>
                <a:gd name="T9" fmla="*/ 29402 h 31"/>
                <a:gd name="T10" fmla="*/ 4793 w 29"/>
                <a:gd name="T11" fmla="*/ 29402 h 31"/>
                <a:gd name="T12" fmla="*/ 4793 w 29"/>
                <a:gd name="T13" fmla="*/ 5725 h 31"/>
                <a:gd name="T14" fmla="*/ 2792 w 29"/>
                <a:gd name="T15" fmla="*/ 2475 h 31"/>
                <a:gd name="T16" fmla="*/ 2131 w 29"/>
                <a:gd name="T17" fmla="*/ 2475 h 31"/>
                <a:gd name="T18" fmla="*/ 2131 w 29"/>
                <a:gd name="T19" fmla="*/ 3273 h 31"/>
                <a:gd name="T20" fmla="*/ 0 w 29"/>
                <a:gd name="T21" fmla="*/ 1 h 31"/>
                <a:gd name="T22" fmla="*/ 2792 w 29"/>
                <a:gd name="T23" fmla="*/ 0 h 31"/>
                <a:gd name="T24" fmla="*/ 8229 w 29"/>
                <a:gd name="T25" fmla="*/ 6914 h 31"/>
                <a:gd name="T26" fmla="*/ 8229 w 29"/>
                <a:gd name="T27" fmla="*/ 30644 h 31"/>
                <a:gd name="T28" fmla="*/ 11155 w 29"/>
                <a:gd name="T29" fmla="*/ 30882 h 31"/>
                <a:gd name="T30" fmla="*/ 20735 w 29"/>
                <a:gd name="T31" fmla="*/ 19881 h 31"/>
                <a:gd name="T32" fmla="*/ 20735 w 29"/>
                <a:gd name="T33" fmla="*/ 0 h 31"/>
                <a:gd name="T34" fmla="*/ 25097 w 29"/>
                <a:gd name="T35" fmla="*/ 6914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"/>
                <a:gd name="T55" fmla="*/ 0 h 31"/>
                <a:gd name="T56" fmla="*/ 29 w 29"/>
                <a:gd name="T57" fmla="*/ 31 h 3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" h="31">
                  <a:moveTo>
                    <a:pt x="29" y="6"/>
                  </a:moveTo>
                  <a:lnTo>
                    <a:pt x="29" y="18"/>
                  </a:lnTo>
                  <a:cubicBezTo>
                    <a:pt x="29" y="26"/>
                    <a:pt x="22" y="31"/>
                    <a:pt x="14" y="31"/>
                  </a:cubicBezTo>
                  <a:cubicBezTo>
                    <a:pt x="10" y="31"/>
                    <a:pt x="6" y="30"/>
                    <a:pt x="3" y="29"/>
                  </a:cubicBezTo>
                  <a:cubicBezTo>
                    <a:pt x="3" y="28"/>
                    <a:pt x="4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5"/>
                  </a:lnTo>
                  <a:cubicBezTo>
                    <a:pt x="5" y="3"/>
                    <a:pt x="4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1" y="0"/>
                    <a:pt x="3" y="0"/>
                  </a:cubicBezTo>
                  <a:cubicBezTo>
                    <a:pt x="7" y="0"/>
                    <a:pt x="9" y="2"/>
                    <a:pt x="9" y="6"/>
                  </a:cubicBezTo>
                  <a:lnTo>
                    <a:pt x="9" y="28"/>
                  </a:lnTo>
                  <a:cubicBezTo>
                    <a:pt x="10" y="29"/>
                    <a:pt x="12" y="29"/>
                    <a:pt x="13" y="29"/>
                  </a:cubicBezTo>
                  <a:cubicBezTo>
                    <a:pt x="19" y="29"/>
                    <a:pt x="24" y="25"/>
                    <a:pt x="24" y="18"/>
                  </a:cubicBezTo>
                  <a:lnTo>
                    <a:pt x="24" y="0"/>
                  </a:lnTo>
                  <a:cubicBezTo>
                    <a:pt x="27" y="0"/>
                    <a:pt x="29" y="2"/>
                    <a:pt x="29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1" name="Freeform 133"/>
            <p:cNvSpPr>
              <a:spLocks noEditPoints="1"/>
            </p:cNvSpPr>
            <p:nvPr/>
          </p:nvSpPr>
          <p:spPr bwMode="auto">
            <a:xfrm flipV="1">
              <a:off x="3768" y="581"/>
              <a:ext cx="33" cy="40"/>
            </a:xfrm>
            <a:custGeom>
              <a:avLst/>
              <a:gdLst>
                <a:gd name="T0" fmla="*/ 26316 w 25"/>
                <a:gd name="T1" fmla="*/ 3679 h 30"/>
                <a:gd name="T2" fmla="*/ 26316 w 25"/>
                <a:gd name="T3" fmla="*/ 20671 h 30"/>
                <a:gd name="T4" fmla="*/ 9651 w 25"/>
                <a:gd name="T5" fmla="*/ 39909 h 30"/>
                <a:gd name="T6" fmla="*/ 0 w 25"/>
                <a:gd name="T7" fmla="*/ 36748 h 30"/>
                <a:gd name="T8" fmla="*/ 0 w 25"/>
                <a:gd name="T9" fmla="*/ 0 h 30"/>
                <a:gd name="T10" fmla="*/ 22196 w 25"/>
                <a:gd name="T11" fmla="*/ 0 h 30"/>
                <a:gd name="T12" fmla="*/ 26316 w 25"/>
                <a:gd name="T13" fmla="*/ 3679 h 30"/>
                <a:gd name="T14" fmla="*/ 20188 w 25"/>
                <a:gd name="T15" fmla="*/ 3679 h 30"/>
                <a:gd name="T16" fmla="*/ 4196 w 25"/>
                <a:gd name="T17" fmla="*/ 3679 h 30"/>
                <a:gd name="T18" fmla="*/ 4196 w 25"/>
                <a:gd name="T19" fmla="*/ 35639 h 30"/>
                <a:gd name="T20" fmla="*/ 8777 w 25"/>
                <a:gd name="T21" fmla="*/ 36748 h 30"/>
                <a:gd name="T22" fmla="*/ 20188 w 25"/>
                <a:gd name="T23" fmla="*/ 20671 h 30"/>
                <a:gd name="T24" fmla="*/ 20188 w 25"/>
                <a:gd name="T25" fmla="*/ 3679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5"/>
                <a:gd name="T40" fmla="*/ 0 h 30"/>
                <a:gd name="T41" fmla="*/ 25 w 25"/>
                <a:gd name="T42" fmla="*/ 30 h 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5" h="30">
                  <a:moveTo>
                    <a:pt x="25" y="3"/>
                  </a:moveTo>
                  <a:lnTo>
                    <a:pt x="25" y="16"/>
                  </a:lnTo>
                  <a:cubicBezTo>
                    <a:pt x="25" y="25"/>
                    <a:pt x="18" y="30"/>
                    <a:pt x="9" y="30"/>
                  </a:cubicBezTo>
                  <a:cubicBezTo>
                    <a:pt x="5" y="30"/>
                    <a:pt x="1" y="29"/>
                    <a:pt x="0" y="28"/>
                  </a:cubicBezTo>
                  <a:lnTo>
                    <a:pt x="0" y="0"/>
                  </a:lnTo>
                  <a:lnTo>
                    <a:pt x="21" y="0"/>
                  </a:lnTo>
                  <a:cubicBezTo>
                    <a:pt x="22" y="0"/>
                    <a:pt x="24" y="1"/>
                    <a:pt x="25" y="3"/>
                  </a:cubicBezTo>
                  <a:close/>
                  <a:moveTo>
                    <a:pt x="20" y="3"/>
                  </a:moveTo>
                  <a:lnTo>
                    <a:pt x="4" y="3"/>
                  </a:lnTo>
                  <a:lnTo>
                    <a:pt x="4" y="27"/>
                  </a:lnTo>
                  <a:cubicBezTo>
                    <a:pt x="5" y="28"/>
                    <a:pt x="7" y="28"/>
                    <a:pt x="8" y="28"/>
                  </a:cubicBezTo>
                  <a:cubicBezTo>
                    <a:pt x="14" y="28"/>
                    <a:pt x="20" y="24"/>
                    <a:pt x="20" y="16"/>
                  </a:cubicBezTo>
                  <a:lnTo>
                    <a:pt x="20" y="3"/>
                  </a:ln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2" name="Freeform 134"/>
            <p:cNvSpPr>
              <a:spLocks/>
            </p:cNvSpPr>
            <p:nvPr/>
          </p:nvSpPr>
          <p:spPr bwMode="auto">
            <a:xfrm flipV="1">
              <a:off x="3812" y="581"/>
              <a:ext cx="5" cy="24"/>
            </a:xfrm>
            <a:custGeom>
              <a:avLst/>
              <a:gdLst>
                <a:gd name="T0" fmla="*/ 890 w 4"/>
                <a:gd name="T1" fmla="*/ 6540 h 18"/>
                <a:gd name="T2" fmla="*/ 890 w 4"/>
                <a:gd name="T3" fmla="*/ 20047 h 18"/>
                <a:gd name="T4" fmla="*/ 570 w 4"/>
                <a:gd name="T5" fmla="*/ 23967 h 18"/>
                <a:gd name="T6" fmla="*/ 0 w 4"/>
                <a:gd name="T7" fmla="*/ 20047 h 18"/>
                <a:gd name="T8" fmla="*/ 0 w 4"/>
                <a:gd name="T9" fmla="*/ 0 h 18"/>
                <a:gd name="T10" fmla="*/ 890 w 4"/>
                <a:gd name="T11" fmla="*/ 654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18"/>
                <a:gd name="T20" fmla="*/ 4 w 4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18">
                  <a:moveTo>
                    <a:pt x="4" y="5"/>
                  </a:moveTo>
                  <a:lnTo>
                    <a:pt x="4" y="15"/>
                  </a:lnTo>
                  <a:cubicBezTo>
                    <a:pt x="4" y="17"/>
                    <a:pt x="3" y="18"/>
                    <a:pt x="2" y="18"/>
                  </a:cubicBezTo>
                  <a:cubicBezTo>
                    <a:pt x="1" y="18"/>
                    <a:pt x="0" y="17"/>
                    <a:pt x="0" y="15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3" name="Freeform 135"/>
            <p:cNvSpPr>
              <a:spLocks/>
            </p:cNvSpPr>
            <p:nvPr/>
          </p:nvSpPr>
          <p:spPr bwMode="auto">
            <a:xfrm flipV="1">
              <a:off x="3825" y="581"/>
              <a:ext cx="34" cy="40"/>
            </a:xfrm>
            <a:custGeom>
              <a:avLst/>
              <a:gdLst>
                <a:gd name="T0" fmla="*/ 21143 w 26"/>
                <a:gd name="T1" fmla="*/ 2759 h 30"/>
                <a:gd name="T2" fmla="*/ 19995 w 26"/>
                <a:gd name="T3" fmla="*/ 2759 h 30"/>
                <a:gd name="T4" fmla="*/ 18722 w 26"/>
                <a:gd name="T5" fmla="*/ 3679 h 30"/>
                <a:gd name="T6" fmla="*/ 18722 w 26"/>
                <a:gd name="T7" fmla="*/ 22857 h 30"/>
                <a:gd name="T8" fmla="*/ 7458 w 26"/>
                <a:gd name="T9" fmla="*/ 39909 h 30"/>
                <a:gd name="T10" fmla="*/ 1 w 26"/>
                <a:gd name="T11" fmla="*/ 36748 h 30"/>
                <a:gd name="T12" fmla="*/ 2550 w 26"/>
                <a:gd name="T13" fmla="*/ 35639 h 30"/>
                <a:gd name="T14" fmla="*/ 3335 w 26"/>
                <a:gd name="T15" fmla="*/ 35639 h 30"/>
                <a:gd name="T16" fmla="*/ 6191 w 26"/>
                <a:gd name="T17" fmla="*/ 36748 h 30"/>
                <a:gd name="T18" fmla="*/ 15290 w 26"/>
                <a:gd name="T19" fmla="*/ 20671 h 30"/>
                <a:gd name="T20" fmla="*/ 15290 w 26"/>
                <a:gd name="T21" fmla="*/ 2759 h 30"/>
                <a:gd name="T22" fmla="*/ 2550 w 26"/>
                <a:gd name="T23" fmla="*/ 2759 h 30"/>
                <a:gd name="T24" fmla="*/ 0 w 26"/>
                <a:gd name="T25" fmla="*/ 0 h 30"/>
                <a:gd name="T26" fmla="*/ 19995 w 26"/>
                <a:gd name="T27" fmla="*/ 0 h 30"/>
                <a:gd name="T28" fmla="*/ 21143 w 26"/>
                <a:gd name="T29" fmla="*/ 2759 h 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6"/>
                <a:gd name="T46" fmla="*/ 0 h 30"/>
                <a:gd name="T47" fmla="*/ 26 w 26"/>
                <a:gd name="T48" fmla="*/ 30 h 3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6" h="30">
                  <a:moveTo>
                    <a:pt x="26" y="2"/>
                  </a:moveTo>
                  <a:lnTo>
                    <a:pt x="24" y="2"/>
                  </a:lnTo>
                  <a:cubicBezTo>
                    <a:pt x="23" y="2"/>
                    <a:pt x="23" y="3"/>
                    <a:pt x="23" y="3"/>
                  </a:cubicBezTo>
                  <a:lnTo>
                    <a:pt x="23" y="17"/>
                  </a:lnTo>
                  <a:cubicBezTo>
                    <a:pt x="23" y="26"/>
                    <a:pt x="17" y="30"/>
                    <a:pt x="9" y="30"/>
                  </a:cubicBezTo>
                  <a:cubicBezTo>
                    <a:pt x="6" y="30"/>
                    <a:pt x="3" y="29"/>
                    <a:pt x="1" y="28"/>
                  </a:cubicBezTo>
                  <a:cubicBezTo>
                    <a:pt x="1" y="27"/>
                    <a:pt x="2" y="27"/>
                    <a:pt x="3" y="27"/>
                  </a:cubicBezTo>
                  <a:cubicBezTo>
                    <a:pt x="3" y="27"/>
                    <a:pt x="4" y="27"/>
                    <a:pt x="4" y="27"/>
                  </a:cubicBezTo>
                  <a:cubicBezTo>
                    <a:pt x="5" y="27"/>
                    <a:pt x="7" y="28"/>
                    <a:pt x="8" y="28"/>
                  </a:cubicBezTo>
                  <a:cubicBezTo>
                    <a:pt x="15" y="28"/>
                    <a:pt x="18" y="23"/>
                    <a:pt x="18" y="16"/>
                  </a:cubicBezTo>
                  <a:lnTo>
                    <a:pt x="18" y="2"/>
                  </a:lnTo>
                  <a:lnTo>
                    <a:pt x="3" y="2"/>
                  </a:lnTo>
                  <a:cubicBezTo>
                    <a:pt x="2" y="2"/>
                    <a:pt x="0" y="2"/>
                    <a:pt x="0" y="0"/>
                  </a:cubicBezTo>
                  <a:lnTo>
                    <a:pt x="24" y="0"/>
                  </a:lnTo>
                  <a:cubicBezTo>
                    <a:pt x="25" y="0"/>
                    <a:pt x="26" y="1"/>
                    <a:pt x="26" y="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4" name="Freeform 136"/>
            <p:cNvSpPr>
              <a:spLocks noEditPoints="1"/>
            </p:cNvSpPr>
            <p:nvPr/>
          </p:nvSpPr>
          <p:spPr bwMode="auto">
            <a:xfrm flipV="1">
              <a:off x="3867" y="581"/>
              <a:ext cx="37" cy="42"/>
            </a:xfrm>
            <a:custGeom>
              <a:avLst/>
              <a:gdLst>
                <a:gd name="T0" fmla="*/ 17274 w 28"/>
                <a:gd name="T1" fmla="*/ 35961 h 31"/>
                <a:gd name="T2" fmla="*/ 17274 w 28"/>
                <a:gd name="T3" fmla="*/ 61353 h 31"/>
                <a:gd name="T4" fmla="*/ 13072 w 28"/>
                <a:gd name="T5" fmla="*/ 51245 h 31"/>
                <a:gd name="T6" fmla="*/ 13072 w 28"/>
                <a:gd name="T7" fmla="*/ 24413 h 31"/>
                <a:gd name="T8" fmla="*/ 17274 w 28"/>
                <a:gd name="T9" fmla="*/ 35961 h 31"/>
                <a:gd name="T10" fmla="*/ 30163 w 28"/>
                <a:gd name="T11" fmla="*/ 39970 h 31"/>
                <a:gd name="T12" fmla="*/ 30163 w 28"/>
                <a:gd name="T13" fmla="*/ 61353 h 31"/>
                <a:gd name="T14" fmla="*/ 24544 w 28"/>
                <a:gd name="T15" fmla="*/ 51245 h 31"/>
                <a:gd name="T16" fmla="*/ 24544 w 28"/>
                <a:gd name="T17" fmla="*/ 37824 h 31"/>
                <a:gd name="T18" fmla="*/ 8900 w 28"/>
                <a:gd name="T19" fmla="*/ 5348 h 31"/>
                <a:gd name="T20" fmla="*/ 7486 w 28"/>
                <a:gd name="T21" fmla="*/ 5348 h 31"/>
                <a:gd name="T22" fmla="*/ 4287 w 28"/>
                <a:gd name="T23" fmla="*/ 61353 h 31"/>
                <a:gd name="T24" fmla="*/ 0 w 28"/>
                <a:gd name="T25" fmla="*/ 51245 h 31"/>
                <a:gd name="T26" fmla="*/ 0 w 28"/>
                <a:gd name="T27" fmla="*/ 48721 h 31"/>
                <a:gd name="T28" fmla="*/ 3244 w 28"/>
                <a:gd name="T29" fmla="*/ 1 h 31"/>
                <a:gd name="T30" fmla="*/ 7486 w 28"/>
                <a:gd name="T31" fmla="*/ 0 h 31"/>
                <a:gd name="T32" fmla="*/ 30163 w 28"/>
                <a:gd name="T33" fmla="*/ 39970 h 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"/>
                <a:gd name="T52" fmla="*/ 0 h 31"/>
                <a:gd name="T53" fmla="*/ 28 w 28"/>
                <a:gd name="T54" fmla="*/ 31 h 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" h="31">
                  <a:moveTo>
                    <a:pt x="16" y="18"/>
                  </a:moveTo>
                  <a:lnTo>
                    <a:pt x="16" y="31"/>
                  </a:lnTo>
                  <a:cubicBezTo>
                    <a:pt x="13" y="31"/>
                    <a:pt x="12" y="29"/>
                    <a:pt x="12" y="26"/>
                  </a:cubicBezTo>
                  <a:lnTo>
                    <a:pt x="12" y="12"/>
                  </a:lnTo>
                  <a:cubicBezTo>
                    <a:pt x="15" y="13"/>
                    <a:pt x="16" y="16"/>
                    <a:pt x="16" y="18"/>
                  </a:cubicBezTo>
                  <a:close/>
                  <a:moveTo>
                    <a:pt x="28" y="20"/>
                  </a:moveTo>
                  <a:lnTo>
                    <a:pt x="28" y="31"/>
                  </a:lnTo>
                  <a:cubicBezTo>
                    <a:pt x="25" y="31"/>
                    <a:pt x="23" y="29"/>
                    <a:pt x="23" y="26"/>
                  </a:cubicBezTo>
                  <a:lnTo>
                    <a:pt x="23" y="19"/>
                  </a:lnTo>
                  <a:cubicBezTo>
                    <a:pt x="23" y="10"/>
                    <a:pt x="16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6"/>
                  </a:cubicBezTo>
                  <a:cubicBezTo>
                    <a:pt x="0" y="25"/>
                    <a:pt x="0" y="24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8" y="9"/>
                    <a:pt x="28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5" name="Freeform 137"/>
            <p:cNvSpPr>
              <a:spLocks/>
            </p:cNvSpPr>
            <p:nvPr/>
          </p:nvSpPr>
          <p:spPr bwMode="auto">
            <a:xfrm flipV="1">
              <a:off x="3915" y="581"/>
              <a:ext cx="32" cy="42"/>
            </a:xfrm>
            <a:custGeom>
              <a:avLst/>
              <a:gdLst>
                <a:gd name="T0" fmla="*/ 31956 w 24"/>
                <a:gd name="T1" fmla="*/ 9817 h 31"/>
                <a:gd name="T2" fmla="*/ 31956 w 24"/>
                <a:gd name="T3" fmla="*/ 35961 h 31"/>
                <a:gd name="T4" fmla="*/ 11627 w 24"/>
                <a:gd name="T5" fmla="*/ 61353 h 31"/>
                <a:gd name="T6" fmla="*/ 0 w 24"/>
                <a:gd name="T7" fmla="*/ 57711 h 31"/>
                <a:gd name="T8" fmla="*/ 0 w 24"/>
                <a:gd name="T9" fmla="*/ 0 h 31"/>
                <a:gd name="T10" fmla="*/ 4905 w 24"/>
                <a:gd name="T11" fmla="*/ 9817 h 31"/>
                <a:gd name="T12" fmla="*/ 4905 w 24"/>
                <a:gd name="T13" fmla="*/ 54779 h 31"/>
                <a:gd name="T14" fmla="*/ 11276 w 24"/>
                <a:gd name="T15" fmla="*/ 57711 h 31"/>
                <a:gd name="T16" fmla="*/ 24880 w 24"/>
                <a:gd name="T17" fmla="*/ 33424 h 31"/>
                <a:gd name="T18" fmla="*/ 24880 w 24"/>
                <a:gd name="T19" fmla="*/ 0 h 31"/>
                <a:gd name="T20" fmla="*/ 31956 w 24"/>
                <a:gd name="T21" fmla="*/ 9817 h 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31"/>
                <a:gd name="T35" fmla="*/ 24 w 24"/>
                <a:gd name="T36" fmla="*/ 31 h 3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31">
                  <a:moveTo>
                    <a:pt x="24" y="5"/>
                  </a:moveTo>
                  <a:lnTo>
                    <a:pt x="24" y="18"/>
                  </a:lnTo>
                  <a:cubicBezTo>
                    <a:pt x="24" y="26"/>
                    <a:pt x="17" y="31"/>
                    <a:pt x="9" y="31"/>
                  </a:cubicBezTo>
                  <a:cubicBezTo>
                    <a:pt x="5" y="31"/>
                    <a:pt x="2" y="30"/>
                    <a:pt x="0" y="29"/>
                  </a:cubicBezTo>
                  <a:lnTo>
                    <a:pt x="0" y="0"/>
                  </a:lnTo>
                  <a:cubicBezTo>
                    <a:pt x="2" y="0"/>
                    <a:pt x="4" y="1"/>
                    <a:pt x="4" y="5"/>
                  </a:cubicBezTo>
                  <a:lnTo>
                    <a:pt x="4" y="28"/>
                  </a:lnTo>
                  <a:cubicBezTo>
                    <a:pt x="5" y="28"/>
                    <a:pt x="6" y="29"/>
                    <a:pt x="8" y="29"/>
                  </a:cubicBezTo>
                  <a:cubicBezTo>
                    <a:pt x="14" y="29"/>
                    <a:pt x="19" y="24"/>
                    <a:pt x="19" y="17"/>
                  </a:cubicBezTo>
                  <a:lnTo>
                    <a:pt x="19" y="0"/>
                  </a:lnTo>
                  <a:cubicBezTo>
                    <a:pt x="22" y="0"/>
                    <a:pt x="24" y="2"/>
                    <a:pt x="2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6" name="Freeform 138"/>
            <p:cNvSpPr>
              <a:spLocks/>
            </p:cNvSpPr>
            <p:nvPr/>
          </p:nvSpPr>
          <p:spPr bwMode="auto">
            <a:xfrm flipV="1">
              <a:off x="3956" y="581"/>
              <a:ext cx="36" cy="42"/>
            </a:xfrm>
            <a:custGeom>
              <a:avLst/>
              <a:gdLst>
                <a:gd name="T0" fmla="*/ 35639 w 27"/>
                <a:gd name="T1" fmla="*/ 33076 h 31"/>
                <a:gd name="T2" fmla="*/ 20047 w 27"/>
                <a:gd name="T3" fmla="*/ 61353 h 31"/>
                <a:gd name="T4" fmla="*/ 8457 w 27"/>
                <a:gd name="T5" fmla="*/ 51245 h 31"/>
                <a:gd name="T6" fmla="*/ 0 w 27"/>
                <a:gd name="T7" fmla="*/ 61353 h 31"/>
                <a:gd name="T8" fmla="*/ 0 w 27"/>
                <a:gd name="T9" fmla="*/ 60714 h 31"/>
                <a:gd name="T10" fmla="*/ 1 w 27"/>
                <a:gd name="T11" fmla="*/ 54153 h 31"/>
                <a:gd name="T12" fmla="*/ 2759 w 27"/>
                <a:gd name="T13" fmla="*/ 51245 h 31"/>
                <a:gd name="T14" fmla="*/ 3679 w 27"/>
                <a:gd name="T15" fmla="*/ 44813 h 31"/>
                <a:gd name="T16" fmla="*/ 2759 w 27"/>
                <a:gd name="T17" fmla="*/ 39970 h 31"/>
                <a:gd name="T18" fmla="*/ 0 w 27"/>
                <a:gd name="T19" fmla="*/ 0 h 31"/>
                <a:gd name="T20" fmla="*/ 1 w 27"/>
                <a:gd name="T21" fmla="*/ 0 h 31"/>
                <a:gd name="T22" fmla="*/ 6540 w 27"/>
                <a:gd name="T23" fmla="*/ 9817 h 31"/>
                <a:gd name="T24" fmla="*/ 8720 w 27"/>
                <a:gd name="T25" fmla="*/ 40432 h 31"/>
                <a:gd name="T26" fmla="*/ 18660 w 27"/>
                <a:gd name="T27" fmla="*/ 54779 h 31"/>
                <a:gd name="T28" fmla="*/ 29129 w 27"/>
                <a:gd name="T29" fmla="*/ 33076 h 31"/>
                <a:gd name="T30" fmla="*/ 15503 w 27"/>
                <a:gd name="T31" fmla="*/ 5348 h 31"/>
                <a:gd name="T32" fmla="*/ 11627 w 27"/>
                <a:gd name="T33" fmla="*/ 5348 h 31"/>
                <a:gd name="T34" fmla="*/ 8720 w 27"/>
                <a:gd name="T35" fmla="*/ 1 h 31"/>
                <a:gd name="T36" fmla="*/ 17143 w 27"/>
                <a:gd name="T37" fmla="*/ 0 h 31"/>
                <a:gd name="T38" fmla="*/ 17143 w 27"/>
                <a:gd name="T39" fmla="*/ 0 h 31"/>
                <a:gd name="T40" fmla="*/ 35639 w 27"/>
                <a:gd name="T41" fmla="*/ 33076 h 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7"/>
                <a:gd name="T64" fmla="*/ 0 h 31"/>
                <a:gd name="T65" fmla="*/ 27 w 27"/>
                <a:gd name="T66" fmla="*/ 31 h 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7" h="31">
                  <a:moveTo>
                    <a:pt x="27" y="16"/>
                  </a:moveTo>
                  <a:cubicBezTo>
                    <a:pt x="27" y="25"/>
                    <a:pt x="22" y="31"/>
                    <a:pt x="15" y="31"/>
                  </a:cubicBezTo>
                  <a:cubicBezTo>
                    <a:pt x="11" y="31"/>
                    <a:pt x="8" y="29"/>
                    <a:pt x="6" y="26"/>
                  </a:cubicBezTo>
                  <a:cubicBezTo>
                    <a:pt x="4" y="28"/>
                    <a:pt x="2" y="30"/>
                    <a:pt x="0" y="31"/>
                  </a:cubicBezTo>
                  <a:cubicBezTo>
                    <a:pt x="0" y="31"/>
                    <a:pt x="0" y="30"/>
                    <a:pt x="0" y="30"/>
                  </a:cubicBezTo>
                  <a:cubicBezTo>
                    <a:pt x="0" y="29"/>
                    <a:pt x="0" y="28"/>
                    <a:pt x="1" y="27"/>
                  </a:cubicBezTo>
                  <a:lnTo>
                    <a:pt x="2" y="26"/>
                  </a:lnTo>
                  <a:cubicBezTo>
                    <a:pt x="3" y="25"/>
                    <a:pt x="3" y="24"/>
                    <a:pt x="3" y="22"/>
                  </a:cubicBezTo>
                  <a:cubicBezTo>
                    <a:pt x="3" y="22"/>
                    <a:pt x="3" y="21"/>
                    <a:pt x="2" y="20"/>
                  </a:cubicBezTo>
                  <a:lnTo>
                    <a:pt x="0" y="0"/>
                  </a:lnTo>
                  <a:cubicBezTo>
                    <a:pt x="0" y="0"/>
                    <a:pt x="1" y="0"/>
                    <a:pt x="1" y="0"/>
                  </a:cubicBezTo>
                  <a:cubicBezTo>
                    <a:pt x="3" y="0"/>
                    <a:pt x="4" y="2"/>
                    <a:pt x="5" y="5"/>
                  </a:cubicBezTo>
                  <a:lnTo>
                    <a:pt x="7" y="21"/>
                  </a:lnTo>
                  <a:cubicBezTo>
                    <a:pt x="8" y="26"/>
                    <a:pt x="11" y="28"/>
                    <a:pt x="14" y="28"/>
                  </a:cubicBezTo>
                  <a:cubicBezTo>
                    <a:pt x="19" y="28"/>
                    <a:pt x="22" y="24"/>
                    <a:pt x="22" y="16"/>
                  </a:cubicBezTo>
                  <a:cubicBezTo>
                    <a:pt x="22" y="9"/>
                    <a:pt x="18" y="3"/>
                    <a:pt x="12" y="3"/>
                  </a:cubicBezTo>
                  <a:cubicBezTo>
                    <a:pt x="11" y="3"/>
                    <a:pt x="10" y="3"/>
                    <a:pt x="9" y="3"/>
                  </a:cubicBezTo>
                  <a:cubicBezTo>
                    <a:pt x="9" y="3"/>
                    <a:pt x="8" y="3"/>
                    <a:pt x="7" y="1"/>
                  </a:cubicBezTo>
                  <a:cubicBezTo>
                    <a:pt x="8" y="1"/>
                    <a:pt x="1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0"/>
                    <a:pt x="27" y="6"/>
                    <a:pt x="27" y="1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7" name="Freeform 139"/>
            <p:cNvSpPr>
              <a:spLocks noEditPoints="1"/>
            </p:cNvSpPr>
            <p:nvPr/>
          </p:nvSpPr>
          <p:spPr bwMode="auto">
            <a:xfrm flipV="1">
              <a:off x="3653" y="488"/>
              <a:ext cx="32" cy="41"/>
            </a:xfrm>
            <a:custGeom>
              <a:avLst/>
              <a:gdLst>
                <a:gd name="T0" fmla="*/ 31956 w 24"/>
                <a:gd name="T1" fmla="*/ 5725 h 31"/>
                <a:gd name="T2" fmla="*/ 31956 w 24"/>
                <a:gd name="T3" fmla="*/ 19881 h 31"/>
                <a:gd name="T4" fmla="*/ 11627 w 24"/>
                <a:gd name="T5" fmla="*/ 33320 h 31"/>
                <a:gd name="T6" fmla="*/ 0 w 24"/>
                <a:gd name="T7" fmla="*/ 30882 h 31"/>
                <a:gd name="T8" fmla="*/ 3679 w 24"/>
                <a:gd name="T9" fmla="*/ 30644 h 31"/>
                <a:gd name="T10" fmla="*/ 4905 w 24"/>
                <a:gd name="T11" fmla="*/ 30644 h 31"/>
                <a:gd name="T12" fmla="*/ 11276 w 24"/>
                <a:gd name="T13" fmla="*/ 30882 h 31"/>
                <a:gd name="T14" fmla="*/ 26729 w 24"/>
                <a:gd name="T15" fmla="*/ 17655 h 31"/>
                <a:gd name="T16" fmla="*/ 26729 w 24"/>
                <a:gd name="T17" fmla="*/ 0 h 31"/>
                <a:gd name="T18" fmla="*/ 31956 w 24"/>
                <a:gd name="T19" fmla="*/ 5725 h 31"/>
                <a:gd name="T20" fmla="*/ 6540 w 24"/>
                <a:gd name="T21" fmla="*/ 5725 h 31"/>
                <a:gd name="T22" fmla="*/ 6540 w 24"/>
                <a:gd name="T23" fmla="*/ 15995 h 31"/>
                <a:gd name="T24" fmla="*/ 3679 w 24"/>
                <a:gd name="T25" fmla="*/ 19881 h 31"/>
                <a:gd name="T26" fmla="*/ 1 w 24"/>
                <a:gd name="T27" fmla="*/ 15995 h 31"/>
                <a:gd name="T28" fmla="*/ 1 w 24"/>
                <a:gd name="T29" fmla="*/ 0 h 31"/>
                <a:gd name="T30" fmla="*/ 6540 w 24"/>
                <a:gd name="T31" fmla="*/ 5725 h 3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4"/>
                <a:gd name="T49" fmla="*/ 0 h 31"/>
                <a:gd name="T50" fmla="*/ 24 w 24"/>
                <a:gd name="T51" fmla="*/ 31 h 3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4" h="31">
                  <a:moveTo>
                    <a:pt x="24" y="5"/>
                  </a:moveTo>
                  <a:lnTo>
                    <a:pt x="24" y="18"/>
                  </a:lnTo>
                  <a:cubicBezTo>
                    <a:pt x="24" y="26"/>
                    <a:pt x="18" y="31"/>
                    <a:pt x="9" y="31"/>
                  </a:cubicBezTo>
                  <a:cubicBezTo>
                    <a:pt x="6" y="31"/>
                    <a:pt x="2" y="30"/>
                    <a:pt x="0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3" y="28"/>
                    <a:pt x="4" y="28"/>
                    <a:pt x="4" y="28"/>
                  </a:cubicBezTo>
                  <a:cubicBezTo>
                    <a:pt x="5" y="29"/>
                    <a:pt x="7" y="29"/>
                    <a:pt x="8" y="29"/>
                  </a:cubicBezTo>
                  <a:cubicBezTo>
                    <a:pt x="15" y="29"/>
                    <a:pt x="20" y="24"/>
                    <a:pt x="20" y="17"/>
                  </a:cubicBezTo>
                  <a:lnTo>
                    <a:pt x="20" y="0"/>
                  </a:lnTo>
                  <a:cubicBezTo>
                    <a:pt x="22" y="0"/>
                    <a:pt x="24" y="2"/>
                    <a:pt x="24" y="5"/>
                  </a:cubicBezTo>
                  <a:close/>
                  <a:moveTo>
                    <a:pt x="5" y="5"/>
                  </a:moveTo>
                  <a:lnTo>
                    <a:pt x="5" y="15"/>
                  </a:lnTo>
                  <a:cubicBezTo>
                    <a:pt x="5" y="17"/>
                    <a:pt x="4" y="18"/>
                    <a:pt x="3" y="18"/>
                  </a:cubicBezTo>
                  <a:cubicBezTo>
                    <a:pt x="2" y="18"/>
                    <a:pt x="1" y="17"/>
                    <a:pt x="1" y="15"/>
                  </a:cubicBezTo>
                  <a:lnTo>
                    <a:pt x="1" y="0"/>
                  </a:lnTo>
                  <a:cubicBezTo>
                    <a:pt x="3" y="0"/>
                    <a:pt x="5" y="1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8" name="Freeform 140"/>
            <p:cNvSpPr>
              <a:spLocks/>
            </p:cNvSpPr>
            <p:nvPr/>
          </p:nvSpPr>
          <p:spPr bwMode="auto">
            <a:xfrm flipV="1">
              <a:off x="3694" y="488"/>
              <a:ext cx="35" cy="53"/>
            </a:xfrm>
            <a:custGeom>
              <a:avLst/>
              <a:gdLst>
                <a:gd name="T0" fmla="*/ 43370 w 26"/>
                <a:gd name="T1" fmla="*/ 31650 h 40"/>
                <a:gd name="T2" fmla="*/ 23933 w 26"/>
                <a:gd name="T3" fmla="*/ 45273 h 40"/>
                <a:gd name="T4" fmla="*/ 0 w 26"/>
                <a:gd name="T5" fmla="*/ 45273 h 40"/>
                <a:gd name="T6" fmla="*/ 4695 w 26"/>
                <a:gd name="T7" fmla="*/ 41936 h 40"/>
                <a:gd name="T8" fmla="*/ 13728 w 26"/>
                <a:gd name="T9" fmla="*/ 41936 h 40"/>
                <a:gd name="T10" fmla="*/ 1 w 26"/>
                <a:gd name="T11" fmla="*/ 29117 h 40"/>
                <a:gd name="T12" fmla="*/ 1 w 26"/>
                <a:gd name="T13" fmla="*/ 0 h 40"/>
                <a:gd name="T14" fmla="*/ 10198 w 26"/>
                <a:gd name="T15" fmla="*/ 5849 h 40"/>
                <a:gd name="T16" fmla="*/ 10198 w 26"/>
                <a:gd name="T17" fmla="*/ 31617 h 40"/>
                <a:gd name="T18" fmla="*/ 22127 w 26"/>
                <a:gd name="T19" fmla="*/ 41936 h 40"/>
                <a:gd name="T20" fmla="*/ 37610 w 26"/>
                <a:gd name="T21" fmla="*/ 31617 h 40"/>
                <a:gd name="T22" fmla="*/ 23933 w 26"/>
                <a:gd name="T23" fmla="*/ 16124 h 40"/>
                <a:gd name="T24" fmla="*/ 18480 w 26"/>
                <a:gd name="T25" fmla="*/ 11085 h 40"/>
                <a:gd name="T26" fmla="*/ 43370 w 26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"/>
                <a:gd name="T43" fmla="*/ 0 h 40"/>
                <a:gd name="T44" fmla="*/ 26 w 26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" h="40">
                  <a:moveTo>
                    <a:pt x="26" y="28"/>
                  </a:moveTo>
                  <a:cubicBezTo>
                    <a:pt x="26" y="34"/>
                    <a:pt x="22" y="40"/>
                    <a:pt x="14" y="40"/>
                  </a:cubicBezTo>
                  <a:lnTo>
                    <a:pt x="0" y="40"/>
                  </a:lnTo>
                  <a:cubicBezTo>
                    <a:pt x="0" y="38"/>
                    <a:pt x="1" y="37"/>
                    <a:pt x="3" y="37"/>
                  </a:cubicBezTo>
                  <a:lnTo>
                    <a:pt x="8" y="37"/>
                  </a:lnTo>
                  <a:cubicBezTo>
                    <a:pt x="5" y="37"/>
                    <a:pt x="1" y="32"/>
                    <a:pt x="1" y="26"/>
                  </a:cubicBezTo>
                  <a:lnTo>
                    <a:pt x="1" y="0"/>
                  </a:lnTo>
                  <a:cubicBezTo>
                    <a:pt x="5" y="0"/>
                    <a:pt x="6" y="3"/>
                    <a:pt x="6" y="5"/>
                  </a:cubicBezTo>
                  <a:lnTo>
                    <a:pt x="6" y="27"/>
                  </a:lnTo>
                  <a:cubicBezTo>
                    <a:pt x="6" y="33"/>
                    <a:pt x="9" y="37"/>
                    <a:pt x="13" y="37"/>
                  </a:cubicBezTo>
                  <a:cubicBezTo>
                    <a:pt x="19" y="37"/>
                    <a:pt x="22" y="32"/>
                    <a:pt x="22" y="27"/>
                  </a:cubicBezTo>
                  <a:cubicBezTo>
                    <a:pt x="22" y="20"/>
                    <a:pt x="18" y="16"/>
                    <a:pt x="14" y="14"/>
                  </a:cubicBezTo>
                  <a:cubicBezTo>
                    <a:pt x="12" y="13"/>
                    <a:pt x="11" y="12"/>
                    <a:pt x="11" y="10"/>
                  </a:cubicBezTo>
                  <a:cubicBezTo>
                    <a:pt x="17" y="11"/>
                    <a:pt x="26" y="17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9" name="Freeform 141"/>
            <p:cNvSpPr>
              <a:spLocks/>
            </p:cNvSpPr>
            <p:nvPr/>
          </p:nvSpPr>
          <p:spPr bwMode="auto">
            <a:xfrm flipV="1">
              <a:off x="3740" y="488"/>
              <a:ext cx="6" cy="24"/>
            </a:xfrm>
            <a:custGeom>
              <a:avLst/>
              <a:gdLst>
                <a:gd name="T0" fmla="*/ 446 w 5"/>
                <a:gd name="T1" fmla="*/ 6540 h 18"/>
                <a:gd name="T2" fmla="*/ 446 w 5"/>
                <a:gd name="T3" fmla="*/ 20047 h 18"/>
                <a:gd name="T4" fmla="*/ 2 w 5"/>
                <a:gd name="T5" fmla="*/ 23967 h 18"/>
                <a:gd name="T6" fmla="*/ 0 w 5"/>
                <a:gd name="T7" fmla="*/ 20047 h 18"/>
                <a:gd name="T8" fmla="*/ 0 w 5"/>
                <a:gd name="T9" fmla="*/ 0 h 18"/>
                <a:gd name="T10" fmla="*/ 446 w 5"/>
                <a:gd name="T11" fmla="*/ 654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"/>
                <a:gd name="T19" fmla="*/ 0 h 18"/>
                <a:gd name="T20" fmla="*/ 5 w 5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" h="18">
                  <a:moveTo>
                    <a:pt x="5" y="5"/>
                  </a:moveTo>
                  <a:lnTo>
                    <a:pt x="5" y="15"/>
                  </a:lnTo>
                  <a:cubicBezTo>
                    <a:pt x="5" y="17"/>
                    <a:pt x="3" y="18"/>
                    <a:pt x="2" y="18"/>
                  </a:cubicBezTo>
                  <a:cubicBezTo>
                    <a:pt x="1" y="18"/>
                    <a:pt x="0" y="17"/>
                    <a:pt x="0" y="15"/>
                  </a:cubicBezTo>
                  <a:lnTo>
                    <a:pt x="0" y="0"/>
                  </a:lnTo>
                  <a:cubicBezTo>
                    <a:pt x="4" y="0"/>
                    <a:pt x="5" y="3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0" name="Freeform 142"/>
            <p:cNvSpPr>
              <a:spLocks/>
            </p:cNvSpPr>
            <p:nvPr/>
          </p:nvSpPr>
          <p:spPr bwMode="auto">
            <a:xfrm flipV="1">
              <a:off x="3754" y="488"/>
              <a:ext cx="16" cy="40"/>
            </a:xfrm>
            <a:custGeom>
              <a:avLst/>
              <a:gdLst>
                <a:gd name="T0" fmla="*/ 15503 w 12"/>
                <a:gd name="T1" fmla="*/ 3679 h 30"/>
                <a:gd name="T2" fmla="*/ 15503 w 12"/>
                <a:gd name="T3" fmla="*/ 27561 h 30"/>
                <a:gd name="T4" fmla="*/ 4905 w 12"/>
                <a:gd name="T5" fmla="*/ 39909 h 30"/>
                <a:gd name="T6" fmla="*/ 1 w 12"/>
                <a:gd name="T7" fmla="*/ 38839 h 30"/>
                <a:gd name="T8" fmla="*/ 3679 w 12"/>
                <a:gd name="T9" fmla="*/ 36748 h 30"/>
                <a:gd name="T10" fmla="*/ 4905 w 12"/>
                <a:gd name="T11" fmla="*/ 36748 h 30"/>
                <a:gd name="T12" fmla="*/ 11276 w 12"/>
                <a:gd name="T13" fmla="*/ 30476 h 30"/>
                <a:gd name="T14" fmla="*/ 11276 w 12"/>
                <a:gd name="T15" fmla="*/ 3679 h 30"/>
                <a:gd name="T16" fmla="*/ 3679 w 12"/>
                <a:gd name="T17" fmla="*/ 3679 h 30"/>
                <a:gd name="T18" fmla="*/ 0 w 12"/>
                <a:gd name="T19" fmla="*/ 0 h 30"/>
                <a:gd name="T20" fmla="*/ 11627 w 12"/>
                <a:gd name="T21" fmla="*/ 0 h 30"/>
                <a:gd name="T22" fmla="*/ 15503 w 12"/>
                <a:gd name="T23" fmla="*/ 3679 h 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"/>
                <a:gd name="T37" fmla="*/ 0 h 30"/>
                <a:gd name="T38" fmla="*/ 12 w 12"/>
                <a:gd name="T39" fmla="*/ 30 h 3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" h="30">
                  <a:moveTo>
                    <a:pt x="12" y="3"/>
                  </a:moveTo>
                  <a:lnTo>
                    <a:pt x="12" y="21"/>
                  </a:lnTo>
                  <a:cubicBezTo>
                    <a:pt x="12" y="26"/>
                    <a:pt x="9" y="30"/>
                    <a:pt x="4" y="30"/>
                  </a:cubicBezTo>
                  <a:cubicBezTo>
                    <a:pt x="4" y="30"/>
                    <a:pt x="2" y="30"/>
                    <a:pt x="1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6" y="28"/>
                    <a:pt x="8" y="26"/>
                    <a:pt x="8" y="23"/>
                  </a:cubicBezTo>
                  <a:lnTo>
                    <a:pt x="8" y="3"/>
                  </a:lnTo>
                  <a:lnTo>
                    <a:pt x="3" y="3"/>
                  </a:lnTo>
                  <a:cubicBezTo>
                    <a:pt x="1" y="3"/>
                    <a:pt x="0" y="2"/>
                    <a:pt x="0" y="0"/>
                  </a:cubicBezTo>
                  <a:lnTo>
                    <a:pt x="9" y="0"/>
                  </a:lnTo>
                  <a:cubicBezTo>
                    <a:pt x="11" y="1"/>
                    <a:pt x="12" y="1"/>
                    <a:pt x="12" y="3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1" name="Freeform 143"/>
            <p:cNvSpPr>
              <a:spLocks/>
            </p:cNvSpPr>
            <p:nvPr/>
          </p:nvSpPr>
          <p:spPr bwMode="auto">
            <a:xfrm flipV="1">
              <a:off x="3782" y="488"/>
              <a:ext cx="6" cy="41"/>
            </a:xfrm>
            <a:custGeom>
              <a:avLst/>
              <a:gdLst>
                <a:gd name="T0" fmla="*/ 92170 w 4"/>
                <a:gd name="T1" fmla="*/ 5725 h 31"/>
                <a:gd name="T2" fmla="*/ 92170 w 4"/>
                <a:gd name="T3" fmla="*/ 30644 h 31"/>
                <a:gd name="T4" fmla="*/ 40965 w 4"/>
                <a:gd name="T5" fmla="*/ 33320 h 31"/>
                <a:gd name="T6" fmla="*/ 0 w 4"/>
                <a:gd name="T7" fmla="*/ 30644 h 31"/>
                <a:gd name="T8" fmla="*/ 0 w 4"/>
                <a:gd name="T9" fmla="*/ 0 h 31"/>
                <a:gd name="T10" fmla="*/ 92170 w 4"/>
                <a:gd name="T11" fmla="*/ 5725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31"/>
                <a:gd name="T20" fmla="*/ 4 w 4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31">
                  <a:moveTo>
                    <a:pt x="4" y="5"/>
                  </a:moveTo>
                  <a:lnTo>
                    <a:pt x="4" y="28"/>
                  </a:lnTo>
                  <a:cubicBezTo>
                    <a:pt x="4" y="30"/>
                    <a:pt x="3" y="31"/>
                    <a:pt x="2" y="31"/>
                  </a:cubicBezTo>
                  <a:cubicBezTo>
                    <a:pt x="1" y="31"/>
                    <a:pt x="0" y="30"/>
                    <a:pt x="0" y="28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2" name="Freeform 144"/>
            <p:cNvSpPr>
              <a:spLocks/>
            </p:cNvSpPr>
            <p:nvPr/>
          </p:nvSpPr>
          <p:spPr bwMode="auto">
            <a:xfrm flipV="1">
              <a:off x="3796" y="488"/>
              <a:ext cx="29" cy="41"/>
            </a:xfrm>
            <a:custGeom>
              <a:avLst/>
              <a:gdLst>
                <a:gd name="T0" fmla="*/ 21975 w 22"/>
                <a:gd name="T1" fmla="*/ 5725 h 31"/>
                <a:gd name="T2" fmla="*/ 21975 w 22"/>
                <a:gd name="T3" fmla="*/ 19881 h 31"/>
                <a:gd name="T4" fmla="*/ 9366 w 22"/>
                <a:gd name="T5" fmla="*/ 33320 h 31"/>
                <a:gd name="T6" fmla="*/ 0 w 22"/>
                <a:gd name="T7" fmla="*/ 30882 h 31"/>
                <a:gd name="T8" fmla="*/ 3102 w 22"/>
                <a:gd name="T9" fmla="*/ 30644 h 31"/>
                <a:gd name="T10" fmla="*/ 4089 w 22"/>
                <a:gd name="T11" fmla="*/ 30644 h 31"/>
                <a:gd name="T12" fmla="*/ 8559 w 22"/>
                <a:gd name="T13" fmla="*/ 30882 h 31"/>
                <a:gd name="T14" fmla="*/ 18059 w 22"/>
                <a:gd name="T15" fmla="*/ 17655 h 31"/>
                <a:gd name="T16" fmla="*/ 18059 w 22"/>
                <a:gd name="T17" fmla="*/ 0 h 31"/>
                <a:gd name="T18" fmla="*/ 21975 w 22"/>
                <a:gd name="T19" fmla="*/ 572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"/>
                <a:gd name="T31" fmla="*/ 0 h 31"/>
                <a:gd name="T32" fmla="*/ 22 w 22"/>
                <a:gd name="T33" fmla="*/ 31 h 3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" h="31">
                  <a:moveTo>
                    <a:pt x="22" y="5"/>
                  </a:moveTo>
                  <a:lnTo>
                    <a:pt x="22" y="18"/>
                  </a:lnTo>
                  <a:cubicBezTo>
                    <a:pt x="22" y="27"/>
                    <a:pt x="17" y="31"/>
                    <a:pt x="9" y="31"/>
                  </a:cubicBezTo>
                  <a:cubicBezTo>
                    <a:pt x="6" y="31"/>
                    <a:pt x="2" y="30"/>
                    <a:pt x="0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3" y="28"/>
                    <a:pt x="3" y="28"/>
                    <a:pt x="4" y="28"/>
                  </a:cubicBezTo>
                  <a:cubicBezTo>
                    <a:pt x="5" y="28"/>
                    <a:pt x="6" y="29"/>
                    <a:pt x="8" y="29"/>
                  </a:cubicBezTo>
                  <a:cubicBezTo>
                    <a:pt x="14" y="29"/>
                    <a:pt x="18" y="24"/>
                    <a:pt x="18" y="17"/>
                  </a:cubicBezTo>
                  <a:lnTo>
                    <a:pt x="18" y="0"/>
                  </a:lnTo>
                  <a:cubicBezTo>
                    <a:pt x="20" y="0"/>
                    <a:pt x="22" y="1"/>
                    <a:pt x="22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3" name="Freeform 145"/>
            <p:cNvSpPr>
              <a:spLocks/>
            </p:cNvSpPr>
            <p:nvPr/>
          </p:nvSpPr>
          <p:spPr bwMode="auto">
            <a:xfrm flipV="1">
              <a:off x="3835" y="488"/>
              <a:ext cx="35" cy="41"/>
            </a:xfrm>
            <a:custGeom>
              <a:avLst/>
              <a:gdLst>
                <a:gd name="T0" fmla="*/ 43370 w 26"/>
                <a:gd name="T1" fmla="*/ 20762 h 31"/>
                <a:gd name="T2" fmla="*/ 23933 w 26"/>
                <a:gd name="T3" fmla="*/ 33320 h 31"/>
                <a:gd name="T4" fmla="*/ 13728 w 26"/>
                <a:gd name="T5" fmla="*/ 30882 h 31"/>
                <a:gd name="T6" fmla="*/ 16437 w 26"/>
                <a:gd name="T7" fmla="*/ 30644 h 31"/>
                <a:gd name="T8" fmla="*/ 20755 w 26"/>
                <a:gd name="T9" fmla="*/ 30644 h 31"/>
                <a:gd name="T10" fmla="*/ 22127 w 26"/>
                <a:gd name="T11" fmla="*/ 30882 h 31"/>
                <a:gd name="T12" fmla="*/ 35390 w 26"/>
                <a:gd name="T13" fmla="*/ 20762 h 31"/>
                <a:gd name="T14" fmla="*/ 13728 w 26"/>
                <a:gd name="T15" fmla="*/ 3273 h 31"/>
                <a:gd name="T16" fmla="*/ 11453 w 26"/>
                <a:gd name="T17" fmla="*/ 3273 h 31"/>
                <a:gd name="T18" fmla="*/ 6320 w 26"/>
                <a:gd name="T19" fmla="*/ 33320 h 31"/>
                <a:gd name="T20" fmla="*/ 0 w 26"/>
                <a:gd name="T21" fmla="*/ 27979 h 31"/>
                <a:gd name="T22" fmla="*/ 0 w 26"/>
                <a:gd name="T23" fmla="*/ 26294 h 31"/>
                <a:gd name="T24" fmla="*/ 4695 w 26"/>
                <a:gd name="T25" fmla="*/ 1 h 31"/>
                <a:gd name="T26" fmla="*/ 11453 w 26"/>
                <a:gd name="T27" fmla="*/ 0 h 31"/>
                <a:gd name="T28" fmla="*/ 43370 w 26"/>
                <a:gd name="T29" fmla="*/ 20762 h 3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6"/>
                <a:gd name="T46" fmla="*/ 0 h 31"/>
                <a:gd name="T47" fmla="*/ 26 w 26"/>
                <a:gd name="T48" fmla="*/ 31 h 3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6" h="31">
                  <a:moveTo>
                    <a:pt x="26" y="19"/>
                  </a:moveTo>
                  <a:cubicBezTo>
                    <a:pt x="26" y="27"/>
                    <a:pt x="21" y="31"/>
                    <a:pt x="14" y="31"/>
                  </a:cubicBezTo>
                  <a:cubicBezTo>
                    <a:pt x="12" y="31"/>
                    <a:pt x="10" y="30"/>
                    <a:pt x="8" y="29"/>
                  </a:cubicBezTo>
                  <a:cubicBezTo>
                    <a:pt x="9" y="28"/>
                    <a:pt x="9" y="28"/>
                    <a:pt x="10" y="28"/>
                  </a:cubicBezTo>
                  <a:cubicBezTo>
                    <a:pt x="10" y="28"/>
                    <a:pt x="11" y="28"/>
                    <a:pt x="12" y="28"/>
                  </a:cubicBezTo>
                  <a:cubicBezTo>
                    <a:pt x="12" y="29"/>
                    <a:pt x="13" y="29"/>
                    <a:pt x="13" y="29"/>
                  </a:cubicBezTo>
                  <a:cubicBezTo>
                    <a:pt x="17" y="29"/>
                    <a:pt x="21" y="25"/>
                    <a:pt x="21" y="19"/>
                  </a:cubicBezTo>
                  <a:cubicBezTo>
                    <a:pt x="21" y="11"/>
                    <a:pt x="15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6"/>
                  </a:cubicBezTo>
                  <a:cubicBezTo>
                    <a:pt x="0" y="25"/>
                    <a:pt x="0" y="25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6" y="10"/>
                    <a:pt x="26" y="19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4" name="Freeform 146"/>
            <p:cNvSpPr>
              <a:spLocks/>
            </p:cNvSpPr>
            <p:nvPr/>
          </p:nvSpPr>
          <p:spPr bwMode="auto">
            <a:xfrm flipV="1">
              <a:off x="3876" y="488"/>
              <a:ext cx="36" cy="53"/>
            </a:xfrm>
            <a:custGeom>
              <a:avLst/>
              <a:gdLst>
                <a:gd name="T0" fmla="*/ 35639 w 27"/>
                <a:gd name="T1" fmla="*/ 31650 h 40"/>
                <a:gd name="T2" fmla="*/ 20047 w 27"/>
                <a:gd name="T3" fmla="*/ 45273 h 40"/>
                <a:gd name="T4" fmla="*/ 0 w 27"/>
                <a:gd name="T5" fmla="*/ 45273 h 40"/>
                <a:gd name="T6" fmla="*/ 4905 w 27"/>
                <a:gd name="T7" fmla="*/ 41936 h 40"/>
                <a:gd name="T8" fmla="*/ 11276 w 27"/>
                <a:gd name="T9" fmla="*/ 41936 h 40"/>
                <a:gd name="T10" fmla="*/ 2759 w 27"/>
                <a:gd name="T11" fmla="*/ 29117 h 40"/>
                <a:gd name="T12" fmla="*/ 2759 w 27"/>
                <a:gd name="T13" fmla="*/ 0 h 40"/>
                <a:gd name="T14" fmla="*/ 8720 w 27"/>
                <a:gd name="T15" fmla="*/ 5849 h 40"/>
                <a:gd name="T16" fmla="*/ 8720 w 27"/>
                <a:gd name="T17" fmla="*/ 31617 h 40"/>
                <a:gd name="T18" fmla="*/ 18660 w 27"/>
                <a:gd name="T19" fmla="*/ 41936 h 40"/>
                <a:gd name="T20" fmla="*/ 30476 w 27"/>
                <a:gd name="T21" fmla="*/ 31617 h 40"/>
                <a:gd name="T22" fmla="*/ 20047 w 27"/>
                <a:gd name="T23" fmla="*/ 16124 h 40"/>
                <a:gd name="T24" fmla="*/ 15035 w 27"/>
                <a:gd name="T25" fmla="*/ 11085 h 40"/>
                <a:gd name="T26" fmla="*/ 35639 w 27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7"/>
                <a:gd name="T43" fmla="*/ 0 h 40"/>
                <a:gd name="T44" fmla="*/ 27 w 27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7" h="40">
                  <a:moveTo>
                    <a:pt x="27" y="28"/>
                  </a:moveTo>
                  <a:cubicBezTo>
                    <a:pt x="27" y="34"/>
                    <a:pt x="23" y="40"/>
                    <a:pt x="15" y="40"/>
                  </a:cubicBezTo>
                  <a:lnTo>
                    <a:pt x="0" y="40"/>
                  </a:lnTo>
                  <a:cubicBezTo>
                    <a:pt x="1" y="38"/>
                    <a:pt x="2" y="37"/>
                    <a:pt x="4" y="37"/>
                  </a:cubicBezTo>
                  <a:lnTo>
                    <a:pt x="8" y="37"/>
                  </a:lnTo>
                  <a:cubicBezTo>
                    <a:pt x="6" y="37"/>
                    <a:pt x="2" y="32"/>
                    <a:pt x="2" y="26"/>
                  </a:cubicBezTo>
                  <a:lnTo>
                    <a:pt x="2" y="0"/>
                  </a:lnTo>
                  <a:cubicBezTo>
                    <a:pt x="6" y="0"/>
                    <a:pt x="7" y="3"/>
                    <a:pt x="7" y="5"/>
                  </a:cubicBezTo>
                  <a:lnTo>
                    <a:pt x="7" y="27"/>
                  </a:lnTo>
                  <a:cubicBezTo>
                    <a:pt x="7" y="33"/>
                    <a:pt x="9" y="37"/>
                    <a:pt x="14" y="37"/>
                  </a:cubicBezTo>
                  <a:cubicBezTo>
                    <a:pt x="20" y="37"/>
                    <a:pt x="23" y="32"/>
                    <a:pt x="23" y="27"/>
                  </a:cubicBezTo>
                  <a:cubicBezTo>
                    <a:pt x="23" y="20"/>
                    <a:pt x="19" y="16"/>
                    <a:pt x="15" y="14"/>
                  </a:cubicBezTo>
                  <a:cubicBezTo>
                    <a:pt x="12" y="13"/>
                    <a:pt x="12" y="12"/>
                    <a:pt x="11" y="10"/>
                  </a:cubicBezTo>
                  <a:cubicBezTo>
                    <a:pt x="18" y="11"/>
                    <a:pt x="27" y="17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5" name="Freeform 147"/>
            <p:cNvSpPr>
              <a:spLocks/>
            </p:cNvSpPr>
            <p:nvPr/>
          </p:nvSpPr>
          <p:spPr bwMode="auto">
            <a:xfrm flipV="1">
              <a:off x="3922" y="478"/>
              <a:ext cx="28" cy="51"/>
            </a:xfrm>
            <a:custGeom>
              <a:avLst/>
              <a:gdLst>
                <a:gd name="T0" fmla="*/ 27561 w 21"/>
                <a:gd name="T1" fmla="*/ 18105 h 39"/>
                <a:gd name="T2" fmla="*/ 17143 w 21"/>
                <a:gd name="T3" fmla="*/ 26147 h 39"/>
                <a:gd name="T4" fmla="*/ 4905 w 21"/>
                <a:gd name="T5" fmla="*/ 26147 h 39"/>
                <a:gd name="T6" fmla="*/ 4905 w 21"/>
                <a:gd name="T7" fmla="*/ 32016 h 39"/>
                <a:gd name="T8" fmla="*/ 0 w 21"/>
                <a:gd name="T9" fmla="*/ 27649 h 39"/>
                <a:gd name="T10" fmla="*/ 0 w 21"/>
                <a:gd name="T11" fmla="*/ 22894 h 39"/>
                <a:gd name="T12" fmla="*/ 15035 w 21"/>
                <a:gd name="T13" fmla="*/ 22894 h 39"/>
                <a:gd name="T14" fmla="*/ 22857 w 21"/>
                <a:gd name="T15" fmla="*/ 16678 h 39"/>
                <a:gd name="T16" fmla="*/ 8720 w 21"/>
                <a:gd name="T17" fmla="*/ 3335 h 39"/>
                <a:gd name="T18" fmla="*/ 3679 w 21"/>
                <a:gd name="T19" fmla="*/ 0 h 39"/>
                <a:gd name="T20" fmla="*/ 27561 w 21"/>
                <a:gd name="T21" fmla="*/ 18105 h 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"/>
                <a:gd name="T34" fmla="*/ 0 h 39"/>
                <a:gd name="T35" fmla="*/ 21 w 21"/>
                <a:gd name="T36" fmla="*/ 39 h 3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" h="39">
                  <a:moveTo>
                    <a:pt x="21" y="22"/>
                  </a:moveTo>
                  <a:cubicBezTo>
                    <a:pt x="21" y="27"/>
                    <a:pt x="18" y="31"/>
                    <a:pt x="13" y="31"/>
                  </a:cubicBezTo>
                  <a:lnTo>
                    <a:pt x="4" y="31"/>
                  </a:lnTo>
                  <a:lnTo>
                    <a:pt x="4" y="39"/>
                  </a:lnTo>
                  <a:cubicBezTo>
                    <a:pt x="2" y="39"/>
                    <a:pt x="0" y="38"/>
                    <a:pt x="0" y="34"/>
                  </a:cubicBezTo>
                  <a:lnTo>
                    <a:pt x="0" y="28"/>
                  </a:lnTo>
                  <a:lnTo>
                    <a:pt x="11" y="28"/>
                  </a:lnTo>
                  <a:cubicBezTo>
                    <a:pt x="13" y="28"/>
                    <a:pt x="17" y="27"/>
                    <a:pt x="17" y="21"/>
                  </a:cubicBezTo>
                  <a:cubicBezTo>
                    <a:pt x="17" y="12"/>
                    <a:pt x="11" y="6"/>
                    <a:pt x="7" y="4"/>
                  </a:cubicBezTo>
                  <a:cubicBezTo>
                    <a:pt x="5" y="3"/>
                    <a:pt x="3" y="2"/>
                    <a:pt x="3" y="0"/>
                  </a:cubicBezTo>
                  <a:cubicBezTo>
                    <a:pt x="10" y="1"/>
                    <a:pt x="21" y="9"/>
                    <a:pt x="21" y="2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6" name="Freeform 148"/>
            <p:cNvSpPr>
              <a:spLocks/>
            </p:cNvSpPr>
            <p:nvPr/>
          </p:nvSpPr>
          <p:spPr bwMode="auto">
            <a:xfrm flipV="1">
              <a:off x="3960" y="488"/>
              <a:ext cx="32" cy="41"/>
            </a:xfrm>
            <a:custGeom>
              <a:avLst/>
              <a:gdLst>
                <a:gd name="T0" fmla="*/ 31956 w 24"/>
                <a:gd name="T1" fmla="*/ 2475 h 31"/>
                <a:gd name="T2" fmla="*/ 30476 w 24"/>
                <a:gd name="T3" fmla="*/ 6914 h 31"/>
                <a:gd name="T4" fmla="*/ 22857 w 24"/>
                <a:gd name="T5" fmla="*/ 13246 h 31"/>
                <a:gd name="T6" fmla="*/ 30476 w 24"/>
                <a:gd name="T7" fmla="*/ 23350 h 31"/>
                <a:gd name="T8" fmla="*/ 30476 w 24"/>
                <a:gd name="T9" fmla="*/ 33320 h 31"/>
                <a:gd name="T10" fmla="*/ 24880 w 24"/>
                <a:gd name="T11" fmla="*/ 27979 h 31"/>
                <a:gd name="T12" fmla="*/ 24880 w 24"/>
                <a:gd name="T13" fmla="*/ 21155 h 31"/>
                <a:gd name="T14" fmla="*/ 20671 w 24"/>
                <a:gd name="T15" fmla="*/ 15698 h 31"/>
                <a:gd name="T16" fmla="*/ 1 w 24"/>
                <a:gd name="T17" fmla="*/ 33320 h 31"/>
                <a:gd name="T18" fmla="*/ 0 w 24"/>
                <a:gd name="T19" fmla="*/ 30882 h 31"/>
                <a:gd name="T20" fmla="*/ 1 w 24"/>
                <a:gd name="T21" fmla="*/ 27979 h 31"/>
                <a:gd name="T22" fmla="*/ 8457 w 24"/>
                <a:gd name="T23" fmla="*/ 21155 h 31"/>
                <a:gd name="T24" fmla="*/ 0 w 24"/>
                <a:gd name="T25" fmla="*/ 10093 h 31"/>
                <a:gd name="T26" fmla="*/ 0 w 24"/>
                <a:gd name="T27" fmla="*/ 0 h 31"/>
                <a:gd name="T28" fmla="*/ 4905 w 24"/>
                <a:gd name="T29" fmla="*/ 5725 h 31"/>
                <a:gd name="T30" fmla="*/ 4905 w 24"/>
                <a:gd name="T31" fmla="*/ 12094 h 31"/>
                <a:gd name="T32" fmla="*/ 11276 w 24"/>
                <a:gd name="T33" fmla="*/ 19881 h 31"/>
                <a:gd name="T34" fmla="*/ 30476 w 24"/>
                <a:gd name="T35" fmla="*/ 0 h 31"/>
                <a:gd name="T36" fmla="*/ 31956 w 24"/>
                <a:gd name="T37" fmla="*/ 2475 h 3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4"/>
                <a:gd name="T58" fmla="*/ 0 h 31"/>
                <a:gd name="T59" fmla="*/ 24 w 24"/>
                <a:gd name="T60" fmla="*/ 31 h 31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4" h="31">
                  <a:moveTo>
                    <a:pt x="24" y="2"/>
                  </a:moveTo>
                  <a:cubicBezTo>
                    <a:pt x="24" y="4"/>
                    <a:pt x="23" y="5"/>
                    <a:pt x="23" y="6"/>
                  </a:cubicBezTo>
                  <a:lnTo>
                    <a:pt x="17" y="12"/>
                  </a:lnTo>
                  <a:cubicBezTo>
                    <a:pt x="20" y="14"/>
                    <a:pt x="23" y="18"/>
                    <a:pt x="23" y="22"/>
                  </a:cubicBezTo>
                  <a:lnTo>
                    <a:pt x="23" y="31"/>
                  </a:lnTo>
                  <a:cubicBezTo>
                    <a:pt x="21" y="31"/>
                    <a:pt x="19" y="30"/>
                    <a:pt x="19" y="26"/>
                  </a:cubicBezTo>
                  <a:lnTo>
                    <a:pt x="19" y="20"/>
                  </a:lnTo>
                  <a:cubicBezTo>
                    <a:pt x="19" y="16"/>
                    <a:pt x="17" y="15"/>
                    <a:pt x="16" y="14"/>
                  </a:cubicBezTo>
                  <a:lnTo>
                    <a:pt x="1" y="31"/>
                  </a:lnTo>
                  <a:cubicBezTo>
                    <a:pt x="0" y="31"/>
                    <a:pt x="0" y="30"/>
                    <a:pt x="0" y="29"/>
                  </a:cubicBezTo>
                  <a:cubicBezTo>
                    <a:pt x="0" y="28"/>
                    <a:pt x="0" y="27"/>
                    <a:pt x="1" y="26"/>
                  </a:cubicBezTo>
                  <a:lnTo>
                    <a:pt x="6" y="20"/>
                  </a:lnTo>
                  <a:cubicBezTo>
                    <a:pt x="3" y="19"/>
                    <a:pt x="0" y="14"/>
                    <a:pt x="0" y="10"/>
                  </a:cubicBezTo>
                  <a:lnTo>
                    <a:pt x="0" y="0"/>
                  </a:lnTo>
                  <a:cubicBezTo>
                    <a:pt x="2" y="0"/>
                    <a:pt x="4" y="2"/>
                    <a:pt x="4" y="5"/>
                  </a:cubicBezTo>
                  <a:lnTo>
                    <a:pt x="4" y="11"/>
                  </a:lnTo>
                  <a:cubicBezTo>
                    <a:pt x="4" y="15"/>
                    <a:pt x="5" y="18"/>
                    <a:pt x="8" y="18"/>
                  </a:cubicBezTo>
                  <a:lnTo>
                    <a:pt x="23" y="0"/>
                  </a:lnTo>
                  <a:cubicBezTo>
                    <a:pt x="23" y="1"/>
                    <a:pt x="24" y="2"/>
                    <a:pt x="24" y="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7" name="Rectangle 149"/>
            <p:cNvSpPr>
              <a:spLocks noChangeArrowheads="1"/>
            </p:cNvSpPr>
            <p:nvPr/>
          </p:nvSpPr>
          <p:spPr bwMode="auto">
            <a:xfrm>
              <a:off x="4259" y="483"/>
              <a:ext cx="39" cy="3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8" name="Rectangle 150"/>
            <p:cNvSpPr>
              <a:spLocks noChangeArrowheads="1"/>
            </p:cNvSpPr>
            <p:nvPr/>
          </p:nvSpPr>
          <p:spPr bwMode="auto">
            <a:xfrm>
              <a:off x="4201" y="484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9" name="Rectangle 151"/>
            <p:cNvSpPr>
              <a:spLocks noChangeArrowheads="1"/>
            </p:cNvSpPr>
            <p:nvPr/>
          </p:nvSpPr>
          <p:spPr bwMode="auto">
            <a:xfrm>
              <a:off x="4144" y="486"/>
              <a:ext cx="33" cy="34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0" name="Rectangle 152"/>
            <p:cNvSpPr>
              <a:spLocks noChangeArrowheads="1"/>
            </p:cNvSpPr>
            <p:nvPr/>
          </p:nvSpPr>
          <p:spPr bwMode="auto">
            <a:xfrm>
              <a:off x="4085" y="487"/>
              <a:ext cx="32" cy="32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1" name="Rectangle 153"/>
            <p:cNvSpPr>
              <a:spLocks noChangeArrowheads="1"/>
            </p:cNvSpPr>
            <p:nvPr/>
          </p:nvSpPr>
          <p:spPr bwMode="auto">
            <a:xfrm>
              <a:off x="4028" y="488"/>
              <a:ext cx="28" cy="2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2" name="Rectangle 154"/>
            <p:cNvSpPr>
              <a:spLocks noChangeArrowheads="1"/>
            </p:cNvSpPr>
            <p:nvPr/>
          </p:nvSpPr>
          <p:spPr bwMode="auto">
            <a:xfrm>
              <a:off x="4259" y="580"/>
              <a:ext cx="39" cy="3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3" name="Rectangle 155"/>
            <p:cNvSpPr>
              <a:spLocks noChangeArrowheads="1"/>
            </p:cNvSpPr>
            <p:nvPr/>
          </p:nvSpPr>
          <p:spPr bwMode="auto">
            <a:xfrm>
              <a:off x="4201" y="581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4" name="Rectangle 156"/>
            <p:cNvSpPr>
              <a:spLocks noChangeArrowheads="1"/>
            </p:cNvSpPr>
            <p:nvPr/>
          </p:nvSpPr>
          <p:spPr bwMode="auto">
            <a:xfrm>
              <a:off x="4144" y="583"/>
              <a:ext cx="33" cy="33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5" name="Rectangle 157"/>
            <p:cNvSpPr>
              <a:spLocks noChangeArrowheads="1"/>
            </p:cNvSpPr>
            <p:nvPr/>
          </p:nvSpPr>
          <p:spPr bwMode="auto">
            <a:xfrm>
              <a:off x="4085" y="584"/>
              <a:ext cx="32" cy="31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6" name="Rectangle 158"/>
            <p:cNvSpPr>
              <a:spLocks noChangeArrowheads="1"/>
            </p:cNvSpPr>
            <p:nvPr/>
          </p:nvSpPr>
          <p:spPr bwMode="auto">
            <a:xfrm>
              <a:off x="4028" y="585"/>
              <a:ext cx="28" cy="2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7" name="Rectangle 159"/>
            <p:cNvSpPr>
              <a:spLocks noChangeArrowheads="1"/>
            </p:cNvSpPr>
            <p:nvPr/>
          </p:nvSpPr>
          <p:spPr bwMode="auto">
            <a:xfrm>
              <a:off x="4259" y="677"/>
              <a:ext cx="39" cy="3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8" name="Rectangle 160"/>
            <p:cNvSpPr>
              <a:spLocks noChangeArrowheads="1"/>
            </p:cNvSpPr>
            <p:nvPr/>
          </p:nvSpPr>
          <p:spPr bwMode="auto">
            <a:xfrm>
              <a:off x="4201" y="679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9" name="Rectangle 161"/>
            <p:cNvSpPr>
              <a:spLocks noChangeArrowheads="1"/>
            </p:cNvSpPr>
            <p:nvPr/>
          </p:nvSpPr>
          <p:spPr bwMode="auto">
            <a:xfrm>
              <a:off x="4144" y="680"/>
              <a:ext cx="33" cy="33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0" name="Rectangle 162"/>
            <p:cNvSpPr>
              <a:spLocks noChangeArrowheads="1"/>
            </p:cNvSpPr>
            <p:nvPr/>
          </p:nvSpPr>
          <p:spPr bwMode="auto">
            <a:xfrm>
              <a:off x="4085" y="681"/>
              <a:ext cx="32" cy="31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1" name="Rectangle 163"/>
            <p:cNvSpPr>
              <a:spLocks noChangeArrowheads="1"/>
            </p:cNvSpPr>
            <p:nvPr/>
          </p:nvSpPr>
          <p:spPr bwMode="auto">
            <a:xfrm>
              <a:off x="4028" y="683"/>
              <a:ext cx="28" cy="2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</p:grpSp>
      <p:pic>
        <p:nvPicPr>
          <p:cNvPr id="62" name="Picture 58" descr="logo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976" y="112198"/>
            <a:ext cx="5715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2789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40465C-8A53-4911-9A00-2C946368ECA6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152938-1B01-4537-A25E-FAEE73EDB538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4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27EFFE-027F-4D77-9407-5C6CEFFE4258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B1ADD0-A997-41D7-9664-6AC9018CBCD5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12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134BD6-B894-4FB8-86FC-1A951B8385A0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1BA823-ABCA-407C-B228-501524F0E55B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52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D78BF0-5E00-46C6-A6C6-19ED10E2FF4F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72AF5F-50CD-45ED-AD4F-AF7A4E8579BD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13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55A330-699D-40BA-8A68-E3DD98EB0970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06AC3E-00B4-4463-BC65-A60E1D24C7AA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2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2E14B6-5471-4254-99F9-E0D38C4C60B0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BC94C3-7C82-485D-8E8B-5AC63A00891C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68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3DB0A9-33D3-4C81-9BE9-D7EF95D9346E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1EB3CF-63D4-4437-9550-501DC0BD9EE9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737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1111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7540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385357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8594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450376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64062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9CE4AC-2C71-4594-BD9A-B49FB726B1B4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AFAC80-1EB7-4463-8FF1-984DC6CD2F31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44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4F35FD-C650-4FEB-A68C-CA3BC700C471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98B99-E041-49CA-9DE2-42DD07B3FB2A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08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042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38192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36491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94597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91660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8346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75056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04628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98455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20695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96700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953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26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410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4" r:id="rId18"/>
  </p:sldLayoutIdLst>
  <p:hf hdr="0" ftr="0" dt="0"/>
  <p:txStyles>
    <p:titleStyle>
      <a:lvl1pPr algn="l" defTabSz="457200" rtl="1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00B5C-68E1-45F9-A721-E2913B6DA463}" type="datetimeFigureOut">
              <a:rPr lang="he-IL" smtClean="0"/>
              <a:t>ו'/כסלו/תשפ"ו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3985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hyperlink" Target="https://www.crazygames.com/game/gold-miner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Relationship Id="rId6" Type="http://schemas.openxmlformats.org/officeDocument/2006/relationships/hyperlink" Target="https://youtu.be/EGUxRxiaDKw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5" Type="http://schemas.openxmlformats.org/officeDocument/2006/relationships/hyperlink" Target="https://youtu.be/Z8w20-zyHJc" TargetMode="External"/><Relationship Id="rId4" Type="http://schemas.openxmlformats.org/officeDocument/2006/relationships/image" Target="../media/image1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188640"/>
            <a:ext cx="5917546" cy="932752"/>
          </a:xfrm>
        </p:spPr>
        <p:txBody>
          <a:bodyPr>
            <a:normAutofit fontScale="90000"/>
          </a:bodyPr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פרויקט סיום חורף תשפ"ו הדרכה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49457"/>
              </p:ext>
            </p:extLst>
          </p:nvPr>
        </p:nvGraphicFramePr>
        <p:xfrm>
          <a:off x="1074225" y="1121392"/>
          <a:ext cx="6792416" cy="3683000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3396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6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חורף-2025-26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מעבדה 1א 044157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 rtl="1"/>
                      <a:r>
                        <a:rPr lang="he-IL" sz="2400" u="none" dirty="0"/>
                        <a:t>הדרכה כללית מנהלות (מצגת נפרדת)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algn="ctr" defTabSz="457200" rtl="1" eaLnBrk="1" latinLnBrk="0" hangingPunct="1"/>
                      <a:r>
                        <a:rPr lang="he-IL" sz="2400" u="none" kern="1200" dirty="0"/>
                        <a:t>הנחיות כללית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342900" marR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2400" u="none" kern="1200" baseline="0" dirty="0"/>
                        <a:t>מנהלות רלבנטיות לסמסטר חורף –26 -2025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22212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he-IL" sz="2400" u="none" kern="1200" dirty="0"/>
                        <a:t>פרויקט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457200" rtl="1" eaLnBrk="1" latinLnBrk="0" hangingPunct="1"/>
                      <a:endParaRPr lang="en-US" alt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Gold miner</a:t>
                      </a:r>
                      <a:r>
                        <a:rPr lang="he-IL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גושים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he-IL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 E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457200" rtl="1" eaLnBrk="1" latinLnBrk="0" hangingPunct="1"/>
                      <a:endParaRPr lang="en-US" alt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Gold miner (Bombs)</a:t>
                      </a:r>
                      <a:r>
                        <a:rPr lang="he-IL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</a:t>
                      </a:r>
                      <a:r>
                        <a:rPr lang="he-IL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גושים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 D F </a:t>
                      </a:r>
                      <a:endParaRPr lang="he-IL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he-IL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2021" y="4149080"/>
            <a:ext cx="7416824" cy="432048"/>
          </a:xfrm>
          <a:prstGeom prst="rect">
            <a:avLst/>
          </a:prstGeom>
          <a:solidFill>
            <a:schemeClr val="accent2">
              <a:lumMod val="75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13071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F10103-8B23-734B-CF30-D7187BC90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347" y="1350697"/>
            <a:ext cx="5800398" cy="4820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484" y="395582"/>
            <a:ext cx="8019773" cy="932752"/>
          </a:xfrm>
        </p:spPr>
        <p:txBody>
          <a:bodyPr>
            <a:normAutofit fontScale="90000"/>
          </a:bodyPr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הנחיות לפרויקט סיום</a:t>
            </a:r>
            <a:br>
              <a:rPr lang="he-IL" b="1" u="sng" dirty="0">
                <a:solidFill>
                  <a:srgbClr val="3333CC"/>
                </a:solidFill>
              </a:rPr>
            </a:br>
            <a:r>
              <a:rPr lang="he-IL" b="1" u="sng" dirty="0">
                <a:solidFill>
                  <a:srgbClr val="3333CC"/>
                </a:solidFill>
              </a:rPr>
              <a:t>חורף </a:t>
            </a:r>
            <a:r>
              <a:rPr lang="en-US" b="1" u="sng" dirty="0">
                <a:solidFill>
                  <a:srgbClr val="3333CC"/>
                </a:solidFill>
              </a:rPr>
              <a:t>-6</a:t>
            </a:r>
            <a:r>
              <a:rPr lang="he-IL" b="1" u="sng" dirty="0">
                <a:solidFill>
                  <a:srgbClr val="3333CC"/>
                </a:solidFill>
              </a:rPr>
              <a:t>2025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74426" y="5999435"/>
            <a:ext cx="856907" cy="669925"/>
          </a:xfrm>
        </p:spPr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99719" y="5459080"/>
            <a:ext cx="1113500" cy="484049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1800" b="0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entury Gothic" panose="020B0502020202020204"/>
                <a:ea typeface="Times New Roman" panose="02020603050405020304" pitchFamily="18" charset="0"/>
                <a:cs typeface="David" panose="020E0502060401010101" pitchFamily="34" charset="-79"/>
              </a:rPr>
              <a:t>הגשה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13" y="94961"/>
            <a:ext cx="2027242" cy="982457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12E6634D-7C0B-4865-9718-E3BB754488FE}"/>
              </a:ext>
            </a:extLst>
          </p:cNvPr>
          <p:cNvSpPr/>
          <p:nvPr/>
        </p:nvSpPr>
        <p:spPr>
          <a:xfrm>
            <a:off x="7402979" y="4505507"/>
            <a:ext cx="1599799" cy="391637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46194">
                    <a:lumMod val="75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Code Review</a:t>
            </a:r>
          </a:p>
        </p:txBody>
      </p:sp>
      <p:sp>
        <p:nvSpPr>
          <p:cNvPr id="14" name="Right Arrow 14">
            <a:extLst>
              <a:ext uri="{FF2B5EF4-FFF2-40B4-BE49-F238E27FC236}">
                <a16:creationId xmlns:a16="http://schemas.microsoft.com/office/drawing/2014/main" id="{80FBC378-7818-4595-A417-75300C777022}"/>
              </a:ext>
            </a:extLst>
          </p:cNvPr>
          <p:cNvSpPr/>
          <p:nvPr/>
        </p:nvSpPr>
        <p:spPr>
          <a:xfrm rot="20436150" flipH="1">
            <a:off x="7330219" y="3950705"/>
            <a:ext cx="1552993" cy="40635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1600" b="0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entury Gothic" panose="020B0502020202020204"/>
                <a:ea typeface="Times New Roman" panose="02020603050405020304" pitchFamily="18" charset="0"/>
                <a:cs typeface="David" panose="020E0502060401010101" pitchFamily="34" charset="-79"/>
              </a:rPr>
              <a:t>עבודה עצמאית</a:t>
            </a:r>
          </a:p>
        </p:txBody>
      </p:sp>
      <p:sp>
        <p:nvSpPr>
          <p:cNvPr id="13" name="Right Arrow 14">
            <a:extLst>
              <a:ext uri="{FF2B5EF4-FFF2-40B4-BE49-F238E27FC236}">
                <a16:creationId xmlns:a16="http://schemas.microsoft.com/office/drawing/2014/main" id="{68631612-EC3F-4060-9FE6-B5AB41BB8E04}"/>
              </a:ext>
            </a:extLst>
          </p:cNvPr>
          <p:cNvSpPr/>
          <p:nvPr/>
        </p:nvSpPr>
        <p:spPr>
          <a:xfrm rot="1131922" flipH="1">
            <a:off x="7340050" y="4955384"/>
            <a:ext cx="1640026" cy="41288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1600" b="0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entury Gothic" panose="020B0502020202020204"/>
                <a:ea typeface="Times New Roman" panose="02020603050405020304" pitchFamily="18" charset="0"/>
                <a:cs typeface="David" panose="020E0502060401010101" pitchFamily="34" charset="-79"/>
              </a:rPr>
              <a:t>עבודה עצמאית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30162C-399D-458F-9575-0A31F4BDB8B8}"/>
              </a:ext>
            </a:extLst>
          </p:cNvPr>
          <p:cNvSpPr/>
          <p:nvPr/>
        </p:nvSpPr>
        <p:spPr>
          <a:xfrm>
            <a:off x="1455347" y="5507303"/>
            <a:ext cx="5831200" cy="225953"/>
          </a:xfrm>
          <a:prstGeom prst="rect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7" name="Right Arrow 14">
            <a:extLst>
              <a:ext uri="{FF2B5EF4-FFF2-40B4-BE49-F238E27FC236}">
                <a16:creationId xmlns:a16="http://schemas.microsoft.com/office/drawing/2014/main" id="{4D0382C0-87AB-5EEF-E2B3-D57FD1749FDF}"/>
              </a:ext>
            </a:extLst>
          </p:cNvPr>
          <p:cNvSpPr/>
          <p:nvPr/>
        </p:nvSpPr>
        <p:spPr>
          <a:xfrm rot="1415496" flipH="1">
            <a:off x="7265167" y="5500462"/>
            <a:ext cx="1522526" cy="439537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1600" b="0" i="0" u="none" strike="noStrike" kern="1200" cap="none" spc="0" normalizeH="0" baseline="0" noProof="0" dirty="0" bmk="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entury Gothic" panose="020B0502020202020204"/>
                <a:ea typeface="Times New Roman" panose="02020603050405020304" pitchFamily="18" charset="0"/>
                <a:cs typeface="David" panose="020E0502060401010101" pitchFamily="34" charset="-79"/>
              </a:rPr>
              <a:t>עבודה עצמאית</a:t>
            </a:r>
          </a:p>
        </p:txBody>
      </p:sp>
    </p:spTree>
    <p:extLst>
      <p:ext uri="{BB962C8B-B14F-4D97-AF65-F5344CB8AC3E}">
        <p14:creationId xmlns:p14="http://schemas.microsoft.com/office/powerpoint/2010/main" val="2907370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538287" y="172942"/>
            <a:ext cx="5337967" cy="519752"/>
          </a:xfrm>
        </p:spPr>
        <p:txBody>
          <a:bodyPr>
            <a:normAutofit fontScale="90000"/>
          </a:bodyPr>
          <a:lstStyle/>
          <a:p>
            <a:pPr algn="ctr" rtl="0"/>
            <a:r>
              <a:rPr lang="en-US" sz="3200" b="1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A C E </a:t>
            </a:r>
            <a:r>
              <a:rPr lang="he-IL" sz="3200" b="1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גושים </a:t>
            </a:r>
            <a:r>
              <a:rPr lang="en-US" sz="3200" b="1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–Gold Miner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043608" y="274955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e-IL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043608" y="557847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B87B4D-E020-4F90-8E48-2DA4D4B7575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8231" y="1124758"/>
            <a:ext cx="2823041" cy="2119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A45CA9-8CAB-FB26-551F-47008CBB8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003" y="3244295"/>
            <a:ext cx="4748736" cy="33834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36F5D3-32CA-8B5B-EFD7-A623B7F6C8E7}"/>
              </a:ext>
            </a:extLst>
          </p:cNvPr>
          <p:cNvSpPr txBox="1"/>
          <p:nvPr/>
        </p:nvSpPr>
        <p:spPr>
          <a:xfrm>
            <a:off x="4207270" y="1279521"/>
            <a:ext cx="4581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algn="r" rtl="1">
              <a:buNone/>
            </a:pPr>
            <a:r>
              <a:rPr lang="he-IL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משחק אונליין לדוגמא:</a:t>
            </a:r>
            <a:endParaRPr lang="en-US" sz="1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r" rtl="1">
              <a:buNone/>
            </a:pPr>
            <a:r>
              <a:rPr lang="en-US" sz="18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https://www.crazygames.com/game/gold-miner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721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076056" y="143221"/>
            <a:ext cx="2745680" cy="932752"/>
          </a:xfrm>
        </p:spPr>
        <p:txBody>
          <a:bodyPr>
            <a:normAutofit/>
          </a:bodyPr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דרישות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460762-B817-2F92-3D66-024CB0008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1136941"/>
            <a:ext cx="5436352" cy="545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212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Elbow Connector 43"/>
          <p:cNvCxnSpPr/>
          <p:nvPr/>
        </p:nvCxnSpPr>
        <p:spPr>
          <a:xfrm rot="16200000" flipH="1">
            <a:off x="5622441" y="2002601"/>
            <a:ext cx="1642938" cy="407450"/>
          </a:xfrm>
          <a:prstGeom prst="bentConnector3">
            <a:avLst>
              <a:gd name="adj1" fmla="val 52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</p:spPr>
        <p:txBody>
          <a:bodyPr>
            <a:normAutofit/>
          </a:bodyPr>
          <a:lstStyle/>
          <a:p>
            <a:pPr algn="r"/>
            <a:r>
              <a:rPr lang="he-IL" b="1" u="sng" dirty="0">
                <a:solidFill>
                  <a:srgbClr val="3333CC"/>
                </a:solidFill>
              </a:rPr>
              <a:t>מימוש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8" name="Down Arrow 7"/>
          <p:cNvSpPr/>
          <p:nvPr/>
        </p:nvSpPr>
        <p:spPr>
          <a:xfrm rot="5400000" flipV="1">
            <a:off x="8063500" y="2894930"/>
            <a:ext cx="413792" cy="1043048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61715" y="3085563"/>
            <a:ext cx="705650" cy="653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VGA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60461" y="3104682"/>
            <a:ext cx="720080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MUX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11" name="Down Arrow 10"/>
          <p:cNvSpPr/>
          <p:nvPr/>
        </p:nvSpPr>
        <p:spPr>
          <a:xfrm rot="5400000" flipV="1">
            <a:off x="7028664" y="3161435"/>
            <a:ext cx="413792" cy="510038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18" name="Elbow Connector 17"/>
          <p:cNvCxnSpPr/>
          <p:nvPr/>
        </p:nvCxnSpPr>
        <p:spPr>
          <a:xfrm>
            <a:off x="2886207" y="2924944"/>
            <a:ext cx="3413985" cy="451712"/>
          </a:xfrm>
          <a:prstGeom prst="bentConnector3">
            <a:avLst>
              <a:gd name="adj1" fmla="val 83277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093866" y="1200038"/>
            <a:ext cx="1080120" cy="165312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hit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456148" y="4888286"/>
            <a:ext cx="1251756" cy="83286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>
                <a:solidFill>
                  <a:prstClr val="white"/>
                </a:solidFill>
                <a:latin typeface="Century Gothic" panose="020B0502020202020204"/>
              </a:rPr>
              <a:t>Dynamic BACKGROUND</a:t>
            </a:r>
            <a:endParaRPr lang="he-IL" sz="1100" dirty="0">
              <a:solidFill>
                <a:prstClr val="white"/>
              </a:solidFill>
              <a:latin typeface="Century Gothic" panose="020B0502020202020204"/>
            </a:endParaRPr>
          </a:p>
          <a:p>
            <a:pPr algn="ctr"/>
            <a:endParaRPr lang="he-IL" sz="1100" dirty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980541" y="4035596"/>
            <a:ext cx="1394832" cy="12328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Game controller</a:t>
            </a:r>
          </a:p>
        </p:txBody>
      </p:sp>
      <p:sp>
        <p:nvSpPr>
          <p:cNvPr id="29" name="Down Arrow 28"/>
          <p:cNvSpPr/>
          <p:nvPr/>
        </p:nvSpPr>
        <p:spPr>
          <a:xfrm rot="5400000" flipV="1">
            <a:off x="7517678" y="6031638"/>
            <a:ext cx="413792" cy="732524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490541" y="6102178"/>
            <a:ext cx="864096" cy="6530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צלילים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03365" y="2621843"/>
            <a:ext cx="1350403" cy="754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HOOK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(moving obstacles)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049723" y="2666857"/>
            <a:ext cx="1172228" cy="754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HOOK</a:t>
            </a: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draw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025857" y="1108231"/>
            <a:ext cx="1218379" cy="6530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player logic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881939" y="1075438"/>
            <a:ext cx="1460436" cy="6530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player draw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23245" y="1108232"/>
            <a:ext cx="1080120" cy="6530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KBD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34" name="Elbow Connector 33"/>
          <p:cNvCxnSpPr>
            <a:stCxn id="33" idx="3"/>
            <a:endCxn id="31" idx="1"/>
          </p:cNvCxnSpPr>
          <p:nvPr/>
        </p:nvCxnSpPr>
        <p:spPr>
          <a:xfrm flipV="1">
            <a:off x="2103365" y="1434762"/>
            <a:ext cx="922492" cy="1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/>
          <p:cNvCxnSpPr>
            <a:stCxn id="31" idx="3"/>
            <a:endCxn id="32" idx="1"/>
          </p:cNvCxnSpPr>
          <p:nvPr/>
        </p:nvCxnSpPr>
        <p:spPr>
          <a:xfrm flipV="1">
            <a:off x="4244236" y="1401969"/>
            <a:ext cx="637703" cy="32793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242073" y="2623626"/>
            <a:ext cx="1080120" cy="5006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Pseudo-Random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50" name="Elbow Connector 49"/>
          <p:cNvCxnSpPr>
            <a:cxnSpLocks/>
            <a:stCxn id="48" idx="3"/>
            <a:endCxn id="54" idx="1"/>
          </p:cNvCxnSpPr>
          <p:nvPr/>
        </p:nvCxnSpPr>
        <p:spPr>
          <a:xfrm>
            <a:off x="1322193" y="2873956"/>
            <a:ext cx="781172" cy="125187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/>
          <p:cNvCxnSpPr>
            <a:cxnSpLocks/>
            <a:stCxn id="20" idx="3"/>
            <a:endCxn id="10" idx="2"/>
          </p:cNvCxnSpPr>
          <p:nvPr/>
        </p:nvCxnSpPr>
        <p:spPr>
          <a:xfrm flipV="1">
            <a:off x="3707904" y="3757743"/>
            <a:ext cx="2912597" cy="1546975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57">
            <a:extLst>
              <a:ext uri="{FF2B5EF4-FFF2-40B4-BE49-F238E27FC236}">
                <a16:creationId xmlns:a16="http://schemas.microsoft.com/office/drawing/2014/main" id="{1520E953-DFE4-402E-89DE-29F770A1C4EB}"/>
              </a:ext>
            </a:extLst>
          </p:cNvPr>
          <p:cNvCxnSpPr>
            <a:cxnSpLocks/>
            <a:endCxn id="54" idx="2"/>
          </p:cNvCxnSpPr>
          <p:nvPr/>
        </p:nvCxnSpPr>
        <p:spPr>
          <a:xfrm flipV="1">
            <a:off x="1954361" y="3376443"/>
            <a:ext cx="824206" cy="309284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58">
            <a:extLst>
              <a:ext uri="{FF2B5EF4-FFF2-40B4-BE49-F238E27FC236}">
                <a16:creationId xmlns:a16="http://schemas.microsoft.com/office/drawing/2014/main" id="{12462889-162D-425D-A339-4177A5483C21}"/>
              </a:ext>
            </a:extLst>
          </p:cNvPr>
          <p:cNvSpPr/>
          <p:nvPr/>
        </p:nvSpPr>
        <p:spPr>
          <a:xfrm>
            <a:off x="1090265" y="3412093"/>
            <a:ext cx="864096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בורר לפי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XY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56" name="Elbow Connector 57">
            <a:extLst>
              <a:ext uri="{FF2B5EF4-FFF2-40B4-BE49-F238E27FC236}">
                <a16:creationId xmlns:a16="http://schemas.microsoft.com/office/drawing/2014/main" id="{5CEACFA2-8760-47DF-8EDF-B212E99DCA48}"/>
              </a:ext>
            </a:extLst>
          </p:cNvPr>
          <p:cNvCxnSpPr>
            <a:cxnSpLocks/>
          </p:cNvCxnSpPr>
          <p:nvPr/>
        </p:nvCxnSpPr>
        <p:spPr>
          <a:xfrm flipV="1">
            <a:off x="1310889" y="5528297"/>
            <a:ext cx="1166934" cy="217556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8">
            <a:extLst>
              <a:ext uri="{FF2B5EF4-FFF2-40B4-BE49-F238E27FC236}">
                <a16:creationId xmlns:a16="http://schemas.microsoft.com/office/drawing/2014/main" id="{6BB09C37-D75F-421B-A75D-2F88062D23C2}"/>
              </a:ext>
            </a:extLst>
          </p:cNvPr>
          <p:cNvSpPr/>
          <p:nvPr/>
        </p:nvSpPr>
        <p:spPr>
          <a:xfrm>
            <a:off x="446793" y="5472219"/>
            <a:ext cx="864096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בורר לפי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XY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35" name="Rectangle 19">
            <a:extLst>
              <a:ext uri="{FF2B5EF4-FFF2-40B4-BE49-F238E27FC236}">
                <a16:creationId xmlns:a16="http://schemas.microsoft.com/office/drawing/2014/main" id="{71418236-104E-4A45-926F-89CED4CC480A}"/>
              </a:ext>
            </a:extLst>
          </p:cNvPr>
          <p:cNvSpPr/>
          <p:nvPr/>
        </p:nvSpPr>
        <p:spPr>
          <a:xfrm>
            <a:off x="4287356" y="4852013"/>
            <a:ext cx="1251756" cy="83286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BG draw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42" name="Elbow Connector 57">
            <a:extLst>
              <a:ext uri="{FF2B5EF4-FFF2-40B4-BE49-F238E27FC236}">
                <a16:creationId xmlns:a16="http://schemas.microsoft.com/office/drawing/2014/main" id="{20EB31F0-8693-4D36-808A-BB7DEF3A7C08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1478757" y="4413288"/>
            <a:ext cx="3434477" cy="438725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33">
            <a:extLst>
              <a:ext uri="{FF2B5EF4-FFF2-40B4-BE49-F238E27FC236}">
                <a16:creationId xmlns:a16="http://schemas.microsoft.com/office/drawing/2014/main" id="{25B2CDD9-550E-4EE5-92DA-CBE53A3A40CD}"/>
              </a:ext>
            </a:extLst>
          </p:cNvPr>
          <p:cNvSpPr/>
          <p:nvPr/>
        </p:nvSpPr>
        <p:spPr>
          <a:xfrm>
            <a:off x="224941" y="4121232"/>
            <a:ext cx="1351399" cy="65306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Static BACKGROUND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80D710-E255-4518-A926-1A1FD4ED5569}"/>
              </a:ext>
            </a:extLst>
          </p:cNvPr>
          <p:cNvSpPr txBox="1"/>
          <p:nvPr/>
        </p:nvSpPr>
        <p:spPr>
          <a:xfrm>
            <a:off x="2569205" y="5416374"/>
            <a:ext cx="1068380" cy="6463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he-IL"/>
            </a:defPPr>
            <a:lvl1pPr algn="ctr">
              <a:defRPr kumimoji="0" sz="11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cs typeface="+mn-cs"/>
              </a:defRPr>
            </a:lvl9pPr>
          </a:lstStyle>
          <a:p>
            <a:r>
              <a:rPr lang="he-IL" dirty="0"/>
              <a:t>מטבעות, יהלומים,אבנים</a:t>
            </a:r>
          </a:p>
        </p:txBody>
      </p:sp>
    </p:spTree>
    <p:extLst>
      <p:ext uri="{BB962C8B-B14F-4D97-AF65-F5344CB8AC3E}">
        <p14:creationId xmlns:p14="http://schemas.microsoft.com/office/powerpoint/2010/main" val="26199794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</p:spPr>
        <p:txBody>
          <a:bodyPr>
            <a:normAutofit/>
          </a:bodyPr>
          <a:lstStyle/>
          <a:p>
            <a:pPr algn="r"/>
            <a:r>
              <a:rPr lang="he-IL" b="1" u="sng" dirty="0">
                <a:solidFill>
                  <a:srgbClr val="3333CC"/>
                </a:solidFill>
              </a:rPr>
              <a:t>ספתח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Down Arrow 5"/>
          <p:cNvSpPr/>
          <p:nvPr/>
        </p:nvSpPr>
        <p:spPr>
          <a:xfrm rot="5400000" flipV="1">
            <a:off x="7573605" y="4405216"/>
            <a:ext cx="413792" cy="1043048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71820" y="4595849"/>
            <a:ext cx="705650" cy="653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VGA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0566" y="4614968"/>
            <a:ext cx="720080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MUX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9" name="Down Arrow 8"/>
          <p:cNvSpPr/>
          <p:nvPr/>
        </p:nvSpPr>
        <p:spPr>
          <a:xfrm rot="5400000" flipV="1">
            <a:off x="6538769" y="4671721"/>
            <a:ext cx="413792" cy="510038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397704" y="3782980"/>
            <a:ext cx="1356638" cy="6530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BACKGROUND (NET)</a:t>
            </a: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logic</a:t>
            </a:r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12" name="Elbow Connector 11"/>
          <p:cNvCxnSpPr>
            <a:endCxn id="8" idx="1"/>
          </p:cNvCxnSpPr>
          <p:nvPr/>
        </p:nvCxnSpPr>
        <p:spPr>
          <a:xfrm>
            <a:off x="2397704" y="4941498"/>
            <a:ext cx="3372862" cy="1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own Arrow 12"/>
          <p:cNvSpPr/>
          <p:nvPr/>
        </p:nvSpPr>
        <p:spPr>
          <a:xfrm rot="5400000" flipV="1">
            <a:off x="6607886" y="5683827"/>
            <a:ext cx="413792" cy="732524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580749" y="5754367"/>
            <a:ext cx="864096" cy="6530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צלילים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31640" y="4632216"/>
            <a:ext cx="1080120" cy="6530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KBD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18" name="Elbow Connector 17"/>
          <p:cNvCxnSpPr>
            <a:stCxn id="10" idx="3"/>
            <a:endCxn id="8" idx="0"/>
          </p:cNvCxnSpPr>
          <p:nvPr/>
        </p:nvCxnSpPr>
        <p:spPr>
          <a:xfrm>
            <a:off x="3754342" y="4109511"/>
            <a:ext cx="2376264" cy="505457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10135" y="4575603"/>
            <a:ext cx="1080120" cy="754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Square move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7C52A57-0630-24EF-C59E-80A6AB43FA1F}"/>
              </a:ext>
            </a:extLst>
          </p:cNvPr>
          <p:cNvSpPr/>
          <p:nvPr/>
        </p:nvSpPr>
        <p:spPr>
          <a:xfrm>
            <a:off x="5166938" y="2819185"/>
            <a:ext cx="298275" cy="26694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C8A7599-4A89-0CD0-785F-FE0127C3B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87" y="814445"/>
            <a:ext cx="5182323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29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old Miner Classic HD- אפליקציה ב-Amazon Appstore">
            <a:extLst>
              <a:ext uri="{FF2B5EF4-FFF2-40B4-BE49-F238E27FC236}">
                <a16:creationId xmlns:a16="http://schemas.microsoft.com/office/drawing/2014/main" id="{99AD71EC-23DD-B5E6-293A-466FE360B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925" y="1910091"/>
            <a:ext cx="3211075" cy="1926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</p:spPr>
        <p:txBody>
          <a:bodyPr>
            <a:normAutofit fontScale="90000"/>
          </a:bodyPr>
          <a:lstStyle/>
          <a:p>
            <a:pPr algn="r"/>
            <a:r>
              <a:rPr lang="en-US" b="1" u="sng" dirty="0">
                <a:solidFill>
                  <a:srgbClr val="3333CC"/>
                </a:solidFill>
              </a:rPr>
              <a:t> DYNAMIC BOARD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123897" y="5106046"/>
            <a:ext cx="1195733" cy="65306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road memory</a:t>
            </a:r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17" name="Elbow Connector 16"/>
          <p:cNvCxnSpPr/>
          <p:nvPr/>
        </p:nvCxnSpPr>
        <p:spPr>
          <a:xfrm>
            <a:off x="1590612" y="5432577"/>
            <a:ext cx="533285" cy="25032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26516" y="5118563"/>
            <a:ext cx="864096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בורר לפי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XY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904677"/>
              </p:ext>
            </p:extLst>
          </p:nvPr>
        </p:nvGraphicFramePr>
        <p:xfrm>
          <a:off x="1517747" y="1052736"/>
          <a:ext cx="3533279" cy="25907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8809">
                  <a:extLst>
                    <a:ext uri="{9D8B030D-6E8A-4147-A177-3AD203B41FA5}">
                      <a16:colId xmlns:a16="http://schemas.microsoft.com/office/drawing/2014/main" val="1988683059"/>
                    </a:ext>
                  </a:extLst>
                </a:gridCol>
                <a:gridCol w="298809">
                  <a:extLst>
                    <a:ext uri="{9D8B030D-6E8A-4147-A177-3AD203B41FA5}">
                      <a16:colId xmlns:a16="http://schemas.microsoft.com/office/drawing/2014/main" val="3923564839"/>
                    </a:ext>
                  </a:extLst>
                </a:gridCol>
                <a:gridCol w="298809">
                  <a:extLst>
                    <a:ext uri="{9D8B030D-6E8A-4147-A177-3AD203B41FA5}">
                      <a16:colId xmlns:a16="http://schemas.microsoft.com/office/drawing/2014/main" val="1425612624"/>
                    </a:ext>
                  </a:extLst>
                </a:gridCol>
                <a:gridCol w="246380">
                  <a:extLst>
                    <a:ext uri="{9D8B030D-6E8A-4147-A177-3AD203B41FA5}">
                      <a16:colId xmlns:a16="http://schemas.microsoft.com/office/drawing/2014/main" val="3048631698"/>
                    </a:ext>
                  </a:extLst>
                </a:gridCol>
                <a:gridCol w="298809">
                  <a:extLst>
                    <a:ext uri="{9D8B030D-6E8A-4147-A177-3AD203B41FA5}">
                      <a16:colId xmlns:a16="http://schemas.microsoft.com/office/drawing/2014/main" val="3853650366"/>
                    </a:ext>
                  </a:extLst>
                </a:gridCol>
                <a:gridCol w="298809">
                  <a:extLst>
                    <a:ext uri="{9D8B030D-6E8A-4147-A177-3AD203B41FA5}">
                      <a16:colId xmlns:a16="http://schemas.microsoft.com/office/drawing/2014/main" val="2826363103"/>
                    </a:ext>
                  </a:extLst>
                </a:gridCol>
                <a:gridCol w="298809">
                  <a:extLst>
                    <a:ext uri="{9D8B030D-6E8A-4147-A177-3AD203B41FA5}">
                      <a16:colId xmlns:a16="http://schemas.microsoft.com/office/drawing/2014/main" val="1105737814"/>
                    </a:ext>
                  </a:extLst>
                </a:gridCol>
                <a:gridCol w="298809">
                  <a:extLst>
                    <a:ext uri="{9D8B030D-6E8A-4147-A177-3AD203B41FA5}">
                      <a16:colId xmlns:a16="http://schemas.microsoft.com/office/drawing/2014/main" val="1207219878"/>
                    </a:ext>
                  </a:extLst>
                </a:gridCol>
                <a:gridCol w="298809">
                  <a:extLst>
                    <a:ext uri="{9D8B030D-6E8A-4147-A177-3AD203B41FA5}">
                      <a16:colId xmlns:a16="http://schemas.microsoft.com/office/drawing/2014/main" val="2659915458"/>
                    </a:ext>
                  </a:extLst>
                </a:gridCol>
                <a:gridCol w="298809">
                  <a:extLst>
                    <a:ext uri="{9D8B030D-6E8A-4147-A177-3AD203B41FA5}">
                      <a16:colId xmlns:a16="http://schemas.microsoft.com/office/drawing/2014/main" val="1527886078"/>
                    </a:ext>
                  </a:extLst>
                </a:gridCol>
                <a:gridCol w="298809">
                  <a:extLst>
                    <a:ext uri="{9D8B030D-6E8A-4147-A177-3AD203B41FA5}">
                      <a16:colId xmlns:a16="http://schemas.microsoft.com/office/drawing/2014/main" val="2275200572"/>
                    </a:ext>
                  </a:extLst>
                </a:gridCol>
                <a:gridCol w="298809">
                  <a:extLst>
                    <a:ext uri="{9D8B030D-6E8A-4147-A177-3AD203B41FA5}">
                      <a16:colId xmlns:a16="http://schemas.microsoft.com/office/drawing/2014/main" val="1399082795"/>
                    </a:ext>
                  </a:extLst>
                </a:gridCol>
              </a:tblGrid>
              <a:tr h="3701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164537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3</a:t>
                      </a:r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832109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373976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665018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689331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3</a:t>
                      </a:r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275434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782661"/>
                  </a:ext>
                </a:extLst>
              </a:tr>
            </a:tbl>
          </a:graphicData>
        </a:graphic>
      </p:graphicFrame>
      <p:cxnSp>
        <p:nvCxnSpPr>
          <p:cNvPr id="38" name="Elbow Connector 37"/>
          <p:cNvCxnSpPr>
            <a:cxnSpLocks/>
            <a:stCxn id="15" idx="3"/>
          </p:cNvCxnSpPr>
          <p:nvPr/>
        </p:nvCxnSpPr>
        <p:spPr>
          <a:xfrm>
            <a:off x="3319630" y="5432577"/>
            <a:ext cx="568986" cy="19049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288778"/>
              </p:ext>
            </p:extLst>
          </p:nvPr>
        </p:nvGraphicFramePr>
        <p:xfrm>
          <a:off x="3890315" y="5270736"/>
          <a:ext cx="1593642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1364">
                  <a:extLst>
                    <a:ext uri="{9D8B030D-6E8A-4147-A177-3AD203B41FA5}">
                      <a16:colId xmlns:a16="http://schemas.microsoft.com/office/drawing/2014/main" val="1425612624"/>
                    </a:ext>
                  </a:extLst>
                </a:gridCol>
                <a:gridCol w="572278">
                  <a:extLst>
                    <a:ext uri="{9D8B030D-6E8A-4147-A177-3AD203B41FA5}">
                      <a16:colId xmlns:a16="http://schemas.microsoft.com/office/drawing/2014/main" val="3821081740"/>
                    </a:ext>
                  </a:extLst>
                </a:gridCol>
              </a:tblGrid>
              <a:tr h="119872">
                <a:tc>
                  <a:txBody>
                    <a:bodyPr/>
                    <a:lstStyle/>
                    <a:p>
                      <a:r>
                        <a:rPr lang="he-IL" dirty="0"/>
                        <a:t>המשבצת</a:t>
                      </a:r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צבע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16453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52FD952-E936-DA1A-C834-B33FB5DA6352}"/>
              </a:ext>
            </a:extLst>
          </p:cNvPr>
          <p:cNvSpPr txBox="1"/>
          <p:nvPr/>
        </p:nvSpPr>
        <p:spPr>
          <a:xfrm>
            <a:off x="611560" y="3643534"/>
            <a:ext cx="57606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dirty="0">
                <a:solidFill>
                  <a:srgbClr val="3333CC"/>
                </a:solidFill>
              </a:rPr>
              <a:t>0   1   2   3  3   4   3  3    2   5  6 </a:t>
            </a:r>
            <a:r>
              <a:rPr lang="he-IL" dirty="0">
                <a:solidFill>
                  <a:srgbClr val="3333CC"/>
                </a:solidFill>
              </a:rPr>
              <a:t>קידוד לדוגמא      לציור  </a:t>
            </a:r>
            <a:r>
              <a:rPr lang="en-US" dirty="0">
                <a:solidFill>
                  <a:srgbClr val="3333CC"/>
                </a:solidFill>
              </a:rPr>
              <a:t> </a:t>
            </a:r>
            <a:endParaRPr lang="he-IL" dirty="0">
              <a:solidFill>
                <a:srgbClr val="3333C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9DC628-484D-F8C6-0C93-2D6EBC5C2FD6}"/>
              </a:ext>
            </a:extLst>
          </p:cNvPr>
          <p:cNvSpPr txBox="1"/>
          <p:nvPr/>
        </p:nvSpPr>
        <p:spPr>
          <a:xfrm>
            <a:off x="4572000" y="4653136"/>
            <a:ext cx="388843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accent1">
                    <a:lumMod val="75000"/>
                  </a:schemeClr>
                </a:solidFill>
              </a:rPr>
              <a:t>נסמן בטבלה .   0, 1 ,2 ,3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e-IL" dirty="0">
                <a:solidFill>
                  <a:schemeClr val="accent1">
                    <a:lumMod val="75000"/>
                  </a:schemeClr>
                </a:solidFill>
              </a:rPr>
              <a:t>ועוד עצמים כמו שנרצה להוסיף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5746517-E1D7-19D8-B2A1-2865F0616EC9}"/>
              </a:ext>
            </a:extLst>
          </p:cNvPr>
          <p:cNvCxnSpPr>
            <a:cxnSpLocks/>
          </p:cNvCxnSpPr>
          <p:nvPr/>
        </p:nvCxnSpPr>
        <p:spPr>
          <a:xfrm>
            <a:off x="4210810" y="1682481"/>
            <a:ext cx="4051401" cy="1065896"/>
          </a:xfrm>
          <a:prstGeom prst="straightConnector1">
            <a:avLst/>
          </a:prstGeom>
          <a:ln w="5715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D3B61AD-5A81-E66B-5DED-B718CBE02963}"/>
              </a:ext>
            </a:extLst>
          </p:cNvPr>
          <p:cNvCxnSpPr>
            <a:cxnSpLocks/>
          </p:cNvCxnSpPr>
          <p:nvPr/>
        </p:nvCxnSpPr>
        <p:spPr>
          <a:xfrm>
            <a:off x="3284386" y="2370787"/>
            <a:ext cx="3375846" cy="408132"/>
          </a:xfrm>
          <a:prstGeom prst="straightConnector1">
            <a:avLst/>
          </a:prstGeom>
          <a:ln w="5715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3C892E-9C3F-3B22-9D9F-00FD3EABC835}"/>
              </a:ext>
            </a:extLst>
          </p:cNvPr>
          <p:cNvCxnSpPr>
            <a:cxnSpLocks/>
          </p:cNvCxnSpPr>
          <p:nvPr/>
        </p:nvCxnSpPr>
        <p:spPr>
          <a:xfrm>
            <a:off x="2123897" y="3086400"/>
            <a:ext cx="5256415" cy="326691"/>
          </a:xfrm>
          <a:prstGeom prst="straightConnector1">
            <a:avLst/>
          </a:prstGeom>
          <a:ln w="5715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3D844C4-D2DB-042C-6C03-C1487ECE8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870" y="1258110"/>
            <a:ext cx="1492818" cy="2294797"/>
          </a:xfrm>
        </p:spPr>
        <p:txBody>
          <a:bodyPr>
            <a:normAutofit/>
          </a:bodyPr>
          <a:lstStyle/>
          <a:p>
            <a:r>
              <a:rPr lang="he-IL" dirty="0">
                <a:highlight>
                  <a:srgbClr val="FFFF00"/>
                </a:highlight>
              </a:rPr>
              <a:t>זהב</a:t>
            </a:r>
          </a:p>
          <a:p>
            <a:r>
              <a:rPr lang="he-IL" sz="1050" dirty="0"/>
              <a:t> </a:t>
            </a:r>
          </a:p>
          <a:p>
            <a:r>
              <a:rPr lang="he-IL" dirty="0">
                <a:highlight>
                  <a:srgbClr val="FFFF00"/>
                </a:highlight>
              </a:rPr>
              <a:t>סלע</a:t>
            </a:r>
          </a:p>
          <a:p>
            <a:r>
              <a:rPr lang="he-IL" dirty="0">
                <a:highlight>
                  <a:srgbClr val="FFFF00"/>
                </a:highlight>
              </a:rPr>
              <a:t>אוצר</a:t>
            </a:r>
          </a:p>
          <a:p>
            <a:r>
              <a:rPr lang="he-IL" dirty="0">
                <a:highlight>
                  <a:srgbClr val="FFFF00"/>
                </a:highlight>
              </a:rPr>
              <a:t>יהלום</a:t>
            </a:r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976643-751F-C627-459A-C2550C06DABA}"/>
              </a:ext>
            </a:extLst>
          </p:cNvPr>
          <p:cNvCxnSpPr>
            <a:cxnSpLocks/>
          </p:cNvCxnSpPr>
          <p:nvPr/>
        </p:nvCxnSpPr>
        <p:spPr>
          <a:xfrm>
            <a:off x="3203848" y="2728593"/>
            <a:ext cx="4752528" cy="212167"/>
          </a:xfrm>
          <a:prstGeom prst="straightConnector1">
            <a:avLst/>
          </a:prstGeom>
          <a:ln w="5715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41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</p:spPr>
        <p:txBody>
          <a:bodyPr>
            <a:normAutofit/>
          </a:bodyPr>
          <a:lstStyle/>
          <a:p>
            <a:pPr algn="r"/>
            <a:r>
              <a:rPr lang="he-IL" b="1" u="sng" dirty="0">
                <a:solidFill>
                  <a:srgbClr val="3333CC"/>
                </a:solidFill>
              </a:rPr>
              <a:t>מנגנוני התנגשות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61" name="Slide Number Placeholder 3">
            <a:extLst>
              <a:ext uri="{FF2B5EF4-FFF2-40B4-BE49-F238E27FC236}">
                <a16:creationId xmlns:a16="http://schemas.microsoft.com/office/drawing/2014/main" id="{B22FC6E9-BE9C-23E6-AF70-62D8C4D21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64655" y="5939029"/>
            <a:ext cx="856907" cy="669925"/>
          </a:xfrm>
        </p:spPr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D90EE71-6A59-2F93-BAEC-046CC037328C}"/>
              </a:ext>
            </a:extLst>
          </p:cNvPr>
          <p:cNvSpPr/>
          <p:nvPr/>
        </p:nvSpPr>
        <p:spPr>
          <a:xfrm>
            <a:off x="2875776" y="2416627"/>
            <a:ext cx="1080120" cy="165312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hit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97B0A60-0A90-76AD-22D3-EF42AAA521FD}"/>
              </a:ext>
            </a:extLst>
          </p:cNvPr>
          <p:cNvSpPr/>
          <p:nvPr/>
        </p:nvSpPr>
        <p:spPr>
          <a:xfrm>
            <a:off x="670639" y="2370718"/>
            <a:ext cx="1460436" cy="6530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player draw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116" name="Elbow Connector 57">
            <a:extLst>
              <a:ext uri="{FF2B5EF4-FFF2-40B4-BE49-F238E27FC236}">
                <a16:creationId xmlns:a16="http://schemas.microsoft.com/office/drawing/2014/main" id="{D34AAD26-6D98-0F9E-CEF4-5C2BF6069454}"/>
              </a:ext>
            </a:extLst>
          </p:cNvPr>
          <p:cNvCxnSpPr>
            <a:cxnSpLocks/>
          </p:cNvCxnSpPr>
          <p:nvPr/>
        </p:nvCxnSpPr>
        <p:spPr>
          <a:xfrm flipV="1">
            <a:off x="2218050" y="3558986"/>
            <a:ext cx="652373" cy="32874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33">
            <a:extLst>
              <a:ext uri="{FF2B5EF4-FFF2-40B4-BE49-F238E27FC236}">
                <a16:creationId xmlns:a16="http://schemas.microsoft.com/office/drawing/2014/main" id="{E42BB92F-EE84-8A94-9C25-5E327AF7DB34}"/>
              </a:ext>
            </a:extLst>
          </p:cNvPr>
          <p:cNvSpPr/>
          <p:nvPr/>
        </p:nvSpPr>
        <p:spPr>
          <a:xfrm>
            <a:off x="812866" y="3429000"/>
            <a:ext cx="1351399" cy="65306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Static BACKGROUND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118" name="Elbow Connector 57">
            <a:extLst>
              <a:ext uri="{FF2B5EF4-FFF2-40B4-BE49-F238E27FC236}">
                <a16:creationId xmlns:a16="http://schemas.microsoft.com/office/drawing/2014/main" id="{4B95B545-6139-AA9F-8E54-49AEC30599C5}"/>
              </a:ext>
            </a:extLst>
          </p:cNvPr>
          <p:cNvCxnSpPr>
            <a:cxnSpLocks/>
          </p:cNvCxnSpPr>
          <p:nvPr/>
        </p:nvCxnSpPr>
        <p:spPr>
          <a:xfrm flipV="1">
            <a:off x="2218049" y="3867445"/>
            <a:ext cx="652373" cy="32874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Elbow Connector 57">
            <a:extLst>
              <a:ext uri="{FF2B5EF4-FFF2-40B4-BE49-F238E27FC236}">
                <a16:creationId xmlns:a16="http://schemas.microsoft.com/office/drawing/2014/main" id="{03D8126A-CD50-2F2E-143D-98345D9EEDEA}"/>
              </a:ext>
            </a:extLst>
          </p:cNvPr>
          <p:cNvCxnSpPr>
            <a:cxnSpLocks/>
          </p:cNvCxnSpPr>
          <p:nvPr/>
        </p:nvCxnSpPr>
        <p:spPr>
          <a:xfrm>
            <a:off x="2177239" y="2678447"/>
            <a:ext cx="665347" cy="12700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DF594B9-0FE9-95D3-2AFE-A2ED9694E776}"/>
              </a:ext>
            </a:extLst>
          </p:cNvPr>
          <p:cNvSpPr txBox="1"/>
          <p:nvPr/>
        </p:nvSpPr>
        <p:spPr>
          <a:xfrm>
            <a:off x="2000925" y="2221867"/>
            <a:ext cx="87217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DR</a:t>
            </a:r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08D7706-0724-FE2A-F445-C3821720C2A3}"/>
              </a:ext>
            </a:extLst>
          </p:cNvPr>
          <p:cNvSpPr txBox="1"/>
          <p:nvPr/>
        </p:nvSpPr>
        <p:spPr>
          <a:xfrm>
            <a:off x="2036792" y="3122580"/>
            <a:ext cx="87217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DR</a:t>
            </a:r>
            <a:endParaRPr lang="he-I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767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163F3C-1F9F-E711-7555-7AD9C170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14D6E5A-4AB0-2C70-FB07-A279BFC77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</p:spPr>
        <p:txBody>
          <a:bodyPr>
            <a:normAutofit/>
          </a:bodyPr>
          <a:lstStyle/>
          <a:p>
            <a:pPr algn="r"/>
            <a:r>
              <a:rPr lang="he-IL" b="1" u="sng" dirty="0">
                <a:solidFill>
                  <a:srgbClr val="3333CC"/>
                </a:solidFill>
              </a:rPr>
              <a:t>מנגנוני התנגשות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A4FC54A1-B174-88C2-FF87-F4F0FF21BECA}"/>
              </a:ext>
            </a:extLst>
          </p:cNvPr>
          <p:cNvSpPr/>
          <p:nvPr/>
        </p:nvSpPr>
        <p:spPr>
          <a:xfrm>
            <a:off x="2870423" y="980466"/>
            <a:ext cx="58950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r" defTabSz="914400" rtl="1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Times New Roman" panose="02020603050405020304" pitchFamily="18" charset="0"/>
              <a:buChar char="-"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146194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charset="0"/>
              </a:rPr>
              <a:t>מימוש מנגנון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46194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charset="0"/>
              </a:rPr>
              <a:t>HIT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146194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charset="0"/>
              </a:rPr>
              <a:t> להתנגשות בין הקרס לאובייקט כלשהו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46194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charset="0"/>
            </a:endParaRPr>
          </a:p>
        </p:txBody>
      </p:sp>
      <p:sp>
        <p:nvSpPr>
          <p:cNvPr id="61" name="Slide Number Placeholder 3">
            <a:extLst>
              <a:ext uri="{FF2B5EF4-FFF2-40B4-BE49-F238E27FC236}">
                <a16:creationId xmlns:a16="http://schemas.microsoft.com/office/drawing/2014/main" id="{3D2EE1D6-311C-2635-EA8A-A4619B8DB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64655" y="5939029"/>
            <a:ext cx="856907" cy="669925"/>
          </a:xfrm>
        </p:spPr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8692E22-BEBB-989B-8594-FC96EA69A3A8}"/>
              </a:ext>
            </a:extLst>
          </p:cNvPr>
          <p:cNvSpPr/>
          <p:nvPr/>
        </p:nvSpPr>
        <p:spPr>
          <a:xfrm>
            <a:off x="2875776" y="2416627"/>
            <a:ext cx="1080120" cy="165312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hit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9898E11-2D99-1BD9-35D0-594767FF1652}"/>
              </a:ext>
            </a:extLst>
          </p:cNvPr>
          <p:cNvSpPr/>
          <p:nvPr/>
        </p:nvSpPr>
        <p:spPr>
          <a:xfrm>
            <a:off x="2789958" y="4449305"/>
            <a:ext cx="1251756" cy="83286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Dynamic BACKGROUND</a:t>
            </a:r>
            <a:endParaRPr kumimoji="0" lang="he-IL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8A44A51-FFA5-C72F-1C0C-D715640021FB}"/>
              </a:ext>
            </a:extLst>
          </p:cNvPr>
          <p:cNvSpPr/>
          <p:nvPr/>
        </p:nvSpPr>
        <p:spPr>
          <a:xfrm>
            <a:off x="670639" y="2370718"/>
            <a:ext cx="1460436" cy="6530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player draw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113" name="Elbow Connector 57">
            <a:extLst>
              <a:ext uri="{FF2B5EF4-FFF2-40B4-BE49-F238E27FC236}">
                <a16:creationId xmlns:a16="http://schemas.microsoft.com/office/drawing/2014/main" id="{79C516A4-ED79-C4F8-5A88-E9E858DA986D}"/>
              </a:ext>
            </a:extLst>
          </p:cNvPr>
          <p:cNvCxnSpPr>
            <a:cxnSpLocks/>
          </p:cNvCxnSpPr>
          <p:nvPr/>
        </p:nvCxnSpPr>
        <p:spPr>
          <a:xfrm flipV="1">
            <a:off x="1232989" y="5157192"/>
            <a:ext cx="1556967" cy="674562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58">
            <a:extLst>
              <a:ext uri="{FF2B5EF4-FFF2-40B4-BE49-F238E27FC236}">
                <a16:creationId xmlns:a16="http://schemas.microsoft.com/office/drawing/2014/main" id="{C72AFC8B-759E-5F71-94C4-7D1827952251}"/>
              </a:ext>
            </a:extLst>
          </p:cNvPr>
          <p:cNvSpPr/>
          <p:nvPr/>
        </p:nvSpPr>
        <p:spPr>
          <a:xfrm>
            <a:off x="368893" y="5558120"/>
            <a:ext cx="864096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בורר לפי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XY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116" name="Elbow Connector 57">
            <a:extLst>
              <a:ext uri="{FF2B5EF4-FFF2-40B4-BE49-F238E27FC236}">
                <a16:creationId xmlns:a16="http://schemas.microsoft.com/office/drawing/2014/main" id="{B34287F6-0E7D-F1CC-4452-7E71671F0DE9}"/>
              </a:ext>
            </a:extLst>
          </p:cNvPr>
          <p:cNvCxnSpPr>
            <a:cxnSpLocks/>
            <a:stCxn id="69" idx="1"/>
          </p:cNvCxnSpPr>
          <p:nvPr/>
        </p:nvCxnSpPr>
        <p:spPr>
          <a:xfrm rot="10800000" flipH="1">
            <a:off x="2789957" y="3558989"/>
            <a:ext cx="80463" cy="1306749"/>
          </a:xfrm>
          <a:prstGeom prst="bentConnector4">
            <a:avLst>
              <a:gd name="adj1" fmla="val -1013133"/>
              <a:gd name="adj2" fmla="val 98941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57">
            <a:extLst>
              <a:ext uri="{FF2B5EF4-FFF2-40B4-BE49-F238E27FC236}">
                <a16:creationId xmlns:a16="http://schemas.microsoft.com/office/drawing/2014/main" id="{68DDA751-F3C8-5D19-9F09-B08D40B60A52}"/>
              </a:ext>
            </a:extLst>
          </p:cNvPr>
          <p:cNvCxnSpPr>
            <a:cxnSpLocks/>
            <a:stCxn id="69" idx="3"/>
            <a:endCxn id="68" idx="3"/>
          </p:cNvCxnSpPr>
          <p:nvPr/>
        </p:nvCxnSpPr>
        <p:spPr>
          <a:xfrm flipH="1" flipV="1">
            <a:off x="3955896" y="3243191"/>
            <a:ext cx="85818" cy="1622546"/>
          </a:xfrm>
          <a:prstGeom prst="bentConnector3">
            <a:avLst>
              <a:gd name="adj1" fmla="val -2387346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Elbow Connector 57">
            <a:extLst>
              <a:ext uri="{FF2B5EF4-FFF2-40B4-BE49-F238E27FC236}">
                <a16:creationId xmlns:a16="http://schemas.microsoft.com/office/drawing/2014/main" id="{343C000D-BB48-A00F-122E-16DE56242508}"/>
              </a:ext>
            </a:extLst>
          </p:cNvPr>
          <p:cNvCxnSpPr>
            <a:cxnSpLocks/>
          </p:cNvCxnSpPr>
          <p:nvPr/>
        </p:nvCxnSpPr>
        <p:spPr>
          <a:xfrm>
            <a:off x="2177239" y="2678447"/>
            <a:ext cx="665347" cy="12700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D1BDBEC-D71A-955C-B2D1-0B63E8DF62FC}"/>
              </a:ext>
            </a:extLst>
          </p:cNvPr>
          <p:cNvSpPr txBox="1"/>
          <p:nvPr/>
        </p:nvSpPr>
        <p:spPr>
          <a:xfrm>
            <a:off x="2938244" y="5661248"/>
            <a:ext cx="235383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Grid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x,y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] &lt;= 0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56B17E-A22E-A971-B63D-B15AFD987626}"/>
              </a:ext>
            </a:extLst>
          </p:cNvPr>
          <p:cNvSpPr txBox="1"/>
          <p:nvPr/>
        </p:nvSpPr>
        <p:spPr>
          <a:xfrm>
            <a:off x="3967296" y="2476104"/>
            <a:ext cx="413309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if(Grid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x,y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] == 1 ) &amp;&amp;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Player_DR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553C0F-7C99-D99A-6FBC-D4CE9FAEC14A}"/>
              </a:ext>
            </a:extLst>
          </p:cNvPr>
          <p:cNvSpPr txBox="1"/>
          <p:nvPr/>
        </p:nvSpPr>
        <p:spPr>
          <a:xfrm>
            <a:off x="2131075" y="2230143"/>
            <a:ext cx="87217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DR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3480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</p:spPr>
        <p:txBody>
          <a:bodyPr>
            <a:normAutofit/>
          </a:bodyPr>
          <a:lstStyle/>
          <a:p>
            <a:pPr algn="r"/>
            <a:r>
              <a:rPr lang="he-IL" b="1" u="sng" dirty="0">
                <a:solidFill>
                  <a:srgbClr val="3333CC"/>
                </a:solidFill>
              </a:rPr>
              <a:t>פתיחת </a:t>
            </a:r>
            <a:r>
              <a:rPr lang="en-US" b="1" u="sng" dirty="0">
                <a:solidFill>
                  <a:srgbClr val="3333CC"/>
                </a:solidFill>
              </a:rPr>
              <a:t>PIPE</a:t>
            </a:r>
            <a:r>
              <a:rPr lang="he-IL" b="1" u="sng" dirty="0">
                <a:solidFill>
                  <a:srgbClr val="3333CC"/>
                </a:solidFill>
              </a:rPr>
              <a:t>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F33E2208-E016-499D-AF0E-D08D6190C2C1}"/>
              </a:ext>
            </a:extLst>
          </p:cNvPr>
          <p:cNvSpPr/>
          <p:nvPr/>
        </p:nvSpPr>
        <p:spPr>
          <a:xfrm>
            <a:off x="2870423" y="980466"/>
            <a:ext cx="589502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he-IL" sz="1400" dirty="0">
                <a:solidFill>
                  <a:schemeClr val="bg1"/>
                </a:solidFill>
              </a:rPr>
              <a:t>ממשק מקלדת להפעלת הקרס (שליחה והחזרה) בהתאם לפקודות המשתמש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lvl="0"/>
            <a:r>
              <a:rPr lang="he-IL" sz="1400" dirty="0">
                <a:solidFill>
                  <a:schemeClr val="bg1"/>
                </a:solidFill>
              </a:rPr>
              <a:t>מערך אוצרות שבו הקרס לוכד את האובייקט הראשון שבקו הפגיעה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lvl="0"/>
            <a:r>
              <a:rPr lang="he-IL" sz="1400" dirty="0">
                <a:solidFill>
                  <a:schemeClr val="bg1"/>
                </a:solidFill>
              </a:rPr>
              <a:t>תצוגה של אזור החפירה והרקע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lvl="0"/>
            <a:r>
              <a:rPr lang="he-IL" sz="1400" dirty="0">
                <a:solidFill>
                  <a:schemeClr val="bg1"/>
                </a:solidFill>
              </a:rPr>
              <a:t>תצוגת זמן, ניקוד ויעד כספי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lvl="0"/>
            <a:r>
              <a:rPr lang="he-IL" sz="1400" dirty="0">
                <a:solidFill>
                  <a:schemeClr val="bg1"/>
                </a:solidFill>
              </a:rPr>
              <a:t>צליל אחד לפחות (לדוגמה – איסוף אוצר)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r>
              <a:rPr lang="he-IL" sz="1400" dirty="0">
                <a:solidFill>
                  <a:schemeClr val="bg1"/>
                </a:solidFill>
              </a:rPr>
              <a:t>לוגיקה לזיהוי לכידת אוצר, זיהוי סלע, וסיום משחק כשהזמן מסתיים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charset="0"/>
            </a:endParaRPr>
          </a:p>
        </p:txBody>
      </p:sp>
      <p:grpSp>
        <p:nvGrpSpPr>
          <p:cNvPr id="70" name="Group 69"/>
          <p:cNvGrpSpPr/>
          <p:nvPr/>
        </p:nvGrpSpPr>
        <p:grpSpPr>
          <a:xfrm>
            <a:off x="222064" y="929542"/>
            <a:ext cx="2552751" cy="1873412"/>
            <a:chOff x="2267744" y="2204864"/>
            <a:chExt cx="3240360" cy="2016223"/>
          </a:xfrm>
        </p:grpSpPr>
        <p:sp>
          <p:nvSpPr>
            <p:cNvPr id="71" name="Rectangle 70"/>
            <p:cNvSpPr/>
            <p:nvPr/>
          </p:nvSpPr>
          <p:spPr>
            <a:xfrm>
              <a:off x="2267744" y="2204864"/>
              <a:ext cx="3240360" cy="201622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t"/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</p:txBody>
        </p:sp>
        <p:sp>
          <p:nvSpPr>
            <p:cNvPr id="72" name="Down Arrow 71"/>
            <p:cNvSpPr/>
            <p:nvPr/>
          </p:nvSpPr>
          <p:spPr>
            <a:xfrm rot="5400000" flipV="1">
              <a:off x="4422300" y="2488976"/>
              <a:ext cx="131844" cy="324318"/>
            </a:xfrm>
            <a:prstGeom prst="down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852627" y="2549814"/>
              <a:ext cx="480680" cy="208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rPr>
                <a:t>צלילים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483768" y="2420888"/>
              <a:ext cx="845587" cy="315838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t"/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rPr>
                <a:t>מנהל </a:t>
              </a:r>
            </a:p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rPr>
                <a:t>משחק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2411760" y="3179564"/>
              <a:ext cx="470638" cy="198404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KBD</a:t>
              </a:r>
              <a:endParaRPr kumimoji="0" lang="he-IL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4211961" y="3222657"/>
              <a:ext cx="458884" cy="77775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MUX</a:t>
              </a:r>
              <a:endParaRPr kumimoji="0" lang="he-IL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</p:txBody>
        </p:sp>
        <p:sp>
          <p:nvSpPr>
            <p:cNvPr id="77" name="Down Arrow 76"/>
            <p:cNvSpPr/>
            <p:nvPr/>
          </p:nvSpPr>
          <p:spPr>
            <a:xfrm rot="5400000" flipV="1">
              <a:off x="4781872" y="3459299"/>
              <a:ext cx="125712" cy="319181"/>
            </a:xfrm>
            <a:prstGeom prst="down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5018612" y="3565422"/>
              <a:ext cx="345476" cy="116324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VGA</a:t>
              </a:r>
              <a:endParaRPr kumimoji="0" lang="he-IL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4637746" y="2507451"/>
              <a:ext cx="419601" cy="2843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rPr>
                <a:t>רמקול</a:t>
              </a:r>
            </a:p>
          </p:txBody>
        </p:sp>
        <p:sp>
          <p:nvSpPr>
            <p:cNvPr id="80" name="Right Arrow 79"/>
            <p:cNvSpPr/>
            <p:nvPr/>
          </p:nvSpPr>
          <p:spPr>
            <a:xfrm>
              <a:off x="2882398" y="3224065"/>
              <a:ext cx="331824" cy="115914"/>
            </a:xfrm>
            <a:prstGeom prst="rightArrow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214222" y="3815390"/>
              <a:ext cx="475720" cy="20808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rPr>
                <a:t>רקע</a:t>
              </a:r>
            </a:p>
          </p:txBody>
        </p:sp>
        <p:sp>
          <p:nvSpPr>
            <p:cNvPr id="82" name="Rectangle 81"/>
            <p:cNvSpPr/>
            <p:nvPr/>
          </p:nvSpPr>
          <p:spPr>
            <a:xfrm rot="16200000">
              <a:off x="4201463" y="3073423"/>
              <a:ext cx="506098" cy="20505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rPr>
                <a:t>התנגשות</a:t>
              </a:r>
            </a:p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</p:txBody>
        </p:sp>
        <p:cxnSp>
          <p:nvCxnSpPr>
            <p:cNvPr id="83" name="Straight Arrow Connector 82"/>
            <p:cNvCxnSpPr>
              <a:stCxn id="82" idx="0"/>
            </p:cNvCxnSpPr>
            <p:nvPr/>
          </p:nvCxnSpPr>
          <p:spPr>
            <a:xfrm flipH="1" flipV="1">
              <a:off x="3326906" y="2682848"/>
              <a:ext cx="1025080" cy="493102"/>
            </a:xfrm>
            <a:prstGeom prst="straightConnector1">
              <a:avLst/>
            </a:prstGeom>
            <a:ln w="19050">
              <a:solidFill>
                <a:schemeClr val="accent1"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>
              <a:off x="3214223" y="2747327"/>
              <a:ext cx="326721" cy="415609"/>
            </a:xfrm>
            <a:prstGeom prst="straightConnector1">
              <a:avLst/>
            </a:prstGeom>
            <a:ln w="19050">
              <a:solidFill>
                <a:schemeClr val="accent1"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stCxn id="74" idx="3"/>
              <a:endCxn id="73" idx="1"/>
            </p:cNvCxnSpPr>
            <p:nvPr/>
          </p:nvCxnSpPr>
          <p:spPr>
            <a:xfrm>
              <a:off x="3329355" y="2578807"/>
              <a:ext cx="523272" cy="75047"/>
            </a:xfrm>
            <a:prstGeom prst="straightConnector1">
              <a:avLst/>
            </a:prstGeom>
            <a:ln w="19050">
              <a:solidFill>
                <a:schemeClr val="accent1"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>
              <a:off x="3206716" y="2758179"/>
              <a:ext cx="168144" cy="740100"/>
            </a:xfrm>
            <a:prstGeom prst="straightConnector1">
              <a:avLst/>
            </a:prstGeom>
            <a:ln w="19050">
              <a:solidFill>
                <a:schemeClr val="accent1"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>
              <a:off x="3214222" y="2758179"/>
              <a:ext cx="89932" cy="1057211"/>
            </a:xfrm>
            <a:prstGeom prst="straightConnector1">
              <a:avLst/>
            </a:prstGeom>
            <a:ln w="19050">
              <a:solidFill>
                <a:schemeClr val="accent1"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87"/>
            <p:cNvSpPr/>
            <p:nvPr/>
          </p:nvSpPr>
          <p:spPr>
            <a:xfrm>
              <a:off x="3214222" y="3169888"/>
              <a:ext cx="475720" cy="20808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rPr>
                <a:t>שחקנים</a:t>
              </a:r>
              <a:endParaRPr kumimoji="0" lang="he-IL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3214222" y="3492639"/>
              <a:ext cx="475720" cy="20808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rPr>
                <a:t>עצמים</a:t>
              </a:r>
            </a:p>
          </p:txBody>
        </p:sp>
        <p:grpSp>
          <p:nvGrpSpPr>
            <p:cNvPr id="90" name="Group 89"/>
            <p:cNvGrpSpPr/>
            <p:nvPr/>
          </p:nvGrpSpPr>
          <p:grpSpPr>
            <a:xfrm>
              <a:off x="2640939" y="2494729"/>
              <a:ext cx="282615" cy="180968"/>
              <a:chOff x="401097" y="1196752"/>
              <a:chExt cx="1057087" cy="805167"/>
            </a:xfrm>
          </p:grpSpPr>
          <p:sp>
            <p:nvSpPr>
              <p:cNvPr id="91" name="Oval 90"/>
              <p:cNvSpPr/>
              <p:nvPr/>
            </p:nvSpPr>
            <p:spPr>
              <a:xfrm>
                <a:off x="900390" y="1196752"/>
                <a:ext cx="359242" cy="359152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endParaRPr>
              </a:p>
            </p:txBody>
          </p:sp>
          <p:sp>
            <p:nvSpPr>
              <p:cNvPr id="92" name="Oval 91"/>
              <p:cNvSpPr/>
              <p:nvPr/>
            </p:nvSpPr>
            <p:spPr>
              <a:xfrm>
                <a:off x="1098942" y="1642767"/>
                <a:ext cx="359242" cy="359152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endParaRPr>
              </a:p>
            </p:txBody>
          </p:sp>
          <p:sp>
            <p:nvSpPr>
              <p:cNvPr id="93" name="Oval 92"/>
              <p:cNvSpPr/>
              <p:nvPr/>
            </p:nvSpPr>
            <p:spPr>
              <a:xfrm>
                <a:off x="462810" y="1628958"/>
                <a:ext cx="359242" cy="359152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endParaRPr>
              </a:p>
            </p:txBody>
          </p:sp>
          <p:sp>
            <p:nvSpPr>
              <p:cNvPr id="94" name="Arc 93"/>
              <p:cNvSpPr/>
              <p:nvPr/>
            </p:nvSpPr>
            <p:spPr>
              <a:xfrm>
                <a:off x="1187127" y="1346713"/>
                <a:ext cx="175558" cy="655205"/>
              </a:xfrm>
              <a:prstGeom prst="arc">
                <a:avLst/>
              </a:prstGeom>
              <a:ln w="19050">
                <a:solidFill>
                  <a:schemeClr val="accent1">
                    <a:alpha val="6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endParaRPr>
              </a:p>
            </p:txBody>
          </p:sp>
          <p:sp>
            <p:nvSpPr>
              <p:cNvPr id="95" name="Arc 94"/>
              <p:cNvSpPr/>
              <p:nvPr/>
            </p:nvSpPr>
            <p:spPr>
              <a:xfrm rot="6690130">
                <a:off x="526672" y="1363759"/>
                <a:ext cx="497543" cy="748693"/>
              </a:xfrm>
              <a:prstGeom prst="arc">
                <a:avLst/>
              </a:prstGeom>
              <a:ln w="19050">
                <a:solidFill>
                  <a:schemeClr val="accent1">
                    <a:alpha val="6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endParaRPr>
              </a:p>
            </p:txBody>
          </p:sp>
          <p:sp>
            <p:nvSpPr>
              <p:cNvPr id="96" name="Arc 95"/>
              <p:cNvSpPr/>
              <p:nvPr/>
            </p:nvSpPr>
            <p:spPr>
              <a:xfrm rot="15236873">
                <a:off x="727336" y="1120394"/>
                <a:ext cx="497543" cy="748693"/>
              </a:xfrm>
              <a:prstGeom prst="arc">
                <a:avLst/>
              </a:prstGeom>
              <a:ln w="19050">
                <a:solidFill>
                  <a:schemeClr val="accent1">
                    <a:alpha val="6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endParaRPr>
              </a:p>
            </p:txBody>
          </p:sp>
        </p:grpSp>
      </p:grpSp>
      <p:cxnSp>
        <p:nvCxnSpPr>
          <p:cNvPr id="59" name="Elbow Connector 43">
            <a:extLst>
              <a:ext uri="{FF2B5EF4-FFF2-40B4-BE49-F238E27FC236}">
                <a16:creationId xmlns:a16="http://schemas.microsoft.com/office/drawing/2014/main" id="{40BBEA25-45F9-FC7C-AD22-49B1D6990525}"/>
              </a:ext>
            </a:extLst>
          </p:cNvPr>
          <p:cNvCxnSpPr/>
          <p:nvPr/>
        </p:nvCxnSpPr>
        <p:spPr>
          <a:xfrm rot="16200000" flipH="1">
            <a:off x="5196163" y="4150029"/>
            <a:ext cx="1642938" cy="407450"/>
          </a:xfrm>
          <a:prstGeom prst="bentConnector3">
            <a:avLst>
              <a:gd name="adj1" fmla="val 52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itle 1">
            <a:extLst>
              <a:ext uri="{FF2B5EF4-FFF2-40B4-BE49-F238E27FC236}">
                <a16:creationId xmlns:a16="http://schemas.microsoft.com/office/drawing/2014/main" id="{87BC9DC3-4752-15E4-8335-ACCAEB85FEB2}"/>
              </a:ext>
            </a:extLst>
          </p:cNvPr>
          <p:cNvSpPr txBox="1">
            <a:spLocks/>
          </p:cNvSpPr>
          <p:nvPr/>
        </p:nvSpPr>
        <p:spPr>
          <a:xfrm>
            <a:off x="1112010" y="2362315"/>
            <a:ext cx="5269474" cy="93275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r" fontAlgn="auto">
              <a:spcAft>
                <a:spcPts val="0"/>
              </a:spcAft>
            </a:pPr>
            <a:r>
              <a:rPr lang="he-IL" b="1" u="sng">
                <a:solidFill>
                  <a:srgbClr val="3333CC"/>
                </a:solidFill>
              </a:rPr>
              <a:t>מימוש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61" name="Slide Number Placeholder 3">
            <a:extLst>
              <a:ext uri="{FF2B5EF4-FFF2-40B4-BE49-F238E27FC236}">
                <a16:creationId xmlns:a16="http://schemas.microsoft.com/office/drawing/2014/main" id="{B22FC6E9-BE9C-23E6-AF70-62D8C4D21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64655" y="5939029"/>
            <a:ext cx="856907" cy="669925"/>
          </a:xfrm>
        </p:spPr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2" name="Down Arrow 7">
            <a:extLst>
              <a:ext uri="{FF2B5EF4-FFF2-40B4-BE49-F238E27FC236}">
                <a16:creationId xmlns:a16="http://schemas.microsoft.com/office/drawing/2014/main" id="{262B849D-1991-0A7D-864C-A8DCBBD0C083}"/>
              </a:ext>
            </a:extLst>
          </p:cNvPr>
          <p:cNvSpPr/>
          <p:nvPr/>
        </p:nvSpPr>
        <p:spPr>
          <a:xfrm rot="5400000" flipV="1">
            <a:off x="7637222" y="5042358"/>
            <a:ext cx="413792" cy="1043048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0F053CD-98A3-D0DC-3632-4F9A87F63DBE}"/>
              </a:ext>
            </a:extLst>
          </p:cNvPr>
          <p:cNvSpPr/>
          <p:nvPr/>
        </p:nvSpPr>
        <p:spPr>
          <a:xfrm>
            <a:off x="7035437" y="5232991"/>
            <a:ext cx="705650" cy="653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VGA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E328F7D-2D83-B957-D82F-B45B1169E8F9}"/>
              </a:ext>
            </a:extLst>
          </p:cNvPr>
          <p:cNvSpPr/>
          <p:nvPr/>
        </p:nvSpPr>
        <p:spPr>
          <a:xfrm>
            <a:off x="5834183" y="5252110"/>
            <a:ext cx="720080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MUX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65" name="Down Arrow 10">
            <a:extLst>
              <a:ext uri="{FF2B5EF4-FFF2-40B4-BE49-F238E27FC236}">
                <a16:creationId xmlns:a16="http://schemas.microsoft.com/office/drawing/2014/main" id="{F92366FB-5948-6459-4E82-2FFD10BF59DF}"/>
              </a:ext>
            </a:extLst>
          </p:cNvPr>
          <p:cNvSpPr/>
          <p:nvPr/>
        </p:nvSpPr>
        <p:spPr>
          <a:xfrm rot="5400000" flipV="1">
            <a:off x="6602386" y="5308863"/>
            <a:ext cx="413792" cy="510038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D90EE71-6A59-2F93-BAEC-046CC037328C}"/>
              </a:ext>
            </a:extLst>
          </p:cNvPr>
          <p:cNvSpPr/>
          <p:nvPr/>
        </p:nvSpPr>
        <p:spPr>
          <a:xfrm>
            <a:off x="6667588" y="3347466"/>
            <a:ext cx="1080120" cy="165312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hit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5ED737A-06F6-5932-8EE3-3C9E01572E72}"/>
              </a:ext>
            </a:extLst>
          </p:cNvPr>
          <p:cNvSpPr/>
          <p:nvPr/>
        </p:nvSpPr>
        <p:spPr>
          <a:xfrm>
            <a:off x="2378248" y="4974187"/>
            <a:ext cx="1251756" cy="83286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Dynamic BACKGROUND</a:t>
            </a:r>
            <a:endParaRPr kumimoji="0" lang="he-IL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C025DA5-ECCF-841B-EACE-114BC6B9A2F7}"/>
              </a:ext>
            </a:extLst>
          </p:cNvPr>
          <p:cNvSpPr/>
          <p:nvPr/>
        </p:nvSpPr>
        <p:spPr>
          <a:xfrm>
            <a:off x="7444158" y="2858787"/>
            <a:ext cx="1394832" cy="12328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Game controller</a:t>
            </a:r>
          </a:p>
        </p:txBody>
      </p:sp>
      <p:sp>
        <p:nvSpPr>
          <p:cNvPr id="98" name="Down Arrow 28">
            <a:extLst>
              <a:ext uri="{FF2B5EF4-FFF2-40B4-BE49-F238E27FC236}">
                <a16:creationId xmlns:a16="http://schemas.microsoft.com/office/drawing/2014/main" id="{7808704A-77BF-F462-1BDA-5BB1B449DAF4}"/>
              </a:ext>
            </a:extLst>
          </p:cNvPr>
          <p:cNvSpPr/>
          <p:nvPr/>
        </p:nvSpPr>
        <p:spPr>
          <a:xfrm rot="5400000" flipV="1">
            <a:off x="7430465" y="6035796"/>
            <a:ext cx="413792" cy="732524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4E04226-6659-29F0-5CCE-3987A83D68C8}"/>
              </a:ext>
            </a:extLst>
          </p:cNvPr>
          <p:cNvSpPr/>
          <p:nvPr/>
        </p:nvSpPr>
        <p:spPr>
          <a:xfrm>
            <a:off x="6403328" y="6106336"/>
            <a:ext cx="864096" cy="6530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צלילים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057BB33-BB65-1198-193B-E2240108E57D}"/>
              </a:ext>
            </a:extLst>
          </p:cNvPr>
          <p:cNvSpPr/>
          <p:nvPr/>
        </p:nvSpPr>
        <p:spPr>
          <a:xfrm>
            <a:off x="2599579" y="3255659"/>
            <a:ext cx="1218379" cy="6530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player logic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97B0A60-0A90-76AD-22D3-EF42AAA521FD}"/>
              </a:ext>
            </a:extLst>
          </p:cNvPr>
          <p:cNvSpPr/>
          <p:nvPr/>
        </p:nvSpPr>
        <p:spPr>
          <a:xfrm>
            <a:off x="4455661" y="3222866"/>
            <a:ext cx="1460436" cy="6530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player draw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60C7AC0-9DEB-B29E-E522-7217DB650BA7}"/>
              </a:ext>
            </a:extLst>
          </p:cNvPr>
          <p:cNvSpPr/>
          <p:nvPr/>
        </p:nvSpPr>
        <p:spPr>
          <a:xfrm>
            <a:off x="596967" y="3255660"/>
            <a:ext cx="1080120" cy="6530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KBD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106" name="Elbow Connector 33">
            <a:extLst>
              <a:ext uri="{FF2B5EF4-FFF2-40B4-BE49-F238E27FC236}">
                <a16:creationId xmlns:a16="http://schemas.microsoft.com/office/drawing/2014/main" id="{E10381A5-852C-2D40-1FE4-615E67FEF3FE}"/>
              </a:ext>
            </a:extLst>
          </p:cNvPr>
          <p:cNvCxnSpPr>
            <a:stCxn id="105" idx="3"/>
            <a:endCxn id="103" idx="1"/>
          </p:cNvCxnSpPr>
          <p:nvPr/>
        </p:nvCxnSpPr>
        <p:spPr>
          <a:xfrm flipV="1">
            <a:off x="1677087" y="3582190"/>
            <a:ext cx="922492" cy="1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Elbow Connector 40">
            <a:extLst>
              <a:ext uri="{FF2B5EF4-FFF2-40B4-BE49-F238E27FC236}">
                <a16:creationId xmlns:a16="http://schemas.microsoft.com/office/drawing/2014/main" id="{5F4EE480-44C9-F9F9-9D5B-4078868A8009}"/>
              </a:ext>
            </a:extLst>
          </p:cNvPr>
          <p:cNvCxnSpPr>
            <a:stCxn id="103" idx="3"/>
            <a:endCxn id="104" idx="1"/>
          </p:cNvCxnSpPr>
          <p:nvPr/>
        </p:nvCxnSpPr>
        <p:spPr>
          <a:xfrm flipV="1">
            <a:off x="3817958" y="3549397"/>
            <a:ext cx="637703" cy="32793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54">
            <a:extLst>
              <a:ext uri="{FF2B5EF4-FFF2-40B4-BE49-F238E27FC236}">
                <a16:creationId xmlns:a16="http://schemas.microsoft.com/office/drawing/2014/main" id="{EAD29344-674F-1A13-7335-BD53A8AF17CB}"/>
              </a:ext>
            </a:extLst>
          </p:cNvPr>
          <p:cNvCxnSpPr>
            <a:cxnSpLocks/>
            <a:stCxn id="69" idx="3"/>
            <a:endCxn id="64" idx="2"/>
          </p:cNvCxnSpPr>
          <p:nvPr/>
        </p:nvCxnSpPr>
        <p:spPr>
          <a:xfrm>
            <a:off x="3630004" y="5390619"/>
            <a:ext cx="2564219" cy="514552"/>
          </a:xfrm>
          <a:prstGeom prst="bentConnector4">
            <a:avLst>
              <a:gd name="adj1" fmla="val 42980"/>
              <a:gd name="adj2" fmla="val 144427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57">
            <a:extLst>
              <a:ext uri="{FF2B5EF4-FFF2-40B4-BE49-F238E27FC236}">
                <a16:creationId xmlns:a16="http://schemas.microsoft.com/office/drawing/2014/main" id="{29A15F4D-F212-B311-CDEB-8964D591F5E9}"/>
              </a:ext>
            </a:extLst>
          </p:cNvPr>
          <p:cNvCxnSpPr>
            <a:cxnSpLocks/>
          </p:cNvCxnSpPr>
          <p:nvPr/>
        </p:nvCxnSpPr>
        <p:spPr>
          <a:xfrm flipV="1">
            <a:off x="1232989" y="5614198"/>
            <a:ext cx="1166934" cy="217556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58">
            <a:extLst>
              <a:ext uri="{FF2B5EF4-FFF2-40B4-BE49-F238E27FC236}">
                <a16:creationId xmlns:a16="http://schemas.microsoft.com/office/drawing/2014/main" id="{398BA279-6A58-09AF-BBE9-B182FD62E44F}"/>
              </a:ext>
            </a:extLst>
          </p:cNvPr>
          <p:cNvSpPr/>
          <p:nvPr/>
        </p:nvSpPr>
        <p:spPr>
          <a:xfrm>
            <a:off x="368893" y="5558120"/>
            <a:ext cx="864096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בורר לפי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XY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115" name="Rectangle 19">
            <a:extLst>
              <a:ext uri="{FF2B5EF4-FFF2-40B4-BE49-F238E27FC236}">
                <a16:creationId xmlns:a16="http://schemas.microsoft.com/office/drawing/2014/main" id="{7BE6288D-6311-CEFB-C7E9-264D09A8604A}"/>
              </a:ext>
            </a:extLst>
          </p:cNvPr>
          <p:cNvSpPr/>
          <p:nvPr/>
        </p:nvSpPr>
        <p:spPr>
          <a:xfrm>
            <a:off x="4209456" y="4937914"/>
            <a:ext cx="1251756" cy="83286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BG draw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116" name="Elbow Connector 57">
            <a:extLst>
              <a:ext uri="{FF2B5EF4-FFF2-40B4-BE49-F238E27FC236}">
                <a16:creationId xmlns:a16="http://schemas.microsoft.com/office/drawing/2014/main" id="{D34AAD26-6D98-0F9E-CEF4-5C2BF6069454}"/>
              </a:ext>
            </a:extLst>
          </p:cNvPr>
          <p:cNvCxnSpPr>
            <a:cxnSpLocks/>
            <a:endCxn id="115" idx="0"/>
          </p:cNvCxnSpPr>
          <p:nvPr/>
        </p:nvCxnSpPr>
        <p:spPr>
          <a:xfrm>
            <a:off x="1400857" y="4499189"/>
            <a:ext cx="3434477" cy="438725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33">
            <a:extLst>
              <a:ext uri="{FF2B5EF4-FFF2-40B4-BE49-F238E27FC236}">
                <a16:creationId xmlns:a16="http://schemas.microsoft.com/office/drawing/2014/main" id="{E42BB92F-EE84-8A94-9C25-5E327AF7DB34}"/>
              </a:ext>
            </a:extLst>
          </p:cNvPr>
          <p:cNvSpPr/>
          <p:nvPr/>
        </p:nvSpPr>
        <p:spPr>
          <a:xfrm>
            <a:off x="147041" y="4207133"/>
            <a:ext cx="1351399" cy="65306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Static BACKGROUND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73774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538287" y="172942"/>
            <a:ext cx="5770017" cy="519752"/>
          </a:xfrm>
        </p:spPr>
        <p:txBody>
          <a:bodyPr>
            <a:normAutofit fontScale="90000"/>
          </a:bodyPr>
          <a:lstStyle/>
          <a:p>
            <a:pPr algn="ctr" rtl="0"/>
            <a:r>
              <a:rPr lang="en-US" b="1" dirty="0">
                <a:solidFill>
                  <a:srgbClr val="3333CC"/>
                </a:solidFill>
              </a:rPr>
              <a:t>B D F </a:t>
            </a:r>
            <a:r>
              <a:rPr lang="he-IL" b="1" dirty="0">
                <a:solidFill>
                  <a:srgbClr val="3333CC"/>
                </a:solidFill>
              </a:rPr>
              <a:t>גושים</a:t>
            </a:r>
            <a:r>
              <a:rPr lang="en-US" b="1" dirty="0">
                <a:solidFill>
                  <a:srgbClr val="3333CC"/>
                </a:solidFill>
              </a:rPr>
              <a:t> Gold miner </a:t>
            </a:r>
            <a:r>
              <a:rPr lang="he-IL" b="1" dirty="0">
                <a:solidFill>
                  <a:srgbClr val="3333CC"/>
                </a:solidFill>
              </a:rPr>
              <a:t>פצצות</a:t>
            </a:r>
            <a:r>
              <a:rPr lang="he-IL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043608" y="274955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e-IL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043608" y="557847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e-I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9F5D37-2219-6947-72D4-A3E55C24D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2764161"/>
            <a:ext cx="5708237" cy="3830528"/>
          </a:xfrm>
          <a:prstGeom prst="rect">
            <a:avLst/>
          </a:prstGeom>
        </p:spPr>
      </p:pic>
      <p:pic>
        <p:nvPicPr>
          <p:cNvPr id="2" name="Picture 1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0C45CA6-9587-AD10-004F-CEA2DE719A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836712"/>
            <a:ext cx="4032448" cy="232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024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C2BDEE-4A51-EEAF-220E-7A4E7A60D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379C396-E9EA-DBA2-B6EC-F99151923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6056" y="143221"/>
            <a:ext cx="2745680" cy="932752"/>
          </a:xfrm>
        </p:spPr>
        <p:txBody>
          <a:bodyPr>
            <a:normAutofit/>
          </a:bodyPr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דרישות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3DD09-0528-215D-9ABD-EEE0C5004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51A5E5-9B4C-92F9-9123-63C16FCAE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758" y="1130137"/>
            <a:ext cx="5882514" cy="552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9652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8C8CD7-1A50-A47B-C94A-007FE58FC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182FDFB8-864C-0C9D-5597-4AA39B84F98B}"/>
              </a:ext>
            </a:extLst>
          </p:cNvPr>
          <p:cNvCxnSpPr/>
          <p:nvPr/>
        </p:nvCxnSpPr>
        <p:spPr>
          <a:xfrm rot="16200000" flipH="1">
            <a:off x="5622441" y="2002601"/>
            <a:ext cx="1642938" cy="407450"/>
          </a:xfrm>
          <a:prstGeom prst="bentConnector3">
            <a:avLst>
              <a:gd name="adj1" fmla="val 52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45C627DE-6610-2E56-C38E-CEFB028E1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</p:spPr>
        <p:txBody>
          <a:bodyPr>
            <a:normAutofit/>
          </a:bodyPr>
          <a:lstStyle/>
          <a:p>
            <a:pPr algn="r"/>
            <a:r>
              <a:rPr lang="he-IL" b="1" u="sng" dirty="0">
                <a:solidFill>
                  <a:srgbClr val="3333CC"/>
                </a:solidFill>
              </a:rPr>
              <a:t>מימוש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BBB92-84A3-9162-41B1-611F0836A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FF8F7765-6BF4-5E4F-0354-8E74A8A1FC9D}"/>
              </a:ext>
            </a:extLst>
          </p:cNvPr>
          <p:cNvSpPr/>
          <p:nvPr/>
        </p:nvSpPr>
        <p:spPr>
          <a:xfrm rot="5400000" flipV="1">
            <a:off x="8063500" y="2894930"/>
            <a:ext cx="413792" cy="1043048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E101A8-7A89-1716-EC89-9895916E6CAA}"/>
              </a:ext>
            </a:extLst>
          </p:cNvPr>
          <p:cNvSpPr/>
          <p:nvPr/>
        </p:nvSpPr>
        <p:spPr>
          <a:xfrm>
            <a:off x="7461715" y="3085563"/>
            <a:ext cx="705650" cy="653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VGA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6F7A66-6875-744A-A1C1-7F6E7201B4B7}"/>
              </a:ext>
            </a:extLst>
          </p:cNvPr>
          <p:cNvSpPr/>
          <p:nvPr/>
        </p:nvSpPr>
        <p:spPr>
          <a:xfrm>
            <a:off x="6260461" y="3104682"/>
            <a:ext cx="720080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MUX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50732B59-D320-4D09-B6C0-9142A52826B0}"/>
              </a:ext>
            </a:extLst>
          </p:cNvPr>
          <p:cNvSpPr/>
          <p:nvPr/>
        </p:nvSpPr>
        <p:spPr>
          <a:xfrm rot="5400000" flipV="1">
            <a:off x="7028664" y="3161435"/>
            <a:ext cx="413792" cy="510038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B382684B-CDF2-7492-05B7-FE5DA5A2817C}"/>
              </a:ext>
            </a:extLst>
          </p:cNvPr>
          <p:cNvCxnSpPr/>
          <p:nvPr/>
        </p:nvCxnSpPr>
        <p:spPr>
          <a:xfrm>
            <a:off x="2886207" y="2924944"/>
            <a:ext cx="3413985" cy="451712"/>
          </a:xfrm>
          <a:prstGeom prst="bentConnector3">
            <a:avLst>
              <a:gd name="adj1" fmla="val 83277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FF6B62C-B1F4-4979-6E94-9940953D5605}"/>
              </a:ext>
            </a:extLst>
          </p:cNvPr>
          <p:cNvSpPr/>
          <p:nvPr/>
        </p:nvSpPr>
        <p:spPr>
          <a:xfrm>
            <a:off x="7093866" y="1200038"/>
            <a:ext cx="1080120" cy="165312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hit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FD3626-D1CB-45DA-109B-CAE4524E382B}"/>
              </a:ext>
            </a:extLst>
          </p:cNvPr>
          <p:cNvSpPr/>
          <p:nvPr/>
        </p:nvSpPr>
        <p:spPr>
          <a:xfrm>
            <a:off x="2456148" y="4888286"/>
            <a:ext cx="1251756" cy="83286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Dynamic BACKGROUND</a:t>
            </a:r>
            <a:endParaRPr kumimoji="0" lang="he-IL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5637C3-6B9B-7769-7691-BF084A53DF7E}"/>
              </a:ext>
            </a:extLst>
          </p:cNvPr>
          <p:cNvSpPr/>
          <p:nvPr/>
        </p:nvSpPr>
        <p:spPr>
          <a:xfrm>
            <a:off x="6980541" y="4035596"/>
            <a:ext cx="1394832" cy="12328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Game controller</a:t>
            </a:r>
          </a:p>
        </p:txBody>
      </p:sp>
      <p:sp>
        <p:nvSpPr>
          <p:cNvPr id="29" name="Down Arrow 28">
            <a:extLst>
              <a:ext uri="{FF2B5EF4-FFF2-40B4-BE49-F238E27FC236}">
                <a16:creationId xmlns:a16="http://schemas.microsoft.com/office/drawing/2014/main" id="{411DB29B-B7AE-7D58-C81D-B6A45804CEE4}"/>
              </a:ext>
            </a:extLst>
          </p:cNvPr>
          <p:cNvSpPr/>
          <p:nvPr/>
        </p:nvSpPr>
        <p:spPr>
          <a:xfrm rot="5400000" flipV="1">
            <a:off x="7517678" y="6031638"/>
            <a:ext cx="413792" cy="732524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64F554-BFD8-4152-C45B-5EE433FC9BED}"/>
              </a:ext>
            </a:extLst>
          </p:cNvPr>
          <p:cNvSpPr/>
          <p:nvPr/>
        </p:nvSpPr>
        <p:spPr>
          <a:xfrm>
            <a:off x="6490541" y="6102178"/>
            <a:ext cx="864096" cy="6530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צלילים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C347447-6BF5-BCDC-75F2-C071254407E6}"/>
              </a:ext>
            </a:extLst>
          </p:cNvPr>
          <p:cNvSpPr/>
          <p:nvPr/>
        </p:nvSpPr>
        <p:spPr>
          <a:xfrm>
            <a:off x="2103365" y="2621843"/>
            <a:ext cx="1350403" cy="754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BOMB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(moving obstacles)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B795F1E-BB0A-CD0F-2CCE-C8778E42C152}"/>
              </a:ext>
            </a:extLst>
          </p:cNvPr>
          <p:cNvSpPr/>
          <p:nvPr/>
        </p:nvSpPr>
        <p:spPr>
          <a:xfrm>
            <a:off x="4049723" y="2666857"/>
            <a:ext cx="1172228" cy="754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Bomb</a:t>
            </a: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draw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C0E28F-FA2F-597D-24A9-763112B94338}"/>
              </a:ext>
            </a:extLst>
          </p:cNvPr>
          <p:cNvSpPr/>
          <p:nvPr/>
        </p:nvSpPr>
        <p:spPr>
          <a:xfrm>
            <a:off x="3025857" y="1108231"/>
            <a:ext cx="1218379" cy="6530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player logic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20A3CE7-1086-960E-2086-EADCAEED31A5}"/>
              </a:ext>
            </a:extLst>
          </p:cNvPr>
          <p:cNvSpPr/>
          <p:nvPr/>
        </p:nvSpPr>
        <p:spPr>
          <a:xfrm>
            <a:off x="4881939" y="1075438"/>
            <a:ext cx="1460436" cy="6530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player draw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C87BFAB-7077-CB8E-ABE7-4184ABEE01AC}"/>
              </a:ext>
            </a:extLst>
          </p:cNvPr>
          <p:cNvSpPr/>
          <p:nvPr/>
        </p:nvSpPr>
        <p:spPr>
          <a:xfrm>
            <a:off x="1023245" y="1108232"/>
            <a:ext cx="1080120" cy="6530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KBD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75062BF5-A97A-E65F-887C-2CE1554E54F2}"/>
              </a:ext>
            </a:extLst>
          </p:cNvPr>
          <p:cNvCxnSpPr>
            <a:stCxn id="33" idx="3"/>
            <a:endCxn id="31" idx="1"/>
          </p:cNvCxnSpPr>
          <p:nvPr/>
        </p:nvCxnSpPr>
        <p:spPr>
          <a:xfrm flipV="1">
            <a:off x="2103365" y="1434762"/>
            <a:ext cx="922492" cy="1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D51FD945-610C-A5F2-9EE0-0E914B417767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 flipV="1">
            <a:off x="4244236" y="1401969"/>
            <a:ext cx="637703" cy="32793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1464A1EE-6699-71BA-10FB-F06CE54AE021}"/>
              </a:ext>
            </a:extLst>
          </p:cNvPr>
          <p:cNvSpPr/>
          <p:nvPr/>
        </p:nvSpPr>
        <p:spPr>
          <a:xfrm>
            <a:off x="242073" y="2623626"/>
            <a:ext cx="1080120" cy="5006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Pseudo-Random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7843CDB9-F871-E28C-30FE-0F8544706AB5}"/>
              </a:ext>
            </a:extLst>
          </p:cNvPr>
          <p:cNvCxnSpPr>
            <a:cxnSpLocks/>
            <a:stCxn id="48" idx="3"/>
            <a:endCxn id="54" idx="1"/>
          </p:cNvCxnSpPr>
          <p:nvPr/>
        </p:nvCxnSpPr>
        <p:spPr>
          <a:xfrm>
            <a:off x="1322193" y="2873956"/>
            <a:ext cx="781172" cy="125187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0F053C76-9F45-885A-C977-30639E80B26F}"/>
              </a:ext>
            </a:extLst>
          </p:cNvPr>
          <p:cNvCxnSpPr>
            <a:cxnSpLocks/>
            <a:stCxn id="20" idx="3"/>
            <a:endCxn id="10" idx="2"/>
          </p:cNvCxnSpPr>
          <p:nvPr/>
        </p:nvCxnSpPr>
        <p:spPr>
          <a:xfrm flipV="1">
            <a:off x="3707904" y="3757743"/>
            <a:ext cx="2912597" cy="1546975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57">
            <a:extLst>
              <a:ext uri="{FF2B5EF4-FFF2-40B4-BE49-F238E27FC236}">
                <a16:creationId xmlns:a16="http://schemas.microsoft.com/office/drawing/2014/main" id="{446F001D-F4DC-FA63-6362-E0DD5E663736}"/>
              </a:ext>
            </a:extLst>
          </p:cNvPr>
          <p:cNvCxnSpPr>
            <a:cxnSpLocks/>
            <a:endCxn id="54" idx="2"/>
          </p:cNvCxnSpPr>
          <p:nvPr/>
        </p:nvCxnSpPr>
        <p:spPr>
          <a:xfrm flipV="1">
            <a:off x="1954361" y="3376443"/>
            <a:ext cx="824206" cy="309284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58">
            <a:extLst>
              <a:ext uri="{FF2B5EF4-FFF2-40B4-BE49-F238E27FC236}">
                <a16:creationId xmlns:a16="http://schemas.microsoft.com/office/drawing/2014/main" id="{23596534-CDAA-0ABD-56B3-3F51D941FF77}"/>
              </a:ext>
            </a:extLst>
          </p:cNvPr>
          <p:cNvSpPr/>
          <p:nvPr/>
        </p:nvSpPr>
        <p:spPr>
          <a:xfrm>
            <a:off x="1090265" y="3412093"/>
            <a:ext cx="864096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בורר לפי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XY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56" name="Elbow Connector 57">
            <a:extLst>
              <a:ext uri="{FF2B5EF4-FFF2-40B4-BE49-F238E27FC236}">
                <a16:creationId xmlns:a16="http://schemas.microsoft.com/office/drawing/2014/main" id="{217ACEA3-D00F-DD2E-E7E6-1A3C2BA26BC6}"/>
              </a:ext>
            </a:extLst>
          </p:cNvPr>
          <p:cNvCxnSpPr>
            <a:cxnSpLocks/>
          </p:cNvCxnSpPr>
          <p:nvPr/>
        </p:nvCxnSpPr>
        <p:spPr>
          <a:xfrm flipV="1">
            <a:off x="1310889" y="5528297"/>
            <a:ext cx="1166934" cy="217556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8">
            <a:extLst>
              <a:ext uri="{FF2B5EF4-FFF2-40B4-BE49-F238E27FC236}">
                <a16:creationId xmlns:a16="http://schemas.microsoft.com/office/drawing/2014/main" id="{FFA960AF-4F51-9DEC-8071-79C6B1702090}"/>
              </a:ext>
            </a:extLst>
          </p:cNvPr>
          <p:cNvSpPr/>
          <p:nvPr/>
        </p:nvSpPr>
        <p:spPr>
          <a:xfrm>
            <a:off x="446793" y="5472219"/>
            <a:ext cx="864096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בורר לפי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XY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35" name="Rectangle 19">
            <a:extLst>
              <a:ext uri="{FF2B5EF4-FFF2-40B4-BE49-F238E27FC236}">
                <a16:creationId xmlns:a16="http://schemas.microsoft.com/office/drawing/2014/main" id="{58F9D092-31D4-92E6-40BD-18AE8DA6BF40}"/>
              </a:ext>
            </a:extLst>
          </p:cNvPr>
          <p:cNvSpPr/>
          <p:nvPr/>
        </p:nvSpPr>
        <p:spPr>
          <a:xfrm>
            <a:off x="4287356" y="4852013"/>
            <a:ext cx="1251756" cy="83286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BG draw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42" name="Elbow Connector 57">
            <a:extLst>
              <a:ext uri="{FF2B5EF4-FFF2-40B4-BE49-F238E27FC236}">
                <a16:creationId xmlns:a16="http://schemas.microsoft.com/office/drawing/2014/main" id="{59DF94BA-8579-6D6A-3EE1-E7E34300412C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1478757" y="4413288"/>
            <a:ext cx="3434477" cy="438725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33">
            <a:extLst>
              <a:ext uri="{FF2B5EF4-FFF2-40B4-BE49-F238E27FC236}">
                <a16:creationId xmlns:a16="http://schemas.microsoft.com/office/drawing/2014/main" id="{EFB1E19B-98F6-BE6F-4BA7-D697B3B9F280}"/>
              </a:ext>
            </a:extLst>
          </p:cNvPr>
          <p:cNvSpPr/>
          <p:nvPr/>
        </p:nvSpPr>
        <p:spPr>
          <a:xfrm>
            <a:off x="224941" y="4121232"/>
            <a:ext cx="1351399" cy="65306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Static BACKGROUND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D5E850-EF29-602B-C6D1-05116EEA73FE}"/>
              </a:ext>
            </a:extLst>
          </p:cNvPr>
          <p:cNvSpPr txBox="1"/>
          <p:nvPr/>
        </p:nvSpPr>
        <p:spPr>
          <a:xfrm>
            <a:off x="2569205" y="5416374"/>
            <a:ext cx="1068380" cy="6463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he-IL"/>
            </a:defPPr>
            <a:lvl1pPr algn="ctr">
              <a:defRPr kumimoji="0" sz="11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cs typeface="+mn-cs"/>
              </a:defRPr>
            </a:lvl9pPr>
          </a:lstStyle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מטבעות, יהלומים,אבנים</a:t>
            </a:r>
          </a:p>
        </p:txBody>
      </p:sp>
    </p:spTree>
    <p:extLst>
      <p:ext uri="{BB962C8B-B14F-4D97-AF65-F5344CB8AC3E}">
        <p14:creationId xmlns:p14="http://schemas.microsoft.com/office/powerpoint/2010/main" val="23982438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23C6-9CF9-57E8-CEB7-DABCEB850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54886A7-949D-847A-D63F-0B3DA79C1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</p:spPr>
        <p:txBody>
          <a:bodyPr>
            <a:normAutofit/>
          </a:bodyPr>
          <a:lstStyle/>
          <a:p>
            <a:pPr algn="r"/>
            <a:r>
              <a:rPr lang="he-IL" b="1" u="sng" dirty="0">
                <a:solidFill>
                  <a:srgbClr val="3333CC"/>
                </a:solidFill>
              </a:rPr>
              <a:t>ספתח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EFBB5-2491-B9E1-0F42-38E2A5BD3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29A5E82D-13AD-59BE-4A83-B86EADD89696}"/>
              </a:ext>
            </a:extLst>
          </p:cNvPr>
          <p:cNvSpPr/>
          <p:nvPr/>
        </p:nvSpPr>
        <p:spPr>
          <a:xfrm rot="5400000" flipV="1">
            <a:off x="7573605" y="4405216"/>
            <a:ext cx="413792" cy="1043048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E66F04-7C9D-82B2-F864-9B0902B168BA}"/>
              </a:ext>
            </a:extLst>
          </p:cNvPr>
          <p:cNvSpPr/>
          <p:nvPr/>
        </p:nvSpPr>
        <p:spPr>
          <a:xfrm>
            <a:off x="6971820" y="4595849"/>
            <a:ext cx="705650" cy="653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VGA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091CAD-51E8-CCD1-8409-15F54F1D493F}"/>
              </a:ext>
            </a:extLst>
          </p:cNvPr>
          <p:cNvSpPr/>
          <p:nvPr/>
        </p:nvSpPr>
        <p:spPr>
          <a:xfrm>
            <a:off x="5770566" y="4614968"/>
            <a:ext cx="720080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MUX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059A11DC-4D76-C29F-8451-BAF4679B0804}"/>
              </a:ext>
            </a:extLst>
          </p:cNvPr>
          <p:cNvSpPr/>
          <p:nvPr/>
        </p:nvSpPr>
        <p:spPr>
          <a:xfrm rot="5400000" flipV="1">
            <a:off x="6538769" y="4671721"/>
            <a:ext cx="413792" cy="510038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F8AF43-307B-C400-9FA6-6FFEEBCABFA7}"/>
              </a:ext>
            </a:extLst>
          </p:cNvPr>
          <p:cNvSpPr/>
          <p:nvPr/>
        </p:nvSpPr>
        <p:spPr>
          <a:xfrm>
            <a:off x="2397704" y="3782980"/>
            <a:ext cx="1356638" cy="6530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BACKGROUND (NET)</a:t>
            </a: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logic</a:t>
            </a:r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704271D9-A4F7-2D7C-6B69-7374DDC93E43}"/>
              </a:ext>
            </a:extLst>
          </p:cNvPr>
          <p:cNvCxnSpPr>
            <a:endCxn id="8" idx="1"/>
          </p:cNvCxnSpPr>
          <p:nvPr/>
        </p:nvCxnSpPr>
        <p:spPr>
          <a:xfrm>
            <a:off x="2397704" y="4941498"/>
            <a:ext cx="3372862" cy="1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own Arrow 12">
            <a:extLst>
              <a:ext uri="{FF2B5EF4-FFF2-40B4-BE49-F238E27FC236}">
                <a16:creationId xmlns:a16="http://schemas.microsoft.com/office/drawing/2014/main" id="{E16DE2A6-F24B-AB04-3DCA-0786A45DFC10}"/>
              </a:ext>
            </a:extLst>
          </p:cNvPr>
          <p:cNvSpPr/>
          <p:nvPr/>
        </p:nvSpPr>
        <p:spPr>
          <a:xfrm rot="5400000" flipV="1">
            <a:off x="6607886" y="5683827"/>
            <a:ext cx="413792" cy="732524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49B054-6F8C-5B28-F52C-4EFA6CE151A1}"/>
              </a:ext>
            </a:extLst>
          </p:cNvPr>
          <p:cNvSpPr/>
          <p:nvPr/>
        </p:nvSpPr>
        <p:spPr>
          <a:xfrm>
            <a:off x="5580749" y="5754367"/>
            <a:ext cx="864096" cy="6530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צלילים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A0156E-544E-5EA7-DD9E-915AA396054C}"/>
              </a:ext>
            </a:extLst>
          </p:cNvPr>
          <p:cNvSpPr/>
          <p:nvPr/>
        </p:nvSpPr>
        <p:spPr>
          <a:xfrm>
            <a:off x="1331640" y="4632216"/>
            <a:ext cx="1080120" cy="6530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KBD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0D779AC3-62F8-4034-FE25-C74806F5A951}"/>
              </a:ext>
            </a:extLst>
          </p:cNvPr>
          <p:cNvCxnSpPr>
            <a:stCxn id="10" idx="3"/>
            <a:endCxn id="8" idx="0"/>
          </p:cNvCxnSpPr>
          <p:nvPr/>
        </p:nvCxnSpPr>
        <p:spPr>
          <a:xfrm>
            <a:off x="3754342" y="4109511"/>
            <a:ext cx="2376264" cy="505457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1DE18CC-7D00-1794-5B8B-47C08D2AD7A2}"/>
              </a:ext>
            </a:extLst>
          </p:cNvPr>
          <p:cNvSpPr/>
          <p:nvPr/>
        </p:nvSpPr>
        <p:spPr>
          <a:xfrm>
            <a:off x="3610135" y="4575603"/>
            <a:ext cx="1080120" cy="754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Square move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8879E6A-AEFB-6A86-1BAD-51CE5DCAE9EF}"/>
              </a:ext>
            </a:extLst>
          </p:cNvPr>
          <p:cNvSpPr/>
          <p:nvPr/>
        </p:nvSpPr>
        <p:spPr>
          <a:xfrm>
            <a:off x="5166938" y="2819185"/>
            <a:ext cx="298275" cy="26694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6F1688-5C74-BC21-9EBB-BCA093B14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217453"/>
            <a:ext cx="4848902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598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7CDA03-47A5-1C3E-EAE5-4CE150ABD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3CB51C2-4D16-37BD-4698-8D05A58C7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</p:spPr>
        <p:txBody>
          <a:bodyPr>
            <a:normAutofit/>
          </a:bodyPr>
          <a:lstStyle/>
          <a:p>
            <a:pPr algn="r"/>
            <a:r>
              <a:rPr lang="he-IL" b="1" u="sng" dirty="0">
                <a:solidFill>
                  <a:srgbClr val="3333CC"/>
                </a:solidFill>
              </a:rPr>
              <a:t>פתיחת </a:t>
            </a:r>
            <a:r>
              <a:rPr lang="en-US" b="1" u="sng" dirty="0">
                <a:solidFill>
                  <a:srgbClr val="3333CC"/>
                </a:solidFill>
              </a:rPr>
              <a:t>PIPE</a:t>
            </a:r>
            <a:r>
              <a:rPr lang="he-IL" b="1" u="sng" dirty="0">
                <a:solidFill>
                  <a:srgbClr val="3333CC"/>
                </a:solidFill>
              </a:rPr>
              <a:t>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4225D92D-3B3B-C25C-846D-CFDEC3E3B7D6}"/>
              </a:ext>
            </a:extLst>
          </p:cNvPr>
          <p:cNvSpPr/>
          <p:nvPr/>
        </p:nvSpPr>
        <p:spPr>
          <a:xfrm>
            <a:off x="2870423" y="980466"/>
            <a:ext cx="5895029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he-IL" sz="1600" dirty="0">
                <a:solidFill>
                  <a:schemeClr val="bg1"/>
                </a:solidFill>
              </a:rPr>
              <a:t>ממשק מקלדת לשליחת פצצת עומק לפי פקודת המשתמש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lvl="0"/>
            <a:r>
              <a:rPr lang="he-IL" sz="1600" dirty="0">
                <a:solidFill>
                  <a:schemeClr val="bg1"/>
                </a:solidFill>
              </a:rPr>
              <a:t>זמן ועוצמת הפיצוץ נקבעים פסבדו רנדומלית בכל זריקה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lvl="0"/>
            <a:r>
              <a:rPr lang="he-IL" sz="1600" dirty="0">
                <a:solidFill>
                  <a:schemeClr val="bg1"/>
                </a:solidFill>
              </a:rPr>
              <a:t>חישוב אזור הפיצוץ וזיהוי אוצרות שנפגעו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lvl="0"/>
            <a:r>
              <a:rPr lang="he-IL" sz="1600" dirty="0">
                <a:solidFill>
                  <a:schemeClr val="bg1"/>
                </a:solidFill>
              </a:rPr>
              <a:t>תצוגת ניקוד, זמן ויעד כספי על המסך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lvl="0"/>
            <a:r>
              <a:rPr lang="he-IL" sz="1600" dirty="0">
                <a:solidFill>
                  <a:schemeClr val="bg1"/>
                </a:solidFill>
              </a:rPr>
              <a:t>צליל אחד לפחות (צליל פיצוץ)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lvl="0"/>
            <a:r>
              <a:rPr lang="he-IL" sz="1600" dirty="0">
                <a:solidFill>
                  <a:schemeClr val="bg1"/>
                </a:solidFill>
              </a:rPr>
              <a:t>לוגיקה לזיהוי פגיעה באוצר/סלע ולוגיקת סיום משחק כשהזמן מסתיים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charset="0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2258BE2-3731-ABDC-C5F2-E623DC9FC4F7}"/>
              </a:ext>
            </a:extLst>
          </p:cNvPr>
          <p:cNvGrpSpPr/>
          <p:nvPr/>
        </p:nvGrpSpPr>
        <p:grpSpPr>
          <a:xfrm>
            <a:off x="222064" y="929542"/>
            <a:ext cx="2552751" cy="1873412"/>
            <a:chOff x="2267744" y="2204864"/>
            <a:chExt cx="3240360" cy="2016223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EEB4869A-5DA9-628F-2267-C26F29BD6B08}"/>
                </a:ext>
              </a:extLst>
            </p:cNvPr>
            <p:cNvSpPr/>
            <p:nvPr/>
          </p:nvSpPr>
          <p:spPr>
            <a:xfrm>
              <a:off x="2267744" y="2204864"/>
              <a:ext cx="3240360" cy="201622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t"/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</p:txBody>
        </p:sp>
        <p:sp>
          <p:nvSpPr>
            <p:cNvPr id="72" name="Down Arrow 71">
              <a:extLst>
                <a:ext uri="{FF2B5EF4-FFF2-40B4-BE49-F238E27FC236}">
                  <a16:creationId xmlns:a16="http://schemas.microsoft.com/office/drawing/2014/main" id="{CE664945-A6D0-A137-B57D-C424113974F8}"/>
                </a:ext>
              </a:extLst>
            </p:cNvPr>
            <p:cNvSpPr/>
            <p:nvPr/>
          </p:nvSpPr>
          <p:spPr>
            <a:xfrm rot="5400000" flipV="1">
              <a:off x="4422300" y="2488976"/>
              <a:ext cx="131844" cy="324318"/>
            </a:xfrm>
            <a:prstGeom prst="down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703D9328-D595-2562-4FB1-499D03FF4766}"/>
                </a:ext>
              </a:extLst>
            </p:cNvPr>
            <p:cNvSpPr/>
            <p:nvPr/>
          </p:nvSpPr>
          <p:spPr>
            <a:xfrm>
              <a:off x="3852627" y="2549814"/>
              <a:ext cx="480680" cy="208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rPr>
                <a:t>צלילים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7E1D879-9756-09FD-A45D-C418692CF6E1}"/>
                </a:ext>
              </a:extLst>
            </p:cNvPr>
            <p:cNvSpPr/>
            <p:nvPr/>
          </p:nvSpPr>
          <p:spPr>
            <a:xfrm>
              <a:off x="2483768" y="2420888"/>
              <a:ext cx="845587" cy="315838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t"/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rPr>
                <a:t>מנהל </a:t>
              </a:r>
            </a:p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rPr>
                <a:t>משחק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6C1DE6D-48C0-1F0D-D40A-D481D5002073}"/>
                </a:ext>
              </a:extLst>
            </p:cNvPr>
            <p:cNvSpPr/>
            <p:nvPr/>
          </p:nvSpPr>
          <p:spPr>
            <a:xfrm>
              <a:off x="2411760" y="3179564"/>
              <a:ext cx="470638" cy="198404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KBD</a:t>
              </a:r>
              <a:endParaRPr kumimoji="0" lang="he-IL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DEB816D-EBAB-AAB5-BF88-E8D34EC28781}"/>
                </a:ext>
              </a:extLst>
            </p:cNvPr>
            <p:cNvSpPr/>
            <p:nvPr/>
          </p:nvSpPr>
          <p:spPr>
            <a:xfrm>
              <a:off x="4211961" y="3222657"/>
              <a:ext cx="458884" cy="77775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MUX</a:t>
              </a:r>
              <a:endParaRPr kumimoji="0" lang="he-IL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</p:txBody>
        </p:sp>
        <p:sp>
          <p:nvSpPr>
            <p:cNvPr id="77" name="Down Arrow 76">
              <a:extLst>
                <a:ext uri="{FF2B5EF4-FFF2-40B4-BE49-F238E27FC236}">
                  <a16:creationId xmlns:a16="http://schemas.microsoft.com/office/drawing/2014/main" id="{18FA1415-CE45-1C84-D955-BB5098E6D158}"/>
                </a:ext>
              </a:extLst>
            </p:cNvPr>
            <p:cNvSpPr/>
            <p:nvPr/>
          </p:nvSpPr>
          <p:spPr>
            <a:xfrm rot="5400000" flipV="1">
              <a:off x="4781872" y="3459299"/>
              <a:ext cx="125712" cy="319181"/>
            </a:xfrm>
            <a:prstGeom prst="down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A5D1D0C-0583-3E65-397F-DE403F630A81}"/>
                </a:ext>
              </a:extLst>
            </p:cNvPr>
            <p:cNvSpPr/>
            <p:nvPr/>
          </p:nvSpPr>
          <p:spPr>
            <a:xfrm>
              <a:off x="5018612" y="3565422"/>
              <a:ext cx="345476" cy="116324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VGA</a:t>
              </a:r>
              <a:endParaRPr kumimoji="0" lang="he-IL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8C4375C-AD92-0A13-0538-369FFF1BC72A}"/>
                </a:ext>
              </a:extLst>
            </p:cNvPr>
            <p:cNvSpPr/>
            <p:nvPr/>
          </p:nvSpPr>
          <p:spPr>
            <a:xfrm>
              <a:off x="4637746" y="2507451"/>
              <a:ext cx="419601" cy="2843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rPr>
                <a:t>רמקול</a:t>
              </a:r>
            </a:p>
          </p:txBody>
        </p:sp>
        <p:sp>
          <p:nvSpPr>
            <p:cNvPr id="80" name="Right Arrow 79">
              <a:extLst>
                <a:ext uri="{FF2B5EF4-FFF2-40B4-BE49-F238E27FC236}">
                  <a16:creationId xmlns:a16="http://schemas.microsoft.com/office/drawing/2014/main" id="{AADBEA41-05FF-F937-5883-6795856BDE41}"/>
                </a:ext>
              </a:extLst>
            </p:cNvPr>
            <p:cNvSpPr/>
            <p:nvPr/>
          </p:nvSpPr>
          <p:spPr>
            <a:xfrm>
              <a:off x="2882398" y="3224065"/>
              <a:ext cx="331824" cy="115914"/>
            </a:xfrm>
            <a:prstGeom prst="rightArrow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B0BF755-C3B3-E25D-0BFB-63962EE38AD8}"/>
                </a:ext>
              </a:extLst>
            </p:cNvPr>
            <p:cNvSpPr/>
            <p:nvPr/>
          </p:nvSpPr>
          <p:spPr>
            <a:xfrm>
              <a:off x="3214222" y="3815390"/>
              <a:ext cx="475720" cy="20808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rPr>
                <a:t>רקע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E478C38-2D3C-10D1-565D-F05D43687B36}"/>
                </a:ext>
              </a:extLst>
            </p:cNvPr>
            <p:cNvSpPr/>
            <p:nvPr/>
          </p:nvSpPr>
          <p:spPr>
            <a:xfrm rot="16200000">
              <a:off x="4201463" y="3073423"/>
              <a:ext cx="506098" cy="20505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rPr>
                <a:t>התנגשות</a:t>
              </a:r>
            </a:p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6AD4FF2E-F8B9-7107-71F3-D9701D43AB49}"/>
                </a:ext>
              </a:extLst>
            </p:cNvPr>
            <p:cNvCxnSpPr>
              <a:stCxn id="82" idx="0"/>
            </p:cNvCxnSpPr>
            <p:nvPr/>
          </p:nvCxnSpPr>
          <p:spPr>
            <a:xfrm flipH="1" flipV="1">
              <a:off x="3326906" y="2682848"/>
              <a:ext cx="1025080" cy="493102"/>
            </a:xfrm>
            <a:prstGeom prst="straightConnector1">
              <a:avLst/>
            </a:prstGeom>
            <a:ln w="19050">
              <a:solidFill>
                <a:schemeClr val="accent1"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C448CAFA-B621-4988-F273-5773CFAF9FEF}"/>
                </a:ext>
              </a:extLst>
            </p:cNvPr>
            <p:cNvCxnSpPr/>
            <p:nvPr/>
          </p:nvCxnSpPr>
          <p:spPr>
            <a:xfrm>
              <a:off x="3214223" y="2747327"/>
              <a:ext cx="326721" cy="415609"/>
            </a:xfrm>
            <a:prstGeom prst="straightConnector1">
              <a:avLst/>
            </a:prstGeom>
            <a:ln w="19050">
              <a:solidFill>
                <a:schemeClr val="accent1"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5DEA738B-8AB2-6285-AE88-CFF6D093EE3B}"/>
                </a:ext>
              </a:extLst>
            </p:cNvPr>
            <p:cNvCxnSpPr>
              <a:stCxn id="74" idx="3"/>
              <a:endCxn id="73" idx="1"/>
            </p:cNvCxnSpPr>
            <p:nvPr/>
          </p:nvCxnSpPr>
          <p:spPr>
            <a:xfrm>
              <a:off x="3329355" y="2578807"/>
              <a:ext cx="523272" cy="75047"/>
            </a:xfrm>
            <a:prstGeom prst="straightConnector1">
              <a:avLst/>
            </a:prstGeom>
            <a:ln w="19050">
              <a:solidFill>
                <a:schemeClr val="accent1"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AE1F9596-3954-8695-48C9-92C231B6AD7D}"/>
                </a:ext>
              </a:extLst>
            </p:cNvPr>
            <p:cNvCxnSpPr/>
            <p:nvPr/>
          </p:nvCxnSpPr>
          <p:spPr>
            <a:xfrm>
              <a:off x="3206716" y="2758179"/>
              <a:ext cx="168144" cy="740100"/>
            </a:xfrm>
            <a:prstGeom prst="straightConnector1">
              <a:avLst/>
            </a:prstGeom>
            <a:ln w="19050">
              <a:solidFill>
                <a:schemeClr val="accent1"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C64718B8-33F7-466A-08C2-2FAD0AC9232E}"/>
                </a:ext>
              </a:extLst>
            </p:cNvPr>
            <p:cNvCxnSpPr/>
            <p:nvPr/>
          </p:nvCxnSpPr>
          <p:spPr>
            <a:xfrm>
              <a:off x="3214222" y="2758179"/>
              <a:ext cx="89932" cy="1057211"/>
            </a:xfrm>
            <a:prstGeom prst="straightConnector1">
              <a:avLst/>
            </a:prstGeom>
            <a:ln w="19050">
              <a:solidFill>
                <a:schemeClr val="accent1"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BC5A115-479C-BF9C-1CB4-52F254CBFA6E}"/>
                </a:ext>
              </a:extLst>
            </p:cNvPr>
            <p:cNvSpPr/>
            <p:nvPr/>
          </p:nvSpPr>
          <p:spPr>
            <a:xfrm>
              <a:off x="3214222" y="3169888"/>
              <a:ext cx="475720" cy="20808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rPr>
                <a:t>שחקנים</a:t>
              </a:r>
              <a:endParaRPr kumimoji="0" lang="he-IL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86E2AD7-911B-C2DB-B75C-757538087489}"/>
                </a:ext>
              </a:extLst>
            </p:cNvPr>
            <p:cNvSpPr/>
            <p:nvPr/>
          </p:nvSpPr>
          <p:spPr>
            <a:xfrm>
              <a:off x="3214222" y="3492639"/>
              <a:ext cx="475720" cy="20808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rPr>
                <a:t>עצמים</a:t>
              </a: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4ADDA2C3-483A-5D50-F754-586E9F1142A9}"/>
                </a:ext>
              </a:extLst>
            </p:cNvPr>
            <p:cNvGrpSpPr/>
            <p:nvPr/>
          </p:nvGrpSpPr>
          <p:grpSpPr>
            <a:xfrm>
              <a:off x="2640939" y="2494729"/>
              <a:ext cx="282615" cy="180968"/>
              <a:chOff x="401097" y="1196752"/>
              <a:chExt cx="1057087" cy="805167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AB8C5C25-E026-1399-6997-122B0F4229BF}"/>
                  </a:ext>
                </a:extLst>
              </p:cNvPr>
              <p:cNvSpPr/>
              <p:nvPr/>
            </p:nvSpPr>
            <p:spPr>
              <a:xfrm>
                <a:off x="900390" y="1196752"/>
                <a:ext cx="359242" cy="359152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2B372B73-90EE-F107-46CA-B9C388D62E47}"/>
                  </a:ext>
                </a:extLst>
              </p:cNvPr>
              <p:cNvSpPr/>
              <p:nvPr/>
            </p:nvSpPr>
            <p:spPr>
              <a:xfrm>
                <a:off x="1098942" y="1642767"/>
                <a:ext cx="359242" cy="359152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endParaRP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6A380EBA-025D-3C17-9901-2994BA6D14E3}"/>
                  </a:ext>
                </a:extLst>
              </p:cNvPr>
              <p:cNvSpPr/>
              <p:nvPr/>
            </p:nvSpPr>
            <p:spPr>
              <a:xfrm>
                <a:off x="462810" y="1628958"/>
                <a:ext cx="359242" cy="359152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endParaRPr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3C76058B-98BB-E4BD-AB03-46A8E5A37312}"/>
                  </a:ext>
                </a:extLst>
              </p:cNvPr>
              <p:cNvSpPr/>
              <p:nvPr/>
            </p:nvSpPr>
            <p:spPr>
              <a:xfrm>
                <a:off x="1187127" y="1346713"/>
                <a:ext cx="175558" cy="655205"/>
              </a:xfrm>
              <a:prstGeom prst="arc">
                <a:avLst/>
              </a:prstGeom>
              <a:ln w="19050">
                <a:solidFill>
                  <a:schemeClr val="accent1">
                    <a:alpha val="6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endParaRPr>
              </a:p>
            </p:txBody>
          </p:sp>
          <p:sp>
            <p:nvSpPr>
              <p:cNvPr id="95" name="Arc 94">
                <a:extLst>
                  <a:ext uri="{FF2B5EF4-FFF2-40B4-BE49-F238E27FC236}">
                    <a16:creationId xmlns:a16="http://schemas.microsoft.com/office/drawing/2014/main" id="{94509EA1-FF35-D830-6AD4-99600BF3397F}"/>
                  </a:ext>
                </a:extLst>
              </p:cNvPr>
              <p:cNvSpPr/>
              <p:nvPr/>
            </p:nvSpPr>
            <p:spPr>
              <a:xfrm rot="6690130">
                <a:off x="526672" y="1363759"/>
                <a:ext cx="497543" cy="748693"/>
              </a:xfrm>
              <a:prstGeom prst="arc">
                <a:avLst/>
              </a:prstGeom>
              <a:ln w="19050">
                <a:solidFill>
                  <a:schemeClr val="accent1">
                    <a:alpha val="6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endParaRPr>
              </a:p>
            </p:txBody>
          </p:sp>
          <p:sp>
            <p:nvSpPr>
              <p:cNvPr id="96" name="Arc 95">
                <a:extLst>
                  <a:ext uri="{FF2B5EF4-FFF2-40B4-BE49-F238E27FC236}">
                    <a16:creationId xmlns:a16="http://schemas.microsoft.com/office/drawing/2014/main" id="{34E223C4-EA0D-E4AE-0BF5-0AF847691A53}"/>
                  </a:ext>
                </a:extLst>
              </p:cNvPr>
              <p:cNvSpPr/>
              <p:nvPr/>
            </p:nvSpPr>
            <p:spPr>
              <a:xfrm rot="15236873">
                <a:off x="727336" y="1120394"/>
                <a:ext cx="497543" cy="748693"/>
              </a:xfrm>
              <a:prstGeom prst="arc">
                <a:avLst/>
              </a:prstGeom>
              <a:ln w="19050">
                <a:solidFill>
                  <a:schemeClr val="accent1">
                    <a:alpha val="6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Gisha" panose="020B0502040204020203" pitchFamily="34" charset="-79"/>
                </a:endParaRPr>
              </a:p>
            </p:txBody>
          </p:sp>
        </p:grpSp>
      </p:grpSp>
      <p:cxnSp>
        <p:nvCxnSpPr>
          <p:cNvPr id="59" name="Elbow Connector 43">
            <a:extLst>
              <a:ext uri="{FF2B5EF4-FFF2-40B4-BE49-F238E27FC236}">
                <a16:creationId xmlns:a16="http://schemas.microsoft.com/office/drawing/2014/main" id="{4D7EA89D-BC83-8363-B8F9-950764E3559A}"/>
              </a:ext>
            </a:extLst>
          </p:cNvPr>
          <p:cNvCxnSpPr/>
          <p:nvPr/>
        </p:nvCxnSpPr>
        <p:spPr>
          <a:xfrm rot="16200000" flipH="1">
            <a:off x="5196163" y="4150029"/>
            <a:ext cx="1642938" cy="407450"/>
          </a:xfrm>
          <a:prstGeom prst="bentConnector3">
            <a:avLst>
              <a:gd name="adj1" fmla="val 52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itle 1">
            <a:extLst>
              <a:ext uri="{FF2B5EF4-FFF2-40B4-BE49-F238E27FC236}">
                <a16:creationId xmlns:a16="http://schemas.microsoft.com/office/drawing/2014/main" id="{E44CC10E-9322-BFD9-EC8A-87AC24D2A258}"/>
              </a:ext>
            </a:extLst>
          </p:cNvPr>
          <p:cNvSpPr txBox="1">
            <a:spLocks/>
          </p:cNvSpPr>
          <p:nvPr/>
        </p:nvSpPr>
        <p:spPr>
          <a:xfrm>
            <a:off x="1112010" y="2362315"/>
            <a:ext cx="5269474" cy="93275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3200" b="1" i="0" u="sng" strike="noStrike" kern="1200" cap="all" spc="0" normalizeH="0" baseline="0" noProof="0">
                <a:ln w="3175" cmpd="sng"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entury Gothic" panose="020B0502020202020204"/>
                <a:ea typeface="+mj-ea"/>
                <a:cs typeface="Gisha" panose="020B0502040204020203" pitchFamily="34" charset="-79"/>
              </a:rPr>
              <a:t>מימוש </a:t>
            </a:r>
            <a:endParaRPr kumimoji="0" lang="en-US" sz="3200" b="1" i="0" u="sng" strike="noStrike" kern="1200" cap="all" spc="0" normalizeH="0" baseline="0" noProof="0" dirty="0">
              <a:ln w="3175" cmpd="sng">
                <a:noFill/>
              </a:ln>
              <a:solidFill>
                <a:srgbClr val="3333CC"/>
              </a:solidFill>
              <a:effectLst/>
              <a:uLnTx/>
              <a:uFillTx/>
              <a:latin typeface="Century Gothic" panose="020B0502020202020204"/>
              <a:ea typeface="+mj-ea"/>
              <a:cs typeface="+mj-cs"/>
            </a:endParaRPr>
          </a:p>
        </p:txBody>
      </p:sp>
      <p:sp>
        <p:nvSpPr>
          <p:cNvPr id="61" name="Slide Number Placeholder 3">
            <a:extLst>
              <a:ext uri="{FF2B5EF4-FFF2-40B4-BE49-F238E27FC236}">
                <a16:creationId xmlns:a16="http://schemas.microsoft.com/office/drawing/2014/main" id="{439AA1BF-BA2A-A56E-04F3-6769985E3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64655" y="5939029"/>
            <a:ext cx="856907" cy="669925"/>
          </a:xfrm>
        </p:spPr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2" name="Down Arrow 7">
            <a:extLst>
              <a:ext uri="{FF2B5EF4-FFF2-40B4-BE49-F238E27FC236}">
                <a16:creationId xmlns:a16="http://schemas.microsoft.com/office/drawing/2014/main" id="{9735518F-8438-7193-8CF6-431B6F72C4BF}"/>
              </a:ext>
            </a:extLst>
          </p:cNvPr>
          <p:cNvSpPr/>
          <p:nvPr/>
        </p:nvSpPr>
        <p:spPr>
          <a:xfrm rot="5400000" flipV="1">
            <a:off x="7637222" y="5042358"/>
            <a:ext cx="413792" cy="1043048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999EEDA-427F-0301-4EF1-881CA3A488FF}"/>
              </a:ext>
            </a:extLst>
          </p:cNvPr>
          <p:cNvSpPr/>
          <p:nvPr/>
        </p:nvSpPr>
        <p:spPr>
          <a:xfrm>
            <a:off x="7035437" y="5232991"/>
            <a:ext cx="705650" cy="6530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VGA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9AE89B5-F1FD-8F49-A4AD-E7098429DABF}"/>
              </a:ext>
            </a:extLst>
          </p:cNvPr>
          <p:cNvSpPr/>
          <p:nvPr/>
        </p:nvSpPr>
        <p:spPr>
          <a:xfrm>
            <a:off x="5834183" y="5252110"/>
            <a:ext cx="720080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MUX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65" name="Down Arrow 10">
            <a:extLst>
              <a:ext uri="{FF2B5EF4-FFF2-40B4-BE49-F238E27FC236}">
                <a16:creationId xmlns:a16="http://schemas.microsoft.com/office/drawing/2014/main" id="{9741E44F-F3ED-059A-CB8C-7D16EF38CC9C}"/>
              </a:ext>
            </a:extLst>
          </p:cNvPr>
          <p:cNvSpPr/>
          <p:nvPr/>
        </p:nvSpPr>
        <p:spPr>
          <a:xfrm rot="5400000" flipV="1">
            <a:off x="6602386" y="5308863"/>
            <a:ext cx="413792" cy="510038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F57E467-291E-A2FC-FA34-81EC3D8A11CB}"/>
              </a:ext>
            </a:extLst>
          </p:cNvPr>
          <p:cNvSpPr/>
          <p:nvPr/>
        </p:nvSpPr>
        <p:spPr>
          <a:xfrm>
            <a:off x="6667588" y="3347466"/>
            <a:ext cx="1080120" cy="165312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hit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2E96B9F-C126-203E-0096-2F27F1189845}"/>
              </a:ext>
            </a:extLst>
          </p:cNvPr>
          <p:cNvSpPr/>
          <p:nvPr/>
        </p:nvSpPr>
        <p:spPr>
          <a:xfrm>
            <a:off x="2378248" y="4974187"/>
            <a:ext cx="1251756" cy="83286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Dynamic BACKGROUND</a:t>
            </a:r>
            <a:endParaRPr kumimoji="0" lang="he-IL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0F04AE2-9850-589E-3A66-092D87512344}"/>
              </a:ext>
            </a:extLst>
          </p:cNvPr>
          <p:cNvSpPr/>
          <p:nvPr/>
        </p:nvSpPr>
        <p:spPr>
          <a:xfrm>
            <a:off x="7444158" y="2858787"/>
            <a:ext cx="1394832" cy="12328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Game controller</a:t>
            </a:r>
          </a:p>
        </p:txBody>
      </p:sp>
      <p:sp>
        <p:nvSpPr>
          <p:cNvPr id="98" name="Down Arrow 28">
            <a:extLst>
              <a:ext uri="{FF2B5EF4-FFF2-40B4-BE49-F238E27FC236}">
                <a16:creationId xmlns:a16="http://schemas.microsoft.com/office/drawing/2014/main" id="{DC3FB4DF-5625-19AC-7249-E620378E8E54}"/>
              </a:ext>
            </a:extLst>
          </p:cNvPr>
          <p:cNvSpPr/>
          <p:nvPr/>
        </p:nvSpPr>
        <p:spPr>
          <a:xfrm rot="5400000" flipV="1">
            <a:off x="7430465" y="6035796"/>
            <a:ext cx="413792" cy="732524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58E8A82-5783-8408-AEAE-EBBEA7396468}"/>
              </a:ext>
            </a:extLst>
          </p:cNvPr>
          <p:cNvSpPr/>
          <p:nvPr/>
        </p:nvSpPr>
        <p:spPr>
          <a:xfrm>
            <a:off x="6403328" y="6106336"/>
            <a:ext cx="864096" cy="6530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צלילים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530C045-D6AA-F306-62A3-48D8CA9CA6C8}"/>
              </a:ext>
            </a:extLst>
          </p:cNvPr>
          <p:cNvSpPr/>
          <p:nvPr/>
        </p:nvSpPr>
        <p:spPr>
          <a:xfrm>
            <a:off x="2599579" y="3255659"/>
            <a:ext cx="1218379" cy="6530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player logic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953E1DE-8FA7-E51F-06EB-DE1C526C6E1C}"/>
              </a:ext>
            </a:extLst>
          </p:cNvPr>
          <p:cNvSpPr/>
          <p:nvPr/>
        </p:nvSpPr>
        <p:spPr>
          <a:xfrm>
            <a:off x="4455661" y="3222866"/>
            <a:ext cx="1460436" cy="6530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player draw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4A39314-98B0-6C5B-3F6A-E888E11DB1EF}"/>
              </a:ext>
            </a:extLst>
          </p:cNvPr>
          <p:cNvSpPr/>
          <p:nvPr/>
        </p:nvSpPr>
        <p:spPr>
          <a:xfrm>
            <a:off x="596967" y="3255660"/>
            <a:ext cx="1080120" cy="653061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KBD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106" name="Elbow Connector 33">
            <a:extLst>
              <a:ext uri="{FF2B5EF4-FFF2-40B4-BE49-F238E27FC236}">
                <a16:creationId xmlns:a16="http://schemas.microsoft.com/office/drawing/2014/main" id="{628277B8-AEB5-1043-3F94-F0C2844B394A}"/>
              </a:ext>
            </a:extLst>
          </p:cNvPr>
          <p:cNvCxnSpPr>
            <a:stCxn id="105" idx="3"/>
            <a:endCxn id="103" idx="1"/>
          </p:cNvCxnSpPr>
          <p:nvPr/>
        </p:nvCxnSpPr>
        <p:spPr>
          <a:xfrm flipV="1">
            <a:off x="1677087" y="3582190"/>
            <a:ext cx="922492" cy="1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Elbow Connector 40">
            <a:extLst>
              <a:ext uri="{FF2B5EF4-FFF2-40B4-BE49-F238E27FC236}">
                <a16:creationId xmlns:a16="http://schemas.microsoft.com/office/drawing/2014/main" id="{97C2119D-6AB3-4642-2932-1833AD818372}"/>
              </a:ext>
            </a:extLst>
          </p:cNvPr>
          <p:cNvCxnSpPr>
            <a:stCxn id="103" idx="3"/>
            <a:endCxn id="104" idx="1"/>
          </p:cNvCxnSpPr>
          <p:nvPr/>
        </p:nvCxnSpPr>
        <p:spPr>
          <a:xfrm flipV="1">
            <a:off x="3817958" y="3549397"/>
            <a:ext cx="637703" cy="32793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54">
            <a:extLst>
              <a:ext uri="{FF2B5EF4-FFF2-40B4-BE49-F238E27FC236}">
                <a16:creationId xmlns:a16="http://schemas.microsoft.com/office/drawing/2014/main" id="{A44E830A-1D86-E142-14E5-5DFB058916BD}"/>
              </a:ext>
            </a:extLst>
          </p:cNvPr>
          <p:cNvCxnSpPr>
            <a:cxnSpLocks/>
            <a:stCxn id="69" idx="3"/>
            <a:endCxn id="64" idx="2"/>
          </p:cNvCxnSpPr>
          <p:nvPr/>
        </p:nvCxnSpPr>
        <p:spPr>
          <a:xfrm>
            <a:off x="3630004" y="5390619"/>
            <a:ext cx="2564219" cy="514552"/>
          </a:xfrm>
          <a:prstGeom prst="bentConnector4">
            <a:avLst>
              <a:gd name="adj1" fmla="val 42980"/>
              <a:gd name="adj2" fmla="val 144427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57">
            <a:extLst>
              <a:ext uri="{FF2B5EF4-FFF2-40B4-BE49-F238E27FC236}">
                <a16:creationId xmlns:a16="http://schemas.microsoft.com/office/drawing/2014/main" id="{5DE1A066-39F9-FF06-56F9-DAB546C813A4}"/>
              </a:ext>
            </a:extLst>
          </p:cNvPr>
          <p:cNvCxnSpPr>
            <a:cxnSpLocks/>
          </p:cNvCxnSpPr>
          <p:nvPr/>
        </p:nvCxnSpPr>
        <p:spPr>
          <a:xfrm flipV="1">
            <a:off x="1232989" y="5614198"/>
            <a:ext cx="1166934" cy="217556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58">
            <a:extLst>
              <a:ext uri="{FF2B5EF4-FFF2-40B4-BE49-F238E27FC236}">
                <a16:creationId xmlns:a16="http://schemas.microsoft.com/office/drawing/2014/main" id="{77DE54ED-64DB-80EC-7840-693C4AD55ABF}"/>
              </a:ext>
            </a:extLst>
          </p:cNvPr>
          <p:cNvSpPr/>
          <p:nvPr/>
        </p:nvSpPr>
        <p:spPr>
          <a:xfrm>
            <a:off x="368893" y="5558120"/>
            <a:ext cx="864096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בורר לפי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XY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115" name="Rectangle 19">
            <a:extLst>
              <a:ext uri="{FF2B5EF4-FFF2-40B4-BE49-F238E27FC236}">
                <a16:creationId xmlns:a16="http://schemas.microsoft.com/office/drawing/2014/main" id="{D387A2A2-7BFD-B911-140B-152B68C8F792}"/>
              </a:ext>
            </a:extLst>
          </p:cNvPr>
          <p:cNvSpPr/>
          <p:nvPr/>
        </p:nvSpPr>
        <p:spPr>
          <a:xfrm>
            <a:off x="4209456" y="4937914"/>
            <a:ext cx="1251756" cy="83286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BG draw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116" name="Elbow Connector 57">
            <a:extLst>
              <a:ext uri="{FF2B5EF4-FFF2-40B4-BE49-F238E27FC236}">
                <a16:creationId xmlns:a16="http://schemas.microsoft.com/office/drawing/2014/main" id="{385E241B-BA19-36DF-9FF8-3BE139E2573B}"/>
              </a:ext>
            </a:extLst>
          </p:cNvPr>
          <p:cNvCxnSpPr>
            <a:cxnSpLocks/>
            <a:endCxn id="115" idx="0"/>
          </p:cNvCxnSpPr>
          <p:nvPr/>
        </p:nvCxnSpPr>
        <p:spPr>
          <a:xfrm>
            <a:off x="1400857" y="4499189"/>
            <a:ext cx="3434477" cy="438725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33">
            <a:extLst>
              <a:ext uri="{FF2B5EF4-FFF2-40B4-BE49-F238E27FC236}">
                <a16:creationId xmlns:a16="http://schemas.microsoft.com/office/drawing/2014/main" id="{8621D178-9B24-AE30-9A52-BB2A84ADE9D5}"/>
              </a:ext>
            </a:extLst>
          </p:cNvPr>
          <p:cNvSpPr/>
          <p:nvPr/>
        </p:nvSpPr>
        <p:spPr>
          <a:xfrm>
            <a:off x="147041" y="4207133"/>
            <a:ext cx="1351399" cy="65306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Static BACKGROUND</a:t>
            </a:r>
            <a:endParaRPr kumimoji="0" lang="he-IL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69259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11D697-EADE-AA18-BB6B-4E7C46F71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CD227BF-4F98-917F-E762-54CEF2FD5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287" y="172942"/>
            <a:ext cx="5770017" cy="519752"/>
          </a:xfrm>
        </p:spPr>
        <p:txBody>
          <a:bodyPr>
            <a:normAutofit fontScale="90000"/>
          </a:bodyPr>
          <a:lstStyle/>
          <a:p>
            <a:pPr algn="ctr" rtl="0"/>
            <a:r>
              <a:rPr lang="he-IL" b="1" u="sng" dirty="0">
                <a:solidFill>
                  <a:srgbClr val="3333CC"/>
                </a:solidFill>
              </a:rPr>
              <a:t>מימוש חבל ותנועה מעגלית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F73A4-E7BF-2AC4-C93E-1D13642D3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5EBEB1D0-1AFF-D417-BB40-C46B3A827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274955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e-IL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CBF78F27-C406-3F78-9D53-D3430D96F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557847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e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939B24-96DE-747B-96E6-119949D75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39000"/>
            <a:ext cx="4058003" cy="18035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146038-47BD-203B-128E-EF6E39FB814A}"/>
              </a:ext>
            </a:extLst>
          </p:cNvPr>
          <p:cNvSpPr txBox="1"/>
          <p:nvPr/>
        </p:nvSpPr>
        <p:spPr>
          <a:xfrm>
            <a:off x="-1289173" y="3714833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>
                <a:solidFill>
                  <a:schemeClr val="bg1"/>
                </a:solidFill>
              </a:rPr>
              <a:t>(</a:t>
            </a:r>
            <a:r>
              <a:rPr lang="en-US" dirty="0">
                <a:solidFill>
                  <a:schemeClr val="bg1"/>
                </a:solidFill>
              </a:rPr>
              <a:t>x1,y1</a:t>
            </a:r>
            <a:r>
              <a:rPr lang="he-IL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1A9A9A-7704-7ACA-9311-8889330C3198}"/>
              </a:ext>
            </a:extLst>
          </p:cNvPr>
          <p:cNvCxnSpPr/>
          <p:nvPr/>
        </p:nvCxnSpPr>
        <p:spPr>
          <a:xfrm>
            <a:off x="754366" y="4188863"/>
            <a:ext cx="2299567" cy="1944216"/>
          </a:xfrm>
          <a:prstGeom prst="line">
            <a:avLst/>
          </a:prstGeom>
          <a:ln w="76200">
            <a:solidFill>
              <a:schemeClr val="accent2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865D762-90AA-229C-B96B-411DBC1EF9DF}"/>
              </a:ext>
            </a:extLst>
          </p:cNvPr>
          <p:cNvSpPr txBox="1"/>
          <p:nvPr/>
        </p:nvSpPr>
        <p:spPr>
          <a:xfrm>
            <a:off x="5602291" y="2760726"/>
            <a:ext cx="32487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400" dirty="0">
                <a:solidFill>
                  <a:schemeClr val="bg1"/>
                </a:solidFill>
              </a:rPr>
              <a:t>קו מוגדר על ידי שתי נקודות (</a:t>
            </a:r>
            <a:r>
              <a:rPr lang="en-US" sz="1400" dirty="0">
                <a:solidFill>
                  <a:schemeClr val="bg1"/>
                </a:solidFill>
              </a:rPr>
              <a:t>x1,y1</a:t>
            </a:r>
            <a:r>
              <a:rPr lang="he-IL" sz="1400" dirty="0">
                <a:solidFill>
                  <a:schemeClr val="bg1"/>
                </a:solidFill>
              </a:rPr>
              <a:t>)</a:t>
            </a:r>
            <a:r>
              <a:rPr lang="en-US" sz="1400" dirty="0">
                <a:solidFill>
                  <a:schemeClr val="bg1"/>
                </a:solidFill>
              </a:rPr>
              <a:t>  (x2,y2),</a:t>
            </a:r>
            <a:r>
              <a:rPr lang="he-IL" sz="1400" dirty="0">
                <a:solidFill>
                  <a:schemeClr val="bg1"/>
                </a:solidFill>
              </a:rPr>
              <a:t> אותם נקבל כקלט ליצירת הקו בנוסף נקבל את הקוארדינטות אותן בקר ה</a:t>
            </a:r>
            <a:r>
              <a:rPr lang="en-US" sz="1400" dirty="0">
                <a:solidFill>
                  <a:schemeClr val="bg1"/>
                </a:solidFill>
              </a:rPr>
              <a:t>VGA</a:t>
            </a:r>
            <a:r>
              <a:rPr lang="he-IL" sz="1400" dirty="0">
                <a:solidFill>
                  <a:schemeClr val="bg1"/>
                </a:solidFill>
              </a:rPr>
              <a:t> כרגע מצייר.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9142C1-9532-4CA2-0BE0-9299F7B4CC3D}"/>
              </a:ext>
            </a:extLst>
          </p:cNvPr>
          <p:cNvSpPr txBox="1"/>
          <p:nvPr/>
        </p:nvSpPr>
        <p:spPr>
          <a:xfrm>
            <a:off x="1681739" y="6116925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>
                <a:solidFill>
                  <a:schemeClr val="bg1"/>
                </a:solidFill>
              </a:rPr>
              <a:t>(</a:t>
            </a:r>
            <a:r>
              <a:rPr lang="en-US" dirty="0">
                <a:solidFill>
                  <a:schemeClr val="bg1"/>
                </a:solidFill>
              </a:rPr>
              <a:t>x2,y2</a:t>
            </a:r>
            <a:r>
              <a:rPr lang="he-IL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DF09BD-DDEF-F1D6-1BCC-1EECD4F99DA1}"/>
              </a:ext>
            </a:extLst>
          </p:cNvPr>
          <p:cNvSpPr txBox="1"/>
          <p:nvPr/>
        </p:nvSpPr>
        <p:spPr>
          <a:xfrm>
            <a:off x="2433631" y="3498526"/>
            <a:ext cx="3248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>
                <a:solidFill>
                  <a:schemeClr val="bg1"/>
                </a:solidFill>
              </a:rPr>
              <a:t>משוואת קו ישר: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C08DAAE-47D6-ED31-93B1-9861A54D2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027" y="3888852"/>
            <a:ext cx="2018535" cy="61221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300CE65-12F7-EF69-4FFF-DE6899E00DBF}"/>
              </a:ext>
            </a:extLst>
          </p:cNvPr>
          <p:cNvSpPr txBox="1"/>
          <p:nvPr/>
        </p:nvSpPr>
        <p:spPr>
          <a:xfrm>
            <a:off x="5672712" y="3778750"/>
            <a:ext cx="32487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400" dirty="0">
                <a:solidFill>
                  <a:schemeClr val="bg1"/>
                </a:solidFill>
              </a:rPr>
              <a:t>איך מחליטים אם לצייר את קוא’ </a:t>
            </a:r>
            <a:r>
              <a:rPr lang="en-US" sz="1400" dirty="0">
                <a:solidFill>
                  <a:schemeClr val="bg1"/>
                </a:solidFill>
              </a:rPr>
              <a:t>?</a:t>
            </a:r>
            <a:r>
              <a:rPr lang="en-US" sz="1400" dirty="0" err="1">
                <a:solidFill>
                  <a:schemeClr val="bg1"/>
                </a:solidFill>
              </a:rPr>
              <a:t>x,y</a:t>
            </a:r>
            <a:r>
              <a:rPr lang="he-IL" sz="1400" dirty="0">
                <a:solidFill>
                  <a:schemeClr val="bg1"/>
                </a:solidFill>
              </a:rPr>
              <a:t> צריך לבדוק האם היא עוברת בישר המוגדר על ידי (</a:t>
            </a:r>
            <a:r>
              <a:rPr lang="en-US" sz="1400" dirty="0">
                <a:solidFill>
                  <a:schemeClr val="bg1"/>
                </a:solidFill>
              </a:rPr>
              <a:t>x1,y1</a:t>
            </a:r>
            <a:r>
              <a:rPr lang="he-IL" sz="1400" dirty="0">
                <a:solidFill>
                  <a:schemeClr val="bg1"/>
                </a:solidFill>
              </a:rPr>
              <a:t>)</a:t>
            </a:r>
            <a:r>
              <a:rPr lang="en-US" sz="1400" dirty="0">
                <a:solidFill>
                  <a:schemeClr val="bg1"/>
                </a:solidFill>
              </a:rPr>
              <a:t>  (x2,y2),</a:t>
            </a:r>
            <a:r>
              <a:rPr lang="he-IL" sz="1400" dirty="0">
                <a:solidFill>
                  <a:schemeClr val="bg1"/>
                </a:solidFill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he-IL" sz="1400" dirty="0">
                <a:solidFill>
                  <a:schemeClr val="bg1"/>
                </a:solidFill>
              </a:rPr>
              <a:t>כדי להימנע מחילוק נעבוד עם המשוואה המוכפלת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731078-1A4D-729F-2868-2D1ED2E9FD78}"/>
              </a:ext>
            </a:extLst>
          </p:cNvPr>
          <p:cNvSpPr txBox="1"/>
          <p:nvPr/>
        </p:nvSpPr>
        <p:spPr>
          <a:xfrm>
            <a:off x="5683932" y="909953"/>
            <a:ext cx="32487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b="1" dirty="0">
                <a:solidFill>
                  <a:schemeClr val="bg1"/>
                </a:solidFill>
              </a:rPr>
              <a:t>תפקידי המודול:</a:t>
            </a:r>
            <a:endParaRPr lang="he-IL" dirty="0">
              <a:solidFill>
                <a:schemeClr val="bg1"/>
              </a:solidFill>
            </a:endParaRPr>
          </a:p>
          <a:p>
            <a:r>
              <a:rPr lang="he-IL" dirty="0">
                <a:solidFill>
                  <a:schemeClr val="bg1"/>
                </a:solidFill>
              </a:rPr>
              <a:t>עדכון נקודות הקצה בזמן אמת.</a:t>
            </a:r>
          </a:p>
          <a:p>
            <a:r>
              <a:rPr lang="he-IL" dirty="0">
                <a:solidFill>
                  <a:schemeClr val="bg1"/>
                </a:solidFill>
              </a:rPr>
              <a:t>חישוב משוואת הישר עבור כל פיקסל.</a:t>
            </a:r>
          </a:p>
          <a:p>
            <a:r>
              <a:rPr lang="he-IL" dirty="0">
                <a:solidFill>
                  <a:schemeClr val="bg1"/>
                </a:solidFill>
              </a:rPr>
              <a:t>איתור פגיעה באובייקט (אם קצה החבל הגיע לערך מתוך הרקע).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7E539A-BEE7-0263-6404-AE3E22162F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7784" y="4570846"/>
            <a:ext cx="3456384" cy="66882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E0DF1BE-2406-58C3-1169-871F5C67ED29}"/>
              </a:ext>
            </a:extLst>
          </p:cNvPr>
          <p:cNvCxnSpPr/>
          <p:nvPr/>
        </p:nvCxnSpPr>
        <p:spPr>
          <a:xfrm flipH="1">
            <a:off x="6372200" y="4797152"/>
            <a:ext cx="1656184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67335CA-CFD3-A7C5-B3E7-CEDF9DE70C52}"/>
              </a:ext>
            </a:extLst>
          </p:cNvPr>
          <p:cNvSpPr txBox="1"/>
          <p:nvPr/>
        </p:nvSpPr>
        <p:spPr>
          <a:xfrm>
            <a:off x="4586436" y="5280106"/>
            <a:ext cx="34563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400" dirty="0">
                <a:solidFill>
                  <a:schemeClr val="bg1"/>
                </a:solidFill>
              </a:rPr>
              <a:t>מומלץ לצפות בווידאו לשרטוט קו עם עובי </a:t>
            </a:r>
          </a:p>
          <a:p>
            <a:r>
              <a:rPr lang="en-US" u="sng" dirty="0">
                <a:hlinkClick r:id="rId6"/>
              </a:rPr>
              <a:t>https://youtu.be/EGUxRxiaDKw</a:t>
            </a:r>
            <a:endParaRPr lang="he-IL" sz="14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790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3C1B54-90C0-9911-1A23-14270CCF9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A581B45-5A3A-62F5-33AE-00D1D71F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287" y="172942"/>
            <a:ext cx="5770017" cy="519752"/>
          </a:xfrm>
        </p:spPr>
        <p:txBody>
          <a:bodyPr>
            <a:normAutofit fontScale="90000"/>
          </a:bodyPr>
          <a:lstStyle/>
          <a:p>
            <a:pPr algn="ctr" rtl="0"/>
            <a:r>
              <a:rPr lang="he-IL" b="1" u="sng" dirty="0">
                <a:solidFill>
                  <a:srgbClr val="3333CC"/>
                </a:solidFill>
              </a:rPr>
              <a:t>מימוש חבל ותנועה מעגלית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848D4-F677-36AA-4B7B-52E4D497C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E041913E-3A68-1B89-15F4-AAD87C621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274955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e-IL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DC2C90BF-7999-7062-D204-F65C319A3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557847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e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E5FC9E-87AA-C274-FE05-40A69CC91E18}"/>
              </a:ext>
            </a:extLst>
          </p:cNvPr>
          <p:cNvSpPr txBox="1"/>
          <p:nvPr/>
        </p:nvSpPr>
        <p:spPr>
          <a:xfrm>
            <a:off x="-324544" y="3794684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>
                <a:solidFill>
                  <a:schemeClr val="bg1"/>
                </a:solidFill>
              </a:rPr>
              <a:t>(</a:t>
            </a:r>
            <a:r>
              <a:rPr lang="en-US" dirty="0">
                <a:solidFill>
                  <a:schemeClr val="bg1"/>
                </a:solidFill>
              </a:rPr>
              <a:t>x1,y1</a:t>
            </a:r>
            <a:r>
              <a:rPr lang="he-IL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64BD9A-CF0C-CC2F-5A68-24B9B0E92F89}"/>
              </a:ext>
            </a:extLst>
          </p:cNvPr>
          <p:cNvCxnSpPr/>
          <p:nvPr/>
        </p:nvCxnSpPr>
        <p:spPr>
          <a:xfrm>
            <a:off x="2123728" y="4077072"/>
            <a:ext cx="2299567" cy="1944216"/>
          </a:xfrm>
          <a:prstGeom prst="line">
            <a:avLst/>
          </a:prstGeom>
          <a:ln w="76200">
            <a:solidFill>
              <a:schemeClr val="accent2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16C8C6B-75CC-08E1-C622-2E583118F05D}"/>
              </a:ext>
            </a:extLst>
          </p:cNvPr>
          <p:cNvSpPr txBox="1"/>
          <p:nvPr/>
        </p:nvSpPr>
        <p:spPr>
          <a:xfrm>
            <a:off x="2928593" y="6007082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>
                <a:solidFill>
                  <a:schemeClr val="bg1"/>
                </a:solidFill>
              </a:rPr>
              <a:t>(</a:t>
            </a:r>
            <a:r>
              <a:rPr lang="en-US" dirty="0">
                <a:solidFill>
                  <a:schemeClr val="bg1"/>
                </a:solidFill>
              </a:rPr>
              <a:t>x2,y2</a:t>
            </a:r>
            <a:r>
              <a:rPr lang="he-IL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D7BAD2-B03D-0E3E-689C-530A1A4CA1C9}"/>
              </a:ext>
            </a:extLst>
          </p:cNvPr>
          <p:cNvSpPr txBox="1"/>
          <p:nvPr/>
        </p:nvSpPr>
        <p:spPr>
          <a:xfrm>
            <a:off x="1187624" y="1100541"/>
            <a:ext cx="7697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b="1" dirty="0">
                <a:solidFill>
                  <a:schemeClr val="bg1"/>
                </a:solidFill>
              </a:rPr>
              <a:t>המטרה: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he-IL" b="1" dirty="0">
                <a:solidFill>
                  <a:schemeClr val="bg1"/>
                </a:solidFill>
              </a:rPr>
              <a:t>לגרום לקרס לנוע מצד לצד באופן אוטומטי כמו במשחק המקורי</a:t>
            </a:r>
            <a:endParaRPr lang="he-IL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952BEE-0522-F51B-8DF7-53D9217ACB1D}"/>
                  </a:ext>
                </a:extLst>
              </p:cNvPr>
              <p:cNvSpPr txBox="1"/>
              <p:nvPr/>
            </p:nvSpPr>
            <p:spPr>
              <a:xfrm>
                <a:off x="1395890" y="1580657"/>
                <a:ext cx="7697981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e-IL" b="1" dirty="0">
                    <a:solidFill>
                      <a:schemeClr val="bg1"/>
                    </a:solidFill>
                  </a:rPr>
                  <a:t>נגדיר זווית </a:t>
                </a:r>
                <a14:m>
                  <m:oMath xmlns:m="http://schemas.openxmlformats.org/officeDocument/2006/math">
                    <m:r>
                      <a:rPr lang="he-IL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he-IL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he-IL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dirty="0">
                    <a:solidFill>
                      <a:schemeClr val="bg1"/>
                    </a:solidFill>
                  </a:rPr>
                  <a:t>שמשתנה בטווח </a:t>
                </a:r>
                <a:r>
                  <a:rPr lang="en-US" dirty="0">
                    <a:solidFill>
                      <a:schemeClr val="bg1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𝒎𝒊𝒏</m:t>
                        </m:r>
                      </m:sub>
                    </m:sSub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he-IL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𝒎𝒂𝒙</m:t>
                        </m:r>
                      </m:sub>
                    </m:sSub>
                  </m:oMath>
                </a14:m>
                <a:endParaRPr lang="he-IL" dirty="0">
                  <a:solidFill>
                    <a:schemeClr val="bg1"/>
                  </a:solidFill>
                </a:endParaRPr>
              </a:p>
              <a:p>
                <a:r>
                  <a:rPr lang="he-IL" dirty="0">
                    <a:solidFill>
                      <a:schemeClr val="bg1"/>
                    </a:solidFill>
                  </a:rPr>
                  <a:t>בכל פריים נבדוק אם הערך של</a:t>
                </a:r>
                <a14:m>
                  <m:oMath xmlns:m="http://schemas.openxmlformats.org/officeDocument/2006/math">
                    <m:r>
                      <a:rPr lang="he-IL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he-IL" dirty="0">
                    <a:solidFill>
                      <a:schemeClr val="bg1"/>
                    </a:solidFill>
                  </a:rPr>
                  <a:t>  עולה או יורד. אם עולה -&gt; הקרס נע ימינה, אם ערכו יורד - &gt; הקרס נע שמאלה</a:t>
                </a:r>
              </a:p>
              <a:p>
                <a:r>
                  <a:rPr lang="he-IL" dirty="0">
                    <a:solidFill>
                      <a:schemeClr val="bg1"/>
                    </a:solidFill>
                  </a:rPr>
                  <a:t>הכיוון משתנה כאשר הערך של </a:t>
                </a:r>
                <a14:m>
                  <m:oMath xmlns:m="http://schemas.openxmlformats.org/officeDocument/2006/math">
                    <m:r>
                      <a:rPr lang="he-IL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he-IL" dirty="0">
                    <a:solidFill>
                      <a:schemeClr val="bg1"/>
                    </a:solidFill>
                  </a:rPr>
                  <a:t>  מגיע לערכי הקצה.</a:t>
                </a:r>
              </a:p>
              <a:p>
                <a:r>
                  <a:rPr lang="he-IL" dirty="0">
                    <a:solidFill>
                      <a:schemeClr val="bg1"/>
                    </a:solidFill>
                  </a:rPr>
                  <a:t>נחשב את נקודת הקצה</a:t>
                </a:r>
                <a:r>
                  <a:rPr lang="en-US" dirty="0">
                    <a:solidFill>
                      <a:schemeClr val="bg1"/>
                    </a:solidFill>
                  </a:rPr>
                  <a:t> (x2,y2)</a:t>
                </a:r>
                <a:r>
                  <a:rPr lang="he-IL" dirty="0">
                    <a:solidFill>
                      <a:schemeClr val="bg1"/>
                    </a:solidFill>
                  </a:rPr>
                  <a:t> לפי הזווית באופן הבא: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he-IL" dirty="0">
                    <a:solidFill>
                      <a:schemeClr val="bg1"/>
                    </a:solidFill>
                  </a:rPr>
                  <a:t>כאשר </a:t>
                </a:r>
                <a:r>
                  <a:rPr lang="en-US" dirty="0">
                    <a:solidFill>
                      <a:schemeClr val="bg1"/>
                    </a:solidFill>
                  </a:rPr>
                  <a:t>R</a:t>
                </a:r>
                <a:r>
                  <a:rPr lang="he-IL" dirty="0">
                    <a:solidFill>
                      <a:schemeClr val="bg1"/>
                    </a:solidFill>
                  </a:rPr>
                  <a:t> מוגדר להיות אורך החבל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952BEE-0522-F51B-8DF7-53D9217AC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890" y="1580657"/>
                <a:ext cx="7697981" cy="2308324"/>
              </a:xfrm>
              <a:prstGeom prst="rect">
                <a:avLst/>
              </a:prstGeom>
              <a:blipFill>
                <a:blip r:embed="rId3"/>
                <a:stretch>
                  <a:fillRect t="-1319" r="-633" b="-3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8542FC3-C869-DFFD-8051-0650F9305536}"/>
              </a:ext>
            </a:extLst>
          </p:cNvPr>
          <p:cNvCxnSpPr/>
          <p:nvPr/>
        </p:nvCxnSpPr>
        <p:spPr>
          <a:xfrm flipH="1">
            <a:off x="2123728" y="5157192"/>
            <a:ext cx="804865" cy="0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1EA0441-B2FB-9E5C-F3FF-118431E51740}"/>
              </a:ext>
            </a:extLst>
          </p:cNvPr>
          <p:cNvCxnSpPr>
            <a:cxnSpLocks/>
          </p:cNvCxnSpPr>
          <p:nvPr/>
        </p:nvCxnSpPr>
        <p:spPr>
          <a:xfrm>
            <a:off x="2041074" y="4134420"/>
            <a:ext cx="0" cy="1670844"/>
          </a:xfrm>
          <a:prstGeom prst="line">
            <a:avLst/>
          </a:prstGeom>
          <a:ln w="76200">
            <a:solidFill>
              <a:schemeClr val="accent2">
                <a:lumMod val="75000"/>
                <a:alpha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rc 21">
            <a:extLst>
              <a:ext uri="{FF2B5EF4-FFF2-40B4-BE49-F238E27FC236}">
                <a16:creationId xmlns:a16="http://schemas.microsoft.com/office/drawing/2014/main" id="{2649DEBE-BB83-5C57-A23E-74A96EC7AA6B}"/>
              </a:ext>
            </a:extLst>
          </p:cNvPr>
          <p:cNvSpPr/>
          <p:nvPr/>
        </p:nvSpPr>
        <p:spPr>
          <a:xfrm rot="7409036">
            <a:off x="1801113" y="3920306"/>
            <a:ext cx="1080120" cy="834299"/>
          </a:xfrm>
          <a:prstGeom prst="arc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E04569-CEE3-9162-A4BA-66FD41C7BBB0}"/>
                  </a:ext>
                </a:extLst>
              </p:cNvPr>
              <p:cNvSpPr txBox="1"/>
              <p:nvPr/>
            </p:nvSpPr>
            <p:spPr>
              <a:xfrm>
                <a:off x="1062127" y="4317249"/>
                <a:ext cx="23762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E04569-CEE3-9162-A4BA-66FD41C7B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127" y="4317249"/>
                <a:ext cx="237626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E48E0CE-7162-2108-58A7-22963734DF86}"/>
              </a:ext>
            </a:extLst>
          </p:cNvPr>
          <p:cNvSpPr txBox="1"/>
          <p:nvPr/>
        </p:nvSpPr>
        <p:spPr>
          <a:xfrm>
            <a:off x="4136822" y="4344683"/>
            <a:ext cx="47434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800" dirty="0">
                <a:solidFill>
                  <a:schemeClr val="bg1"/>
                </a:solidFill>
              </a:rPr>
              <a:t>מומלץ לצפות בווידאו לשרטוט </a:t>
            </a:r>
            <a:r>
              <a:rPr lang="en-US" dirty="0">
                <a:solidFill>
                  <a:schemeClr val="bg1"/>
                </a:solidFill>
              </a:rPr>
              <a:t>,</a:t>
            </a:r>
            <a:r>
              <a:rPr lang="he-IL" dirty="0">
                <a:solidFill>
                  <a:schemeClr val="bg1"/>
                </a:solidFill>
              </a:rPr>
              <a:t>תנועה מעגלית</a:t>
            </a:r>
          </a:p>
          <a:p>
            <a:r>
              <a:rPr lang="en-US" u="sng" dirty="0">
                <a:hlinkClick r:id="rId5"/>
              </a:rPr>
              <a:t>https://youtu.be/Z8w20-zyHJc</a:t>
            </a:r>
            <a:endParaRPr lang="en-US" dirty="0"/>
          </a:p>
          <a:p>
            <a:endParaRPr lang="he-IL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820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B26D6-317A-E910-A965-2DC944F60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319" y="0"/>
            <a:ext cx="6554867" cy="1524000"/>
          </a:xfrm>
        </p:spPr>
        <p:txBody>
          <a:bodyPr/>
          <a:lstStyle/>
          <a:p>
            <a:r>
              <a:rPr lang="he-IL" dirty="0">
                <a:solidFill>
                  <a:schemeClr val="bg2">
                    <a:lumMod val="50000"/>
                  </a:schemeClr>
                </a:solidFill>
              </a:rPr>
              <a:t>מדוע חשוב להשקיע בפרויקט ובסרטון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786D2-BDB7-BE6B-CC40-F7B8C64F6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6" name="Picture 5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EDD81F51-650C-849C-2551-842D306CBA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1196752"/>
            <a:ext cx="4284928" cy="52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700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59632" y="1916832"/>
            <a:ext cx="6252033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38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E87D37"/>
                </a:solidFill>
                <a:effectLst>
                  <a:outerShdw blurRad="12700" dist="38100" dir="2700000" algn="tl" rotWithShape="0">
                    <a:srgbClr val="E87D37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בהצלחה</a:t>
            </a:r>
            <a:endParaRPr kumimoji="0" lang="en-US" sz="54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srgbClr val="E87D37"/>
              </a:solidFill>
              <a:effectLst>
                <a:outerShdw blurRad="12700" dist="38100" dir="2700000" algn="tl" rotWithShape="0">
                  <a:srgbClr val="E87D37">
                    <a:lumMod val="60000"/>
                    <a:lumOff val="40000"/>
                  </a:srgbClr>
                </a:outerShdw>
              </a:effectLst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6899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3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4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5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6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7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8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9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0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3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4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5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6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7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8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14954</TotalTime>
  <Words>763</Words>
  <Application>Microsoft Office PowerPoint</Application>
  <PresentationFormat>On-screen Show (4:3)</PresentationFormat>
  <Paragraphs>231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Century Gothic</vt:lpstr>
      <vt:lpstr>Times New Roman</vt:lpstr>
      <vt:lpstr>Wingdings</vt:lpstr>
      <vt:lpstr>Wingdings 3</vt:lpstr>
      <vt:lpstr>Slice</vt:lpstr>
      <vt:lpstr>Custom Design</vt:lpstr>
      <vt:lpstr>פרויקט סיום חורף תשפ"ו הדרכה </vt:lpstr>
      <vt:lpstr>הנחיות לפרויקט סיום חורף -62025</vt:lpstr>
      <vt:lpstr> A C E גושים –Gold Miner</vt:lpstr>
      <vt:lpstr>דרישות</vt:lpstr>
      <vt:lpstr>מימוש </vt:lpstr>
      <vt:lpstr>ספתח</vt:lpstr>
      <vt:lpstr> DYNAMIC BOARD memory</vt:lpstr>
      <vt:lpstr>מנגנוני התנגשות </vt:lpstr>
      <vt:lpstr>מנגנוני התנגשות </vt:lpstr>
      <vt:lpstr>פתיחת PIPE </vt:lpstr>
      <vt:lpstr>B D F גושים Gold miner פצצות </vt:lpstr>
      <vt:lpstr>דרישות</vt:lpstr>
      <vt:lpstr>מימוש </vt:lpstr>
      <vt:lpstr>ספתח</vt:lpstr>
      <vt:lpstr>פתיחת PIPE </vt:lpstr>
      <vt:lpstr>מימוש חבל ותנועה מעגלית</vt:lpstr>
      <vt:lpstr>מימוש חבל ותנועה מעגלית</vt:lpstr>
      <vt:lpstr>מדוע חשוב להשקיע בפרויקט ובסרטון </vt:lpstr>
      <vt:lpstr>PowerPoint Presentation</vt:lpstr>
    </vt:vector>
  </TitlesOfParts>
  <Company>Technion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Pavel</dc:creator>
  <cp:lastModifiedBy>Eyal Lev</cp:lastModifiedBy>
  <cp:revision>779</cp:revision>
  <cp:lastPrinted>2016-12-19T07:49:45Z</cp:lastPrinted>
  <dcterms:created xsi:type="dcterms:W3CDTF">2003-02-13T09:55:52Z</dcterms:created>
  <dcterms:modified xsi:type="dcterms:W3CDTF">2025-11-26T07:52:48Z</dcterms:modified>
</cp:coreProperties>
</file>